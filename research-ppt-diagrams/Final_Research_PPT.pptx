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Times New Roman Bold" charset="1" panose="02020803070505020304"/>
      <p:regular r:id="rId23"/>
    </p:embeddedFont>
    <p:embeddedFont>
      <p:font typeface="Arimo Bold" charset="1" panose="020B0704020202020204"/>
      <p:regular r:id="rId24"/>
    </p:embeddedFont>
    <p:embeddedFont>
      <p:font typeface="Canva Sans Bold" charset="1" panose="020B0803030501040103"/>
      <p:regular r:id="rId25"/>
    </p:embeddedFont>
    <p:embeddedFont>
      <p:font typeface="Arimo" charset="1" panose="020B0604020202020204"/>
      <p:regular r:id="rId26"/>
    </p:embeddedFont>
    <p:embeddedFont>
      <p:font typeface="Arial Bold" charset="1" panose="020B0704020202020204"/>
      <p:regular r:id="rId27"/>
    </p:embeddedFont>
    <p:embeddedFont>
      <p:font typeface="Solway Bold" charset="1" panose="00000900000000000000"/>
      <p:regular r:id="rId28"/>
    </p:embeddedFont>
    <p:embeddedFont>
      <p:font typeface="Solway" charset="1" panose="00000500000000000000"/>
      <p:regular r:id="rId29"/>
    </p:embeddedFont>
    <p:embeddedFont>
      <p:font typeface="Arial" charset="1" panose="020B0604020202020204"/>
      <p:regular r:id="rId30"/>
    </p:embeddedFont>
    <p:embeddedFont>
      <p:font typeface="Poppins Bold" charset="1" panose="00000800000000000000"/>
      <p:regular r:id="rId31"/>
    </p:embeddedFont>
    <p:embeddedFont>
      <p:font typeface="Canva Sans" charset="1" panose="020B0503030501040103"/>
      <p:regular r:id="rId32"/>
    </p:embeddedFont>
    <p:embeddedFont>
      <p:font typeface="Arial Italics" charset="1" panose="020B0604020202090204"/>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embeddings/oleObject1.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embeddings/oleObject2.bin" Type="http://schemas.openxmlformats.org/officeDocument/2006/relationships/oleObjec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png" Type="http://schemas.openxmlformats.org/officeDocument/2006/relationships/image"/><Relationship Id="rId12" Target="../media/image16.png" Type="http://schemas.openxmlformats.org/officeDocument/2006/relationships/image"/><Relationship Id="rId13" Target="../media/image17.png" Type="http://schemas.openxmlformats.org/officeDocument/2006/relationships/image"/><Relationship Id="rId14" Target="../media/image18.jpeg" Type="http://schemas.openxmlformats.org/officeDocument/2006/relationships/image"/><Relationship Id="rId15" Target="../media/image19.png" Type="http://schemas.openxmlformats.org/officeDocument/2006/relationships/image"/><Relationship Id="rId16" Target="../media/image20.png" Type="http://schemas.openxmlformats.org/officeDocument/2006/relationships/image"/><Relationship Id="rId17" Target="../media/image21.svg" Type="http://schemas.openxmlformats.org/officeDocument/2006/relationships/image"/><Relationship Id="rId18" Target="../media/image22.png" Type="http://schemas.openxmlformats.org/officeDocument/2006/relationships/image"/><Relationship Id="rId19" Target="../media/image23.png" Type="http://schemas.openxmlformats.org/officeDocument/2006/relationships/image"/><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png" Type="http://schemas.openxmlformats.org/officeDocument/2006/relationships/image"/><Relationship Id="rId9"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17653" y="-170330"/>
            <a:ext cx="18923306" cy="10700437"/>
            <a:chOff x="0" y="0"/>
            <a:chExt cx="4983916" cy="2818222"/>
          </a:xfrm>
        </p:grpSpPr>
        <p:sp>
          <p:nvSpPr>
            <p:cNvPr name="Freeform 3" id="3"/>
            <p:cNvSpPr/>
            <p:nvPr/>
          </p:nvSpPr>
          <p:spPr>
            <a:xfrm flipH="false" flipV="false" rot="0">
              <a:off x="0" y="0"/>
              <a:ext cx="4983916" cy="2818222"/>
            </a:xfrm>
            <a:custGeom>
              <a:avLst/>
              <a:gdLst/>
              <a:ahLst/>
              <a:cxnLst/>
              <a:rect r="r" b="b" t="t" l="l"/>
              <a:pathLst>
                <a:path h="2818222" w="4983916">
                  <a:moveTo>
                    <a:pt x="40912" y="0"/>
                  </a:moveTo>
                  <a:lnTo>
                    <a:pt x="4943004" y="0"/>
                  </a:lnTo>
                  <a:cubicBezTo>
                    <a:pt x="4953855" y="0"/>
                    <a:pt x="4964261" y="4310"/>
                    <a:pt x="4971933" y="11983"/>
                  </a:cubicBezTo>
                  <a:cubicBezTo>
                    <a:pt x="4979606" y="19655"/>
                    <a:pt x="4983916" y="30062"/>
                    <a:pt x="4983916" y="40912"/>
                  </a:cubicBezTo>
                  <a:lnTo>
                    <a:pt x="4983916" y="2777310"/>
                  </a:lnTo>
                  <a:cubicBezTo>
                    <a:pt x="4983916" y="2788161"/>
                    <a:pt x="4979606" y="2798567"/>
                    <a:pt x="4971933" y="2806239"/>
                  </a:cubicBezTo>
                  <a:cubicBezTo>
                    <a:pt x="4964261" y="2813912"/>
                    <a:pt x="4953855" y="2818222"/>
                    <a:pt x="4943004" y="2818222"/>
                  </a:cubicBezTo>
                  <a:lnTo>
                    <a:pt x="40912" y="2818222"/>
                  </a:lnTo>
                  <a:cubicBezTo>
                    <a:pt x="30062" y="2818222"/>
                    <a:pt x="19655" y="2813912"/>
                    <a:pt x="11983" y="2806239"/>
                  </a:cubicBezTo>
                  <a:cubicBezTo>
                    <a:pt x="4310" y="2798567"/>
                    <a:pt x="0" y="2788161"/>
                    <a:pt x="0" y="2777310"/>
                  </a:cubicBezTo>
                  <a:lnTo>
                    <a:pt x="0" y="40912"/>
                  </a:lnTo>
                  <a:cubicBezTo>
                    <a:pt x="0" y="30062"/>
                    <a:pt x="4310" y="19655"/>
                    <a:pt x="11983" y="11983"/>
                  </a:cubicBezTo>
                  <a:cubicBezTo>
                    <a:pt x="19655" y="4310"/>
                    <a:pt x="30062" y="0"/>
                    <a:pt x="40912" y="0"/>
                  </a:cubicBezTo>
                  <a:close/>
                </a:path>
              </a:pathLst>
            </a:custGeom>
            <a:solidFill>
              <a:srgbClr val="6B95E0"/>
            </a:solidFill>
            <a:ln cap="rnd">
              <a:noFill/>
              <a:prstDash val="solid"/>
              <a:round/>
            </a:ln>
          </p:spPr>
        </p:sp>
        <p:sp>
          <p:nvSpPr>
            <p:cNvPr name="TextBox 4" id="4"/>
            <p:cNvSpPr txBox="true"/>
            <p:nvPr/>
          </p:nvSpPr>
          <p:spPr>
            <a:xfrm>
              <a:off x="0" y="-47625"/>
              <a:ext cx="4983916" cy="286584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08643" y="357961"/>
            <a:ext cx="17660092" cy="9571077"/>
            <a:chOff x="0" y="0"/>
            <a:chExt cx="4651218" cy="2520778"/>
          </a:xfrm>
        </p:grpSpPr>
        <p:sp>
          <p:nvSpPr>
            <p:cNvPr name="Freeform 6" id="6"/>
            <p:cNvSpPr/>
            <p:nvPr/>
          </p:nvSpPr>
          <p:spPr>
            <a:xfrm flipH="false" flipV="false" rot="0">
              <a:off x="0" y="0"/>
              <a:ext cx="4651218" cy="2520778"/>
            </a:xfrm>
            <a:custGeom>
              <a:avLst/>
              <a:gdLst/>
              <a:ahLst/>
              <a:cxnLst/>
              <a:rect r="r" b="b" t="t" l="l"/>
              <a:pathLst>
                <a:path h="2520778" w="4651218">
                  <a:moveTo>
                    <a:pt x="43839" y="0"/>
                  </a:moveTo>
                  <a:lnTo>
                    <a:pt x="4607379" y="0"/>
                  </a:lnTo>
                  <a:cubicBezTo>
                    <a:pt x="4631591" y="0"/>
                    <a:pt x="4651218" y="19627"/>
                    <a:pt x="4651218" y="43839"/>
                  </a:cubicBezTo>
                  <a:lnTo>
                    <a:pt x="4651218" y="2476939"/>
                  </a:lnTo>
                  <a:cubicBezTo>
                    <a:pt x="4651218" y="2501150"/>
                    <a:pt x="4631591" y="2520778"/>
                    <a:pt x="4607379" y="2520778"/>
                  </a:cubicBezTo>
                  <a:lnTo>
                    <a:pt x="43839" y="2520778"/>
                  </a:lnTo>
                  <a:cubicBezTo>
                    <a:pt x="19627" y="2520778"/>
                    <a:pt x="0" y="2501150"/>
                    <a:pt x="0" y="2476939"/>
                  </a:cubicBezTo>
                  <a:lnTo>
                    <a:pt x="0" y="43839"/>
                  </a:lnTo>
                  <a:cubicBezTo>
                    <a:pt x="0" y="19627"/>
                    <a:pt x="19627" y="0"/>
                    <a:pt x="43839" y="0"/>
                  </a:cubicBezTo>
                  <a:close/>
                </a:path>
              </a:pathLst>
            </a:custGeom>
            <a:solidFill>
              <a:srgbClr val="FFFFFE"/>
            </a:solidFill>
            <a:ln cap="rnd">
              <a:noFill/>
              <a:prstDash val="solid"/>
              <a:round/>
            </a:ln>
          </p:spPr>
        </p:sp>
        <p:sp>
          <p:nvSpPr>
            <p:cNvPr name="TextBox 7" id="7"/>
            <p:cNvSpPr txBox="true"/>
            <p:nvPr/>
          </p:nvSpPr>
          <p:spPr>
            <a:xfrm>
              <a:off x="0" y="-47625"/>
              <a:ext cx="4651218" cy="2568403"/>
            </a:xfrm>
            <a:prstGeom prst="rect">
              <a:avLst/>
            </a:prstGeom>
          </p:spPr>
          <p:txBody>
            <a:bodyPr anchor="ctr" rtlCol="false" tIns="50800" lIns="50800" bIns="50800" rIns="50800"/>
            <a:lstStyle/>
            <a:p>
              <a:pPr algn="ctr">
                <a:lnSpc>
                  <a:spcPts val="2659"/>
                </a:lnSpc>
              </a:pPr>
            </a:p>
            <a:p>
              <a:pPr algn="ctr">
                <a:lnSpc>
                  <a:spcPts val="2659"/>
                </a:lnSpc>
              </a:pPr>
            </a:p>
          </p:txBody>
        </p:sp>
      </p:grpSp>
      <p:sp>
        <p:nvSpPr>
          <p:cNvPr name="Freeform 8" id="8"/>
          <p:cNvSpPr/>
          <p:nvPr/>
        </p:nvSpPr>
        <p:spPr>
          <a:xfrm flipH="false" flipV="false" rot="0">
            <a:off x="3378566" y="1788497"/>
            <a:ext cx="11023902" cy="1233444"/>
          </a:xfrm>
          <a:custGeom>
            <a:avLst/>
            <a:gdLst/>
            <a:ahLst/>
            <a:cxnLst/>
            <a:rect r="r" b="b" t="t" l="l"/>
            <a:pathLst>
              <a:path h="1233444" w="11023902">
                <a:moveTo>
                  <a:pt x="0" y="0"/>
                </a:moveTo>
                <a:lnTo>
                  <a:pt x="11023901" y="0"/>
                </a:lnTo>
                <a:lnTo>
                  <a:pt x="11023901" y="1233443"/>
                </a:lnTo>
                <a:lnTo>
                  <a:pt x="0" y="1233443"/>
                </a:lnTo>
                <a:lnTo>
                  <a:pt x="0" y="0"/>
                </a:lnTo>
                <a:close/>
              </a:path>
            </a:pathLst>
          </a:custGeom>
          <a:blipFill>
            <a:blip r:embed="rId2"/>
            <a:stretch>
              <a:fillRect l="0" t="0" r="0" b="0"/>
            </a:stretch>
          </a:blipFill>
        </p:spPr>
      </p:sp>
      <p:sp>
        <p:nvSpPr>
          <p:cNvPr name="TextBox 9" id="9"/>
          <p:cNvSpPr txBox="true"/>
          <p:nvPr/>
        </p:nvSpPr>
        <p:spPr>
          <a:xfrm rot="0">
            <a:off x="4072970" y="3468242"/>
            <a:ext cx="9414123" cy="542924"/>
          </a:xfrm>
          <a:prstGeom prst="rect">
            <a:avLst/>
          </a:prstGeom>
        </p:spPr>
        <p:txBody>
          <a:bodyPr anchor="t" rtlCol="false" tIns="0" lIns="0" bIns="0" rIns="0">
            <a:spAutoFit/>
          </a:bodyPr>
          <a:lstStyle/>
          <a:p>
            <a:pPr algn="ctr">
              <a:lnSpc>
                <a:spcPts val="4200"/>
              </a:lnSpc>
              <a:spcBef>
                <a:spcPct val="0"/>
              </a:spcBef>
            </a:pPr>
            <a:r>
              <a:rPr lang="en-US" b="true" sz="3000" u="sng">
                <a:solidFill>
                  <a:srgbClr val="000000"/>
                </a:solidFill>
                <a:latin typeface="Times New Roman Bold"/>
                <a:ea typeface="Times New Roman Bold"/>
                <a:cs typeface="Times New Roman Bold"/>
                <a:sym typeface="Times New Roman Bold"/>
              </a:rPr>
              <a:t>Resea</a:t>
            </a:r>
            <a:r>
              <a:rPr lang="en-US" b="true" sz="3000" u="sng">
                <a:solidFill>
                  <a:srgbClr val="000000"/>
                </a:solidFill>
                <a:latin typeface="Times New Roman Bold"/>
                <a:ea typeface="Times New Roman Bold"/>
                <a:cs typeface="Times New Roman Bold"/>
                <a:sym typeface="Times New Roman Bold"/>
              </a:rPr>
              <a:t>rch Sensitization &amp; Innovative Project Development</a:t>
            </a:r>
          </a:p>
        </p:txBody>
      </p:sp>
      <p:sp>
        <p:nvSpPr>
          <p:cNvPr name="TextBox 10" id="10"/>
          <p:cNvSpPr txBox="true"/>
          <p:nvPr/>
        </p:nvSpPr>
        <p:spPr>
          <a:xfrm rot="0">
            <a:off x="11787679" y="5743545"/>
            <a:ext cx="3175278" cy="533399"/>
          </a:xfrm>
          <a:prstGeom prst="rect">
            <a:avLst/>
          </a:prstGeom>
        </p:spPr>
        <p:txBody>
          <a:bodyPr anchor="t" rtlCol="false" tIns="0" lIns="0" bIns="0" rIns="0">
            <a:spAutoFit/>
          </a:bodyPr>
          <a:lstStyle/>
          <a:p>
            <a:pPr algn="ctr">
              <a:lnSpc>
                <a:spcPts val="4200"/>
              </a:lnSpc>
              <a:spcBef>
                <a:spcPct val="0"/>
              </a:spcBef>
            </a:pPr>
            <a:r>
              <a:rPr lang="en-US" b="true" sz="3000" u="sng">
                <a:solidFill>
                  <a:srgbClr val="000000"/>
                </a:solidFill>
                <a:latin typeface="Arimo Bold"/>
                <a:ea typeface="Arimo Bold"/>
                <a:cs typeface="Arimo Bold"/>
                <a:sym typeface="Arimo Bold"/>
              </a:rPr>
              <a:t>Faculty Mentors:-</a:t>
            </a:r>
          </a:p>
        </p:txBody>
      </p:sp>
      <p:sp>
        <p:nvSpPr>
          <p:cNvPr name="TextBox 11" id="11"/>
          <p:cNvSpPr txBox="true"/>
          <p:nvPr/>
        </p:nvSpPr>
        <p:spPr>
          <a:xfrm rot="0">
            <a:off x="12412219" y="6368398"/>
            <a:ext cx="3980497" cy="533399"/>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Arimo Bold"/>
                <a:ea typeface="Arimo Bold"/>
                <a:cs typeface="Arimo Bold"/>
                <a:sym typeface="Arimo Bold"/>
              </a:rPr>
              <a:t>D</a:t>
            </a:r>
            <a:r>
              <a:rPr lang="en-US" b="true" sz="3000">
                <a:solidFill>
                  <a:srgbClr val="000000"/>
                </a:solidFill>
                <a:latin typeface="Arimo Bold"/>
                <a:ea typeface="Arimo Bold"/>
                <a:cs typeface="Arimo Bold"/>
                <a:sym typeface="Arimo Bold"/>
              </a:rPr>
              <a:t>r. Niranjan Panigrahi</a:t>
            </a:r>
          </a:p>
        </p:txBody>
      </p:sp>
      <p:sp>
        <p:nvSpPr>
          <p:cNvPr name="TextBox 12" id="12"/>
          <p:cNvSpPr txBox="true"/>
          <p:nvPr/>
        </p:nvSpPr>
        <p:spPr>
          <a:xfrm rot="0">
            <a:off x="1126383" y="6377923"/>
            <a:ext cx="5560903" cy="2743833"/>
          </a:xfrm>
          <a:prstGeom prst="rect">
            <a:avLst/>
          </a:prstGeom>
        </p:spPr>
        <p:txBody>
          <a:bodyPr anchor="t" rtlCol="false" tIns="0" lIns="0" bIns="0" rIns="0">
            <a:spAutoFit/>
          </a:bodyPr>
          <a:lstStyle/>
          <a:p>
            <a:pPr algn="l">
              <a:lnSpc>
                <a:spcPts val="3640"/>
              </a:lnSpc>
            </a:pPr>
            <a:r>
              <a:rPr lang="en-US" sz="2600" b="true">
                <a:solidFill>
                  <a:srgbClr val="000000"/>
                </a:solidFill>
                <a:latin typeface="Arimo Bold"/>
                <a:ea typeface="Arimo Bold"/>
                <a:cs typeface="Arimo Bold"/>
                <a:sym typeface="Arimo Bold"/>
              </a:rPr>
              <a:t>Om Prakash Sahoo : 2401109207</a:t>
            </a:r>
          </a:p>
          <a:p>
            <a:pPr algn="l">
              <a:lnSpc>
                <a:spcPts val="3640"/>
              </a:lnSpc>
            </a:pPr>
            <a:r>
              <a:rPr lang="en-US" sz="2600" b="true">
                <a:solidFill>
                  <a:srgbClr val="000000"/>
                </a:solidFill>
                <a:latin typeface="Arimo Bold"/>
                <a:ea typeface="Arimo Bold"/>
                <a:cs typeface="Arimo Bold"/>
                <a:sym typeface="Arimo Bold"/>
              </a:rPr>
              <a:t>Tejeswar Mishal : 2401109</a:t>
            </a:r>
          </a:p>
          <a:p>
            <a:pPr algn="l">
              <a:lnSpc>
                <a:spcPts val="3640"/>
              </a:lnSpc>
              <a:spcBef>
                <a:spcPct val="0"/>
              </a:spcBef>
            </a:pPr>
            <a:r>
              <a:rPr lang="en-US" b="true" sz="2600">
                <a:solidFill>
                  <a:srgbClr val="000000"/>
                </a:solidFill>
                <a:latin typeface="Arimo Bold"/>
                <a:ea typeface="Arimo Bold"/>
                <a:cs typeface="Arimo Bold"/>
                <a:sym typeface="Arimo Bold"/>
              </a:rPr>
              <a:t>S</a:t>
            </a:r>
            <a:r>
              <a:rPr lang="en-US" b="true" sz="2600">
                <a:solidFill>
                  <a:srgbClr val="000000"/>
                </a:solidFill>
                <a:latin typeface="Arimo Bold"/>
                <a:ea typeface="Arimo Bold"/>
                <a:cs typeface="Arimo Bold"/>
                <a:sym typeface="Arimo Bold"/>
              </a:rPr>
              <a:t>oumya Ranjan Sahu : 2401109239</a:t>
            </a:r>
          </a:p>
          <a:p>
            <a:pPr algn="l">
              <a:lnSpc>
                <a:spcPts val="3640"/>
              </a:lnSpc>
              <a:spcBef>
                <a:spcPct val="0"/>
              </a:spcBef>
            </a:pPr>
            <a:r>
              <a:rPr lang="en-US" b="true" sz="2600">
                <a:solidFill>
                  <a:srgbClr val="000000"/>
                </a:solidFill>
                <a:latin typeface="Arimo Bold"/>
                <a:ea typeface="Arimo Bold"/>
                <a:cs typeface="Arimo Bold"/>
                <a:sym typeface="Arimo Bold"/>
              </a:rPr>
              <a:t>Sambit Sekhar Biswal : 2521109014</a:t>
            </a:r>
          </a:p>
          <a:p>
            <a:pPr algn="l">
              <a:lnSpc>
                <a:spcPts val="3640"/>
              </a:lnSpc>
              <a:spcBef>
                <a:spcPct val="0"/>
              </a:spcBef>
            </a:pPr>
            <a:r>
              <a:rPr lang="en-US" b="true" sz="2600">
                <a:solidFill>
                  <a:srgbClr val="000000"/>
                </a:solidFill>
                <a:latin typeface="Arimo Bold"/>
                <a:ea typeface="Arimo Bold"/>
                <a:cs typeface="Arimo Bold"/>
                <a:sym typeface="Arimo Bold"/>
              </a:rPr>
              <a:t>Sibananda Dora : 2401109233</a:t>
            </a:r>
          </a:p>
          <a:p>
            <a:pPr algn="ctr">
              <a:lnSpc>
                <a:spcPts val="3640"/>
              </a:lnSpc>
              <a:spcBef>
                <a:spcPct val="0"/>
              </a:spcBef>
            </a:pPr>
          </a:p>
        </p:txBody>
      </p:sp>
      <p:sp>
        <p:nvSpPr>
          <p:cNvPr name="TextBox 13" id="13"/>
          <p:cNvSpPr txBox="true"/>
          <p:nvPr/>
        </p:nvSpPr>
        <p:spPr>
          <a:xfrm rot="0">
            <a:off x="12412219" y="7006572"/>
            <a:ext cx="4760925" cy="545606"/>
          </a:xfrm>
          <a:prstGeom prst="rect">
            <a:avLst/>
          </a:prstGeom>
        </p:spPr>
        <p:txBody>
          <a:bodyPr anchor="t" rtlCol="false" tIns="0" lIns="0" bIns="0" rIns="0">
            <a:spAutoFit/>
          </a:bodyPr>
          <a:lstStyle/>
          <a:p>
            <a:pPr algn="ctr">
              <a:lnSpc>
                <a:spcPts val="4437"/>
              </a:lnSpc>
            </a:pPr>
            <a:r>
              <a:rPr lang="en-US" sz="3169" b="true">
                <a:solidFill>
                  <a:srgbClr val="000000"/>
                </a:solidFill>
                <a:latin typeface="Canva Sans Bold"/>
                <a:ea typeface="Canva Sans Bold"/>
                <a:cs typeface="Canva Sans Bold"/>
                <a:sym typeface="Canva Sans Bold"/>
              </a:rPr>
              <a:t>Dr. Sasmita Rani Behera</a:t>
            </a:r>
            <a:r>
              <a:rPr lang="en-US" sz="3169" b="true">
                <a:solidFill>
                  <a:srgbClr val="000000"/>
                </a:solidFill>
                <a:latin typeface="Canva Sans Bold"/>
                <a:ea typeface="Canva Sans Bold"/>
                <a:cs typeface="Canva Sans Bold"/>
                <a:sym typeface="Canva Sans Bold"/>
              </a:rPr>
              <a:t> </a:t>
            </a:r>
          </a:p>
        </p:txBody>
      </p:sp>
      <p:sp>
        <p:nvSpPr>
          <p:cNvPr name="TextBox 14" id="14"/>
          <p:cNvSpPr txBox="true"/>
          <p:nvPr/>
        </p:nvSpPr>
        <p:spPr>
          <a:xfrm rot="0">
            <a:off x="-136402" y="4399036"/>
            <a:ext cx="17395702" cy="539260"/>
          </a:xfrm>
          <a:prstGeom prst="rect">
            <a:avLst/>
          </a:prstGeom>
        </p:spPr>
        <p:txBody>
          <a:bodyPr anchor="t" rtlCol="false" tIns="0" lIns="0" bIns="0" rIns="0">
            <a:spAutoFit/>
          </a:bodyPr>
          <a:lstStyle/>
          <a:p>
            <a:pPr algn="ctr">
              <a:lnSpc>
                <a:spcPts val="4401"/>
              </a:lnSpc>
            </a:pPr>
            <a:r>
              <a:rPr lang="en-US" sz="3144" b="true">
                <a:solidFill>
                  <a:srgbClr val="1E344C"/>
                </a:solidFill>
                <a:latin typeface="Canva Sans Bold"/>
                <a:ea typeface="Canva Sans Bold"/>
                <a:cs typeface="Canva Sans Bold"/>
                <a:sym typeface="Canva Sans Bold"/>
              </a:rPr>
              <a:t>Smart Agriculture: A Cognitive Digital Twin for Crop Yield and Failure Detection</a:t>
            </a:r>
          </a:p>
        </p:txBody>
      </p:sp>
      <p:sp>
        <p:nvSpPr>
          <p:cNvPr name="TextBox 15" id="15"/>
          <p:cNvSpPr txBox="true"/>
          <p:nvPr/>
        </p:nvSpPr>
        <p:spPr>
          <a:xfrm rot="0">
            <a:off x="1028700" y="5738840"/>
            <a:ext cx="2126456" cy="538104"/>
          </a:xfrm>
          <a:prstGeom prst="rect">
            <a:avLst/>
          </a:prstGeom>
        </p:spPr>
        <p:txBody>
          <a:bodyPr anchor="t" rtlCol="false" tIns="0" lIns="0" bIns="0" rIns="0">
            <a:spAutoFit/>
          </a:bodyPr>
          <a:lstStyle/>
          <a:p>
            <a:pPr algn="ctr">
              <a:lnSpc>
                <a:spcPts val="4465"/>
              </a:lnSpc>
            </a:pPr>
            <a:r>
              <a:rPr lang="en-US" b="true" sz="3189" u="sng">
                <a:solidFill>
                  <a:srgbClr val="000000"/>
                </a:solidFill>
                <a:latin typeface="Canva Sans Bold"/>
                <a:ea typeface="Canva Sans Bold"/>
                <a:cs typeface="Canva Sans Bold"/>
                <a:sym typeface="Canva Sans Bold"/>
              </a:rPr>
              <a:t>Members:-</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17653" y="-170330"/>
            <a:ext cx="18923306" cy="10700437"/>
            <a:chOff x="0" y="0"/>
            <a:chExt cx="4983916" cy="2818222"/>
          </a:xfrm>
        </p:grpSpPr>
        <p:sp>
          <p:nvSpPr>
            <p:cNvPr name="Freeform 3" id="3"/>
            <p:cNvSpPr/>
            <p:nvPr/>
          </p:nvSpPr>
          <p:spPr>
            <a:xfrm flipH="false" flipV="false" rot="0">
              <a:off x="0" y="0"/>
              <a:ext cx="4983916" cy="2818222"/>
            </a:xfrm>
            <a:custGeom>
              <a:avLst/>
              <a:gdLst/>
              <a:ahLst/>
              <a:cxnLst/>
              <a:rect r="r" b="b" t="t" l="l"/>
              <a:pathLst>
                <a:path h="2818222" w="4983916">
                  <a:moveTo>
                    <a:pt x="40912" y="0"/>
                  </a:moveTo>
                  <a:lnTo>
                    <a:pt x="4943004" y="0"/>
                  </a:lnTo>
                  <a:cubicBezTo>
                    <a:pt x="4953855" y="0"/>
                    <a:pt x="4964261" y="4310"/>
                    <a:pt x="4971933" y="11983"/>
                  </a:cubicBezTo>
                  <a:cubicBezTo>
                    <a:pt x="4979606" y="19655"/>
                    <a:pt x="4983916" y="30062"/>
                    <a:pt x="4983916" y="40912"/>
                  </a:cubicBezTo>
                  <a:lnTo>
                    <a:pt x="4983916" y="2777310"/>
                  </a:lnTo>
                  <a:cubicBezTo>
                    <a:pt x="4983916" y="2788161"/>
                    <a:pt x="4979606" y="2798567"/>
                    <a:pt x="4971933" y="2806239"/>
                  </a:cubicBezTo>
                  <a:cubicBezTo>
                    <a:pt x="4964261" y="2813912"/>
                    <a:pt x="4953855" y="2818222"/>
                    <a:pt x="4943004" y="2818222"/>
                  </a:cubicBezTo>
                  <a:lnTo>
                    <a:pt x="40912" y="2818222"/>
                  </a:lnTo>
                  <a:cubicBezTo>
                    <a:pt x="30062" y="2818222"/>
                    <a:pt x="19655" y="2813912"/>
                    <a:pt x="11983" y="2806239"/>
                  </a:cubicBezTo>
                  <a:cubicBezTo>
                    <a:pt x="4310" y="2798567"/>
                    <a:pt x="0" y="2788161"/>
                    <a:pt x="0" y="2777310"/>
                  </a:cubicBezTo>
                  <a:lnTo>
                    <a:pt x="0" y="40912"/>
                  </a:lnTo>
                  <a:cubicBezTo>
                    <a:pt x="0" y="30062"/>
                    <a:pt x="4310" y="19655"/>
                    <a:pt x="11983" y="11983"/>
                  </a:cubicBezTo>
                  <a:cubicBezTo>
                    <a:pt x="19655" y="4310"/>
                    <a:pt x="30062" y="0"/>
                    <a:pt x="40912" y="0"/>
                  </a:cubicBezTo>
                  <a:close/>
                </a:path>
              </a:pathLst>
            </a:custGeom>
            <a:solidFill>
              <a:srgbClr val="6B95E0"/>
            </a:solidFill>
            <a:ln cap="rnd">
              <a:noFill/>
              <a:prstDash val="solid"/>
              <a:round/>
            </a:ln>
          </p:spPr>
        </p:sp>
        <p:sp>
          <p:nvSpPr>
            <p:cNvPr name="TextBox 4" id="4"/>
            <p:cNvSpPr txBox="true"/>
            <p:nvPr/>
          </p:nvSpPr>
          <p:spPr>
            <a:xfrm>
              <a:off x="0" y="-47625"/>
              <a:ext cx="4983916" cy="286584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08643" y="357961"/>
            <a:ext cx="17660092" cy="9571077"/>
            <a:chOff x="0" y="0"/>
            <a:chExt cx="4651218" cy="2520778"/>
          </a:xfrm>
        </p:grpSpPr>
        <p:sp>
          <p:nvSpPr>
            <p:cNvPr name="Freeform 6" id="6"/>
            <p:cNvSpPr/>
            <p:nvPr/>
          </p:nvSpPr>
          <p:spPr>
            <a:xfrm flipH="false" flipV="false" rot="0">
              <a:off x="0" y="0"/>
              <a:ext cx="4651218" cy="2520778"/>
            </a:xfrm>
            <a:custGeom>
              <a:avLst/>
              <a:gdLst/>
              <a:ahLst/>
              <a:cxnLst/>
              <a:rect r="r" b="b" t="t" l="l"/>
              <a:pathLst>
                <a:path h="2520778" w="4651218">
                  <a:moveTo>
                    <a:pt x="43839" y="0"/>
                  </a:moveTo>
                  <a:lnTo>
                    <a:pt x="4607379" y="0"/>
                  </a:lnTo>
                  <a:cubicBezTo>
                    <a:pt x="4631591" y="0"/>
                    <a:pt x="4651218" y="19627"/>
                    <a:pt x="4651218" y="43839"/>
                  </a:cubicBezTo>
                  <a:lnTo>
                    <a:pt x="4651218" y="2476939"/>
                  </a:lnTo>
                  <a:cubicBezTo>
                    <a:pt x="4651218" y="2501150"/>
                    <a:pt x="4631591" y="2520778"/>
                    <a:pt x="4607379" y="2520778"/>
                  </a:cubicBezTo>
                  <a:lnTo>
                    <a:pt x="43839" y="2520778"/>
                  </a:lnTo>
                  <a:cubicBezTo>
                    <a:pt x="19627" y="2520778"/>
                    <a:pt x="0" y="2501150"/>
                    <a:pt x="0" y="2476939"/>
                  </a:cubicBezTo>
                  <a:lnTo>
                    <a:pt x="0" y="43839"/>
                  </a:lnTo>
                  <a:cubicBezTo>
                    <a:pt x="0" y="19627"/>
                    <a:pt x="19627" y="0"/>
                    <a:pt x="43839" y="0"/>
                  </a:cubicBezTo>
                  <a:close/>
                </a:path>
              </a:pathLst>
            </a:custGeom>
            <a:solidFill>
              <a:srgbClr val="FFFFFE"/>
            </a:solidFill>
            <a:ln cap="rnd">
              <a:noFill/>
              <a:prstDash val="solid"/>
              <a:round/>
            </a:ln>
          </p:spPr>
        </p:sp>
        <p:sp>
          <p:nvSpPr>
            <p:cNvPr name="TextBox 7" id="7"/>
            <p:cNvSpPr txBox="true"/>
            <p:nvPr/>
          </p:nvSpPr>
          <p:spPr>
            <a:xfrm>
              <a:off x="0" y="-47625"/>
              <a:ext cx="4651218" cy="2568403"/>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885014" y="5531415"/>
            <a:ext cx="16553881" cy="2909911"/>
          </a:xfrm>
          <a:prstGeom prst="rect">
            <a:avLst/>
          </a:prstGeom>
        </p:spPr>
        <p:txBody>
          <a:bodyPr anchor="t" rtlCol="false" tIns="0" lIns="0" bIns="0" rIns="0">
            <a:spAutoFit/>
          </a:bodyPr>
          <a:lstStyle/>
          <a:p>
            <a:pPr algn="l">
              <a:lnSpc>
                <a:spcPts val="2920"/>
              </a:lnSpc>
            </a:pPr>
            <a:r>
              <a:rPr lang="en-US" sz="2339">
                <a:solidFill>
                  <a:srgbClr val="000000"/>
                </a:solidFill>
                <a:latin typeface="Arimo"/>
                <a:ea typeface="Arimo"/>
                <a:cs typeface="Arimo"/>
                <a:sym typeface="Arimo"/>
              </a:rPr>
              <a:t>Currently, agricultural yield forecasting relies heavily on retrospective government statistics that lack real-time predictive capabilities. When climate-induced anomalies—such as severe droughts, extreme thermal stress, or flooding—occur, traditional regression models fail to accurately classify the probability of a crop failure in time for intervention. Furthermore, uninterpretable deep learning models provide predictions without actionable explanations, reducing trust among stakeholders. There is a critical need for an intelligent system that can continuously ingest environmental telemetry, model biophysical failure triggers, account for weather uncertainty, and provide explainable AI insights. A Cognitive Digital Twin (CDT) solves  this by replicating the physical agricultural state digitally, allowing for proactive decision-making and counterfactual "What-If" climate simulations.</a:t>
            </a:r>
          </a:p>
        </p:txBody>
      </p:sp>
      <p:sp>
        <p:nvSpPr>
          <p:cNvPr name="TextBox 9" id="9"/>
          <p:cNvSpPr txBox="true"/>
          <p:nvPr/>
        </p:nvSpPr>
        <p:spPr>
          <a:xfrm rot="0">
            <a:off x="5386012" y="297194"/>
            <a:ext cx="6697504" cy="731506"/>
          </a:xfrm>
          <a:prstGeom prst="rect">
            <a:avLst/>
          </a:prstGeom>
        </p:spPr>
        <p:txBody>
          <a:bodyPr anchor="t" rtlCol="false" tIns="0" lIns="0" bIns="0" rIns="0">
            <a:spAutoFit/>
          </a:bodyPr>
          <a:lstStyle/>
          <a:p>
            <a:pPr algn="ctr">
              <a:lnSpc>
                <a:spcPts val="5880"/>
              </a:lnSpc>
            </a:pPr>
            <a:r>
              <a:rPr lang="en-US" b="true" sz="4200" u="sng">
                <a:solidFill>
                  <a:srgbClr val="000000"/>
                </a:solidFill>
                <a:latin typeface="Times New Roman Bold"/>
                <a:ea typeface="Times New Roman Bold"/>
                <a:cs typeface="Times New Roman Bold"/>
                <a:sym typeface="Times New Roman Bold"/>
              </a:rPr>
              <a:t>DOMAIN &amp; DESCRIPTION</a:t>
            </a:r>
          </a:p>
        </p:txBody>
      </p:sp>
      <p:sp>
        <p:nvSpPr>
          <p:cNvPr name="TextBox 10" id="10"/>
          <p:cNvSpPr txBox="true"/>
          <p:nvPr/>
        </p:nvSpPr>
        <p:spPr>
          <a:xfrm rot="0">
            <a:off x="1028700" y="1434289"/>
            <a:ext cx="3211592" cy="566419"/>
          </a:xfrm>
          <a:prstGeom prst="rect">
            <a:avLst/>
          </a:prstGeom>
        </p:spPr>
        <p:txBody>
          <a:bodyPr anchor="t" rtlCol="false" tIns="0" lIns="0" bIns="0" rIns="0">
            <a:spAutoFit/>
          </a:bodyPr>
          <a:lstStyle/>
          <a:p>
            <a:pPr algn="ctr">
              <a:lnSpc>
                <a:spcPts val="4480"/>
              </a:lnSpc>
            </a:pPr>
            <a:r>
              <a:rPr lang="en-US" b="true" sz="3200" u="sng">
                <a:solidFill>
                  <a:srgbClr val="000000"/>
                </a:solidFill>
                <a:latin typeface="Arimo Bold"/>
                <a:ea typeface="Arimo Bold"/>
                <a:cs typeface="Arimo Bold"/>
                <a:sym typeface="Arimo Bold"/>
              </a:rPr>
              <a:t>DOMAIN</a:t>
            </a:r>
          </a:p>
        </p:txBody>
      </p:sp>
      <p:sp>
        <p:nvSpPr>
          <p:cNvPr name="TextBox 11" id="11"/>
          <p:cNvSpPr txBox="true"/>
          <p:nvPr/>
        </p:nvSpPr>
        <p:spPr>
          <a:xfrm rot="0">
            <a:off x="1681102" y="2277497"/>
            <a:ext cx="4569470" cy="1108709"/>
          </a:xfrm>
          <a:prstGeom prst="rect">
            <a:avLst/>
          </a:prstGeom>
        </p:spPr>
        <p:txBody>
          <a:bodyPr anchor="t" rtlCol="false" tIns="0" lIns="0" bIns="0" rIns="0">
            <a:spAutoFit/>
          </a:bodyPr>
          <a:lstStyle/>
          <a:p>
            <a:pPr algn="l" marL="453396" indent="-226698" lvl="1">
              <a:lnSpc>
                <a:spcPts val="2940"/>
              </a:lnSpc>
              <a:buFont typeface="Arial"/>
              <a:buChar char="•"/>
            </a:pPr>
            <a:r>
              <a:rPr lang="en-US" sz="2100">
                <a:solidFill>
                  <a:srgbClr val="000000"/>
                </a:solidFill>
                <a:latin typeface="Arimo"/>
                <a:ea typeface="Arimo"/>
                <a:cs typeface="Arimo"/>
                <a:sym typeface="Arimo"/>
              </a:rPr>
              <a:t>Agricultural Technology (AgriTech) </a:t>
            </a:r>
          </a:p>
          <a:p>
            <a:pPr algn="l" marL="453396" indent="-226698" lvl="1">
              <a:lnSpc>
                <a:spcPts val="2940"/>
              </a:lnSpc>
              <a:buFont typeface="Arial"/>
              <a:buChar char="•"/>
            </a:pPr>
            <a:r>
              <a:rPr lang="en-US" sz="2100">
                <a:solidFill>
                  <a:srgbClr val="000000"/>
                </a:solidFill>
                <a:latin typeface="Arimo"/>
                <a:ea typeface="Arimo"/>
                <a:cs typeface="Arimo"/>
                <a:sym typeface="Arimo"/>
              </a:rPr>
              <a:t> Artificial Intelligence</a:t>
            </a:r>
          </a:p>
          <a:p>
            <a:pPr algn="l" marL="453396" indent="-226698" lvl="1">
              <a:lnSpc>
                <a:spcPts val="2940"/>
              </a:lnSpc>
              <a:buFont typeface="Arial"/>
              <a:buChar char="•"/>
            </a:pPr>
            <a:r>
              <a:rPr lang="en-US" sz="2100">
                <a:solidFill>
                  <a:srgbClr val="000000"/>
                </a:solidFill>
                <a:latin typeface="Arimo"/>
                <a:ea typeface="Arimo"/>
                <a:cs typeface="Arimo"/>
                <a:sym typeface="Arimo"/>
              </a:rPr>
              <a:t>Cognitive Digital Twin (CDT)</a:t>
            </a:r>
          </a:p>
        </p:txBody>
      </p:sp>
      <p:sp>
        <p:nvSpPr>
          <p:cNvPr name="TextBox 12" id="12"/>
          <p:cNvSpPr txBox="true"/>
          <p:nvPr/>
        </p:nvSpPr>
        <p:spPr>
          <a:xfrm rot="0">
            <a:off x="885014" y="3943585"/>
            <a:ext cx="16517971" cy="391794"/>
          </a:xfrm>
          <a:prstGeom prst="rect">
            <a:avLst/>
          </a:prstGeom>
        </p:spPr>
        <p:txBody>
          <a:bodyPr anchor="t" rtlCol="false" tIns="0" lIns="0" bIns="0" rIns="0">
            <a:spAutoFit/>
          </a:bodyPr>
          <a:lstStyle/>
          <a:p>
            <a:pPr algn="l">
              <a:lnSpc>
                <a:spcPts val="3080"/>
              </a:lnSpc>
            </a:pPr>
            <a:r>
              <a:rPr lang="en-US" sz="2200" b="true">
                <a:solidFill>
                  <a:srgbClr val="000000"/>
                </a:solidFill>
                <a:latin typeface="Arimo Bold"/>
                <a:ea typeface="Arimo Bold"/>
                <a:cs typeface="Arimo Bold"/>
                <a:sym typeface="Arimo Bold"/>
              </a:rPr>
              <a:t> </a:t>
            </a:r>
            <a:r>
              <a:rPr lang="en-US" sz="2200" b="true">
                <a:solidFill>
                  <a:srgbClr val="000000"/>
                </a:solidFill>
                <a:latin typeface="Arimo Bold"/>
                <a:ea typeface="Arimo Bold"/>
                <a:cs typeface="Arimo Bold"/>
                <a:sym typeface="Arimo Bold"/>
              </a:rPr>
              <a:t>Core Focus : Building a continuous, data-driven feedback loop for proactive crop failure detection.</a:t>
            </a:r>
          </a:p>
        </p:txBody>
      </p:sp>
      <p:sp>
        <p:nvSpPr>
          <p:cNvPr name="TextBox 13" id="13"/>
          <p:cNvSpPr txBox="true"/>
          <p:nvPr/>
        </p:nvSpPr>
        <p:spPr>
          <a:xfrm rot="0">
            <a:off x="496609" y="4621129"/>
            <a:ext cx="6609538" cy="615010"/>
          </a:xfrm>
          <a:prstGeom prst="rect">
            <a:avLst/>
          </a:prstGeom>
        </p:spPr>
        <p:txBody>
          <a:bodyPr anchor="t" rtlCol="false" tIns="0" lIns="0" bIns="0" rIns="0">
            <a:spAutoFit/>
          </a:bodyPr>
          <a:lstStyle/>
          <a:p>
            <a:pPr algn="ctr">
              <a:lnSpc>
                <a:spcPts val="4742"/>
              </a:lnSpc>
              <a:spcBef>
                <a:spcPct val="0"/>
              </a:spcBef>
            </a:pPr>
            <a:r>
              <a:rPr lang="en-US" b="true" sz="3800" u="sng">
                <a:solidFill>
                  <a:srgbClr val="000000"/>
                </a:solidFill>
                <a:latin typeface="Arimo Bold"/>
                <a:ea typeface="Arimo Bold"/>
                <a:cs typeface="Arimo Bold"/>
                <a:sym typeface="Arimo Bold"/>
              </a:rPr>
              <a:t>PROBLEM DESCRIPTION</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17653" y="-170330"/>
            <a:ext cx="18923306" cy="10700437"/>
            <a:chOff x="0" y="0"/>
            <a:chExt cx="4983916" cy="2818222"/>
          </a:xfrm>
        </p:grpSpPr>
        <p:sp>
          <p:nvSpPr>
            <p:cNvPr name="Freeform 3" id="3"/>
            <p:cNvSpPr/>
            <p:nvPr/>
          </p:nvSpPr>
          <p:spPr>
            <a:xfrm flipH="false" flipV="false" rot="0">
              <a:off x="0" y="0"/>
              <a:ext cx="4983916" cy="2818222"/>
            </a:xfrm>
            <a:custGeom>
              <a:avLst/>
              <a:gdLst/>
              <a:ahLst/>
              <a:cxnLst/>
              <a:rect r="r" b="b" t="t" l="l"/>
              <a:pathLst>
                <a:path h="2818222" w="4983916">
                  <a:moveTo>
                    <a:pt x="40912" y="0"/>
                  </a:moveTo>
                  <a:lnTo>
                    <a:pt x="4943004" y="0"/>
                  </a:lnTo>
                  <a:cubicBezTo>
                    <a:pt x="4953855" y="0"/>
                    <a:pt x="4964261" y="4310"/>
                    <a:pt x="4971933" y="11983"/>
                  </a:cubicBezTo>
                  <a:cubicBezTo>
                    <a:pt x="4979606" y="19655"/>
                    <a:pt x="4983916" y="30062"/>
                    <a:pt x="4983916" y="40912"/>
                  </a:cubicBezTo>
                  <a:lnTo>
                    <a:pt x="4983916" y="2777310"/>
                  </a:lnTo>
                  <a:cubicBezTo>
                    <a:pt x="4983916" y="2788161"/>
                    <a:pt x="4979606" y="2798567"/>
                    <a:pt x="4971933" y="2806239"/>
                  </a:cubicBezTo>
                  <a:cubicBezTo>
                    <a:pt x="4964261" y="2813912"/>
                    <a:pt x="4953855" y="2818222"/>
                    <a:pt x="4943004" y="2818222"/>
                  </a:cubicBezTo>
                  <a:lnTo>
                    <a:pt x="40912" y="2818222"/>
                  </a:lnTo>
                  <a:cubicBezTo>
                    <a:pt x="30062" y="2818222"/>
                    <a:pt x="19655" y="2813912"/>
                    <a:pt x="11983" y="2806239"/>
                  </a:cubicBezTo>
                  <a:cubicBezTo>
                    <a:pt x="4310" y="2798567"/>
                    <a:pt x="0" y="2788161"/>
                    <a:pt x="0" y="2777310"/>
                  </a:cubicBezTo>
                  <a:lnTo>
                    <a:pt x="0" y="40912"/>
                  </a:lnTo>
                  <a:cubicBezTo>
                    <a:pt x="0" y="30062"/>
                    <a:pt x="4310" y="19655"/>
                    <a:pt x="11983" y="11983"/>
                  </a:cubicBezTo>
                  <a:cubicBezTo>
                    <a:pt x="19655" y="4310"/>
                    <a:pt x="30062" y="0"/>
                    <a:pt x="40912" y="0"/>
                  </a:cubicBezTo>
                  <a:close/>
                </a:path>
              </a:pathLst>
            </a:custGeom>
            <a:solidFill>
              <a:srgbClr val="6B95E0"/>
            </a:solidFill>
            <a:ln cap="rnd">
              <a:noFill/>
              <a:prstDash val="solid"/>
              <a:round/>
            </a:ln>
          </p:spPr>
        </p:sp>
        <p:sp>
          <p:nvSpPr>
            <p:cNvPr name="TextBox 4" id="4"/>
            <p:cNvSpPr txBox="true"/>
            <p:nvPr/>
          </p:nvSpPr>
          <p:spPr>
            <a:xfrm>
              <a:off x="0" y="-47625"/>
              <a:ext cx="4983916" cy="286584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09174" y="357961"/>
            <a:ext cx="17869653" cy="9571077"/>
            <a:chOff x="0" y="0"/>
            <a:chExt cx="4706411" cy="2520778"/>
          </a:xfrm>
        </p:grpSpPr>
        <p:sp>
          <p:nvSpPr>
            <p:cNvPr name="Freeform 6" id="6"/>
            <p:cNvSpPr/>
            <p:nvPr/>
          </p:nvSpPr>
          <p:spPr>
            <a:xfrm flipH="false" flipV="false" rot="0">
              <a:off x="0" y="0"/>
              <a:ext cx="4706410" cy="2520778"/>
            </a:xfrm>
            <a:custGeom>
              <a:avLst/>
              <a:gdLst/>
              <a:ahLst/>
              <a:cxnLst/>
              <a:rect r="r" b="b" t="t" l="l"/>
              <a:pathLst>
                <a:path h="2520778" w="4706410">
                  <a:moveTo>
                    <a:pt x="43324" y="0"/>
                  </a:moveTo>
                  <a:lnTo>
                    <a:pt x="4663086" y="0"/>
                  </a:lnTo>
                  <a:cubicBezTo>
                    <a:pt x="4687014" y="0"/>
                    <a:pt x="4706410" y="19397"/>
                    <a:pt x="4706410" y="43324"/>
                  </a:cubicBezTo>
                  <a:lnTo>
                    <a:pt x="4706410" y="2477453"/>
                  </a:lnTo>
                  <a:cubicBezTo>
                    <a:pt x="4706410" y="2501380"/>
                    <a:pt x="4687014" y="2520778"/>
                    <a:pt x="4663086" y="2520778"/>
                  </a:cubicBezTo>
                  <a:lnTo>
                    <a:pt x="43324" y="2520778"/>
                  </a:lnTo>
                  <a:cubicBezTo>
                    <a:pt x="19397" y="2520778"/>
                    <a:pt x="0" y="2501380"/>
                    <a:pt x="0" y="2477453"/>
                  </a:cubicBezTo>
                  <a:lnTo>
                    <a:pt x="0" y="43324"/>
                  </a:lnTo>
                  <a:cubicBezTo>
                    <a:pt x="0" y="19397"/>
                    <a:pt x="19397" y="0"/>
                    <a:pt x="43324" y="0"/>
                  </a:cubicBezTo>
                  <a:close/>
                </a:path>
              </a:pathLst>
            </a:custGeom>
            <a:solidFill>
              <a:srgbClr val="FFFFFE"/>
            </a:solidFill>
            <a:ln cap="rnd">
              <a:noFill/>
              <a:prstDash val="solid"/>
              <a:round/>
            </a:ln>
          </p:spPr>
        </p:sp>
        <p:sp>
          <p:nvSpPr>
            <p:cNvPr name="TextBox 7" id="7"/>
            <p:cNvSpPr txBox="true"/>
            <p:nvPr/>
          </p:nvSpPr>
          <p:spPr>
            <a:xfrm>
              <a:off x="0" y="-47625"/>
              <a:ext cx="4706411" cy="2568403"/>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453040" y="1870957"/>
            <a:ext cx="17472347" cy="347967"/>
          </a:xfrm>
          <a:prstGeom prst="rect">
            <a:avLst/>
          </a:prstGeom>
        </p:spPr>
        <p:txBody>
          <a:bodyPr anchor="t" rtlCol="false" tIns="0" lIns="0" bIns="0" rIns="0">
            <a:spAutoFit/>
          </a:bodyPr>
          <a:lstStyle/>
          <a:p>
            <a:pPr algn="l">
              <a:lnSpc>
                <a:spcPts val="2787"/>
              </a:lnSpc>
              <a:spcBef>
                <a:spcPct val="0"/>
              </a:spcBef>
            </a:pPr>
            <a:r>
              <a:rPr lang="en-US" b="true" sz="2043">
                <a:solidFill>
                  <a:srgbClr val="000000"/>
                </a:solidFill>
                <a:latin typeface="Arial Bold"/>
                <a:ea typeface="Arial Bold"/>
                <a:cs typeface="Arial Bold"/>
                <a:sym typeface="Arial Bold"/>
              </a:rPr>
              <a:t>PAPER -1 : Climate Prediction Using RNN LSTM to Estimate Agricultural Products Based on Koppen Classification (Andini &amp; Utomo, 2021)</a:t>
            </a:r>
          </a:p>
        </p:txBody>
      </p:sp>
      <p:sp>
        <p:nvSpPr>
          <p:cNvPr name="TextBox 9" id="9"/>
          <p:cNvSpPr txBox="true"/>
          <p:nvPr/>
        </p:nvSpPr>
        <p:spPr>
          <a:xfrm rot="0">
            <a:off x="706256" y="2351151"/>
            <a:ext cx="16651749" cy="3457282"/>
          </a:xfrm>
          <a:prstGeom prst="rect">
            <a:avLst/>
          </a:prstGeom>
        </p:spPr>
        <p:txBody>
          <a:bodyPr anchor="t" rtlCol="false" tIns="0" lIns="0" bIns="0" rIns="0">
            <a:spAutoFit/>
          </a:bodyPr>
          <a:lstStyle/>
          <a:p>
            <a:pPr algn="just" marL="397974" indent="-198987" lvl="1">
              <a:lnSpc>
                <a:spcPts val="2514"/>
              </a:lnSpc>
              <a:spcBef>
                <a:spcPct val="0"/>
              </a:spcBef>
              <a:buAutoNum type="arabicPeriod" startAt="1"/>
            </a:pPr>
            <a:r>
              <a:rPr lang="en-US" b="true" sz="1843">
                <a:solidFill>
                  <a:srgbClr val="000000"/>
                </a:solidFill>
                <a:latin typeface="Solway Bold"/>
                <a:ea typeface="Solway Bold"/>
                <a:cs typeface="Solway Bold"/>
                <a:sym typeface="Solway Bold"/>
              </a:rPr>
              <a:t> Brief Description</a:t>
            </a:r>
            <a:r>
              <a:rPr lang="en-US" sz="1843">
                <a:solidFill>
                  <a:srgbClr val="000000"/>
                </a:solidFill>
                <a:latin typeface="Solway"/>
                <a:ea typeface="Solway"/>
                <a:cs typeface="Solway"/>
                <a:sym typeface="Solway"/>
              </a:rPr>
              <a:t>: This study focuses on predicting climate variables to optimize agricultural product estimation and mitigate the risk of  cr</a:t>
            </a:r>
            <a:r>
              <a:rPr lang="en-US" sz="1843">
                <a:solidFill>
                  <a:srgbClr val="000000"/>
                </a:solidFill>
                <a:latin typeface="Solway"/>
                <a:ea typeface="Solway"/>
                <a:cs typeface="Solway"/>
                <a:sym typeface="Solway"/>
              </a:rPr>
              <a:t>op failure due to incompatible climate conditions.</a:t>
            </a:r>
          </a:p>
          <a:p>
            <a:pPr algn="just" marL="397974" indent="-198987" lvl="1">
              <a:lnSpc>
                <a:spcPts val="2514"/>
              </a:lnSpc>
              <a:spcBef>
                <a:spcPct val="0"/>
              </a:spcBef>
              <a:buAutoNum type="arabicPeriod" startAt="1"/>
            </a:pPr>
            <a:r>
              <a:rPr lang="en-US" b="true" sz="1843">
                <a:solidFill>
                  <a:srgbClr val="000000"/>
                </a:solidFill>
                <a:latin typeface="Solway Bold"/>
                <a:ea typeface="Solway Bold"/>
                <a:cs typeface="Solway Bold"/>
                <a:sym typeface="Solway Bold"/>
              </a:rPr>
              <a:t>Dataset Used:</a:t>
            </a:r>
            <a:r>
              <a:rPr lang="en-US" sz="1843">
                <a:solidFill>
                  <a:srgbClr val="000000"/>
                </a:solidFill>
                <a:latin typeface="Solway"/>
                <a:ea typeface="Solway"/>
                <a:cs typeface="Solway"/>
                <a:sym typeface="Solway"/>
              </a:rPr>
              <a:t> A climate time-series dataset structured around the Köppen climate classification system.</a:t>
            </a:r>
          </a:p>
          <a:p>
            <a:pPr algn="just" marL="397974" indent="-198987" lvl="1">
              <a:lnSpc>
                <a:spcPts val="2514"/>
              </a:lnSpc>
              <a:spcBef>
                <a:spcPct val="0"/>
              </a:spcBef>
              <a:buAutoNum type="arabicPeriod" startAt="1"/>
            </a:pPr>
            <a:r>
              <a:rPr lang="en-US" b="true" sz="1843">
                <a:solidFill>
                  <a:srgbClr val="000000"/>
                </a:solidFill>
                <a:latin typeface="Solway Bold"/>
                <a:ea typeface="Solway Bold"/>
                <a:cs typeface="Solway Bold"/>
                <a:sym typeface="Solway Bold"/>
              </a:rPr>
              <a:t>Proposed </a:t>
            </a:r>
            <a:r>
              <a:rPr lang="en-US" b="true" sz="1843">
                <a:solidFill>
                  <a:srgbClr val="000000"/>
                </a:solidFill>
                <a:latin typeface="Solway Bold"/>
                <a:ea typeface="Solway Bold"/>
                <a:cs typeface="Solway Bold"/>
                <a:sym typeface="Solway Bold"/>
              </a:rPr>
              <a:t>Methodology</a:t>
            </a:r>
            <a:r>
              <a:rPr lang="en-US" sz="1843">
                <a:solidFill>
                  <a:srgbClr val="000000"/>
                </a:solidFill>
                <a:latin typeface="Solway"/>
                <a:ea typeface="Solway"/>
                <a:cs typeface="Solway"/>
                <a:sym typeface="Solway"/>
              </a:rPr>
              <a:t>: The researchers implemented a Recurrent Neural Network (RNN) architecture utilizing Long Short-Term Memory (LSTM) cells (with 48 input neurons), optimized via the Adam optimizer over 200 epochs.</a:t>
            </a:r>
          </a:p>
          <a:p>
            <a:pPr algn="just" marL="397974" indent="-198987" lvl="1">
              <a:lnSpc>
                <a:spcPts val="2514"/>
              </a:lnSpc>
              <a:spcBef>
                <a:spcPct val="0"/>
              </a:spcBef>
              <a:buAutoNum type="arabicPeriod" startAt="1"/>
            </a:pPr>
            <a:r>
              <a:rPr lang="en-US" b="true" sz="1843">
                <a:solidFill>
                  <a:srgbClr val="000000"/>
                </a:solidFill>
                <a:latin typeface="Solway Bold"/>
                <a:ea typeface="Solway Bold"/>
                <a:cs typeface="Solway Bold"/>
                <a:sym typeface="Solway Bold"/>
              </a:rPr>
              <a:t>K</a:t>
            </a:r>
            <a:r>
              <a:rPr lang="en-US" b="true" sz="1843">
                <a:solidFill>
                  <a:srgbClr val="000000"/>
                </a:solidFill>
                <a:latin typeface="Solway Bold"/>
                <a:ea typeface="Solway Bold"/>
                <a:cs typeface="Solway Bold"/>
                <a:sym typeface="Solway Bold"/>
              </a:rPr>
              <a:t>ey Outcomes</a:t>
            </a:r>
            <a:r>
              <a:rPr lang="en-US" sz="1843">
                <a:solidFill>
                  <a:srgbClr val="000000"/>
                </a:solidFill>
                <a:latin typeface="Solway"/>
                <a:ea typeface="Solway"/>
                <a:cs typeface="Solway"/>
                <a:sym typeface="Solway"/>
              </a:rPr>
              <a:t>: The methodology successfully achieved high predictive accuracy, yielding a Mean Absolute Percentage Error (MAPE) of just 3.29% for 1-month-ahead climate forecasting.</a:t>
            </a:r>
          </a:p>
          <a:p>
            <a:pPr algn="just" marL="397974" indent="-198987" lvl="1">
              <a:lnSpc>
                <a:spcPts val="2514"/>
              </a:lnSpc>
              <a:spcBef>
                <a:spcPct val="0"/>
              </a:spcBef>
              <a:buAutoNum type="arabicPeriod" startAt="1"/>
            </a:pPr>
            <a:r>
              <a:rPr lang="en-US" b="true" sz="1843">
                <a:solidFill>
                  <a:srgbClr val="000000"/>
                </a:solidFill>
                <a:latin typeface="Solway Bold"/>
                <a:ea typeface="Solway Bold"/>
                <a:cs typeface="Solway Bold"/>
                <a:sym typeface="Solway Bold"/>
              </a:rPr>
              <a:t>Research Gaps</a:t>
            </a:r>
            <a:r>
              <a:rPr lang="en-US" sz="1843">
                <a:solidFill>
                  <a:srgbClr val="000000"/>
                </a:solidFill>
                <a:latin typeface="Solway"/>
                <a:ea typeface="Solway"/>
                <a:cs typeface="Solway"/>
                <a:sym typeface="Solway"/>
              </a:rPr>
              <a:t>: The model's temporal depth is limited to forecasting just one month ahead, rather than projecting a full 12-week agricultural season. Additionally, it omits critical sub-surface environmental features like root zone soil wetness (GWETROOT), which are essential for robust biophysical stress modeling.</a:t>
            </a:r>
          </a:p>
          <a:p>
            <a:pPr algn="just">
              <a:lnSpc>
                <a:spcPts val="2514"/>
              </a:lnSpc>
              <a:spcBef>
                <a:spcPct val="0"/>
              </a:spcBef>
            </a:pPr>
          </a:p>
        </p:txBody>
      </p:sp>
      <p:sp>
        <p:nvSpPr>
          <p:cNvPr name="TextBox 10" id="10"/>
          <p:cNvSpPr txBox="true"/>
          <p:nvPr/>
        </p:nvSpPr>
        <p:spPr>
          <a:xfrm rot="0">
            <a:off x="453040" y="5581627"/>
            <a:ext cx="17472347" cy="726884"/>
          </a:xfrm>
          <a:prstGeom prst="rect">
            <a:avLst/>
          </a:prstGeom>
        </p:spPr>
        <p:txBody>
          <a:bodyPr anchor="t" rtlCol="false" tIns="0" lIns="0" bIns="0" rIns="0">
            <a:spAutoFit/>
          </a:bodyPr>
          <a:lstStyle/>
          <a:p>
            <a:pPr algn="l">
              <a:lnSpc>
                <a:spcPts val="2787"/>
              </a:lnSpc>
            </a:pPr>
            <a:r>
              <a:rPr lang="en-US" sz="2043" b="true">
                <a:solidFill>
                  <a:srgbClr val="000000"/>
                </a:solidFill>
                <a:latin typeface="Arial Bold"/>
                <a:ea typeface="Arial Bold"/>
                <a:cs typeface="Arial Bold"/>
                <a:sym typeface="Arial Bold"/>
              </a:rPr>
              <a:t>PAPER -2 : A Time-Series Hybrid Multi-Model Machine Learning Framework for Staple Crops Yield Prediction (Arya et al., 2026)</a:t>
            </a:r>
          </a:p>
          <a:p>
            <a:pPr algn="l">
              <a:lnSpc>
                <a:spcPts val="3059"/>
              </a:lnSpc>
              <a:spcBef>
                <a:spcPct val="0"/>
              </a:spcBef>
            </a:pPr>
          </a:p>
        </p:txBody>
      </p:sp>
      <p:sp>
        <p:nvSpPr>
          <p:cNvPr name="TextBox 11" id="11"/>
          <p:cNvSpPr txBox="true"/>
          <p:nvPr/>
        </p:nvSpPr>
        <p:spPr>
          <a:xfrm rot="0">
            <a:off x="706256" y="6067402"/>
            <a:ext cx="16651749" cy="3457282"/>
          </a:xfrm>
          <a:prstGeom prst="rect">
            <a:avLst/>
          </a:prstGeom>
        </p:spPr>
        <p:txBody>
          <a:bodyPr anchor="t" rtlCol="false" tIns="0" lIns="0" bIns="0" rIns="0">
            <a:spAutoFit/>
          </a:bodyPr>
          <a:lstStyle/>
          <a:p>
            <a:pPr algn="just" marL="397974" indent="-198987" lvl="1">
              <a:lnSpc>
                <a:spcPts val="2514"/>
              </a:lnSpc>
              <a:buAutoNum type="arabicPeriod" startAt="1"/>
            </a:pPr>
            <a:r>
              <a:rPr lang="en-US" b="true" sz="1843">
                <a:solidFill>
                  <a:srgbClr val="000000"/>
                </a:solidFill>
                <a:latin typeface="Solway Bold"/>
                <a:ea typeface="Solway Bold"/>
                <a:cs typeface="Solway Bold"/>
                <a:sym typeface="Solway Bold"/>
              </a:rPr>
              <a:t>Brief Description</a:t>
            </a:r>
            <a:r>
              <a:rPr lang="en-US" sz="1843">
                <a:solidFill>
                  <a:srgbClr val="000000"/>
                </a:solidFill>
                <a:latin typeface="Solway"/>
                <a:ea typeface="Solway"/>
                <a:cs typeface="Solway"/>
                <a:sym typeface="Solway"/>
              </a:rPr>
              <a:t>: This research aims to improve the accuracy of staple crop yield forecasting by addressing the complex, nonlinear dynamics inherent in agricultural data.</a:t>
            </a:r>
          </a:p>
          <a:p>
            <a:pPr algn="just" marL="397974" indent="-198987" lvl="1">
              <a:lnSpc>
                <a:spcPts val="2514"/>
              </a:lnSpc>
              <a:spcBef>
                <a:spcPct val="0"/>
              </a:spcBef>
              <a:buAutoNum type="arabicPeriod" startAt="1"/>
            </a:pPr>
            <a:r>
              <a:rPr lang="en-US" b="true" sz="1843">
                <a:solidFill>
                  <a:srgbClr val="000000"/>
                </a:solidFill>
                <a:latin typeface="Solway Bold"/>
                <a:ea typeface="Solway Bold"/>
                <a:cs typeface="Solway Bold"/>
                <a:sym typeface="Solway Bold"/>
              </a:rPr>
              <a:t>Dataset Used</a:t>
            </a:r>
            <a:r>
              <a:rPr lang="en-US" sz="1843">
                <a:solidFill>
                  <a:srgbClr val="000000"/>
                </a:solidFill>
                <a:latin typeface="Solway"/>
                <a:ea typeface="Solway"/>
                <a:cs typeface="Solway"/>
                <a:sym typeface="Solway"/>
              </a:rPr>
              <a:t>: International macr</a:t>
            </a:r>
            <a:r>
              <a:rPr lang="en-US" sz="1843">
                <a:solidFill>
                  <a:srgbClr val="000000"/>
                </a:solidFill>
                <a:latin typeface="Solway"/>
                <a:ea typeface="Solway"/>
                <a:cs typeface="Solway"/>
                <a:sym typeface="Solway"/>
              </a:rPr>
              <a:t>o-level agricultural yield datasets and historical time-series production records.</a:t>
            </a:r>
          </a:p>
          <a:p>
            <a:pPr algn="just" marL="397974" indent="-198987" lvl="1">
              <a:lnSpc>
                <a:spcPts val="2514"/>
              </a:lnSpc>
              <a:spcBef>
                <a:spcPct val="0"/>
              </a:spcBef>
              <a:buAutoNum type="arabicPeriod" startAt="1"/>
            </a:pPr>
            <a:r>
              <a:rPr lang="en-US" b="true" sz="1843">
                <a:solidFill>
                  <a:srgbClr val="000000"/>
                </a:solidFill>
                <a:latin typeface="Solway Bold"/>
                <a:ea typeface="Solway Bold"/>
                <a:cs typeface="Solway Bold"/>
                <a:sym typeface="Solway Bold"/>
              </a:rPr>
              <a:t>Proposed Methodology</a:t>
            </a:r>
            <a:r>
              <a:rPr lang="en-US" sz="1843">
                <a:solidFill>
                  <a:srgbClr val="000000"/>
                </a:solidFill>
                <a:latin typeface="Solway"/>
                <a:ea typeface="Solway"/>
                <a:cs typeface="Solway"/>
                <a:sym typeface="Solway"/>
              </a:rPr>
              <a:t>: The authors designed a Time-Series Hybrid Multi-Model Machine Learning Framework, combining traditional linear time-series forecasting (ETS) with non-linear deep learning (Artificial Neural Networks and LSTM).</a:t>
            </a:r>
          </a:p>
          <a:p>
            <a:pPr algn="just" marL="397974" indent="-198987" lvl="1">
              <a:lnSpc>
                <a:spcPts val="2514"/>
              </a:lnSpc>
              <a:spcBef>
                <a:spcPct val="0"/>
              </a:spcBef>
              <a:buAutoNum type="arabicPeriod" startAt="1"/>
            </a:pPr>
            <a:r>
              <a:rPr lang="en-US" b="true" sz="1843">
                <a:solidFill>
                  <a:srgbClr val="000000"/>
                </a:solidFill>
                <a:latin typeface="Solway Bold"/>
                <a:ea typeface="Solway Bold"/>
                <a:cs typeface="Solway Bold"/>
                <a:sym typeface="Solway Bold"/>
              </a:rPr>
              <a:t>Key Outcomes</a:t>
            </a:r>
            <a:r>
              <a:rPr lang="en-US" sz="1843">
                <a:solidFill>
                  <a:srgbClr val="000000"/>
                </a:solidFill>
                <a:latin typeface="Solway"/>
                <a:ea typeface="Solway"/>
                <a:cs typeface="Solway"/>
                <a:sym typeface="Solway"/>
              </a:rPr>
              <a:t>: The hybrid approach demonstrated superior accuracy for staple crops, specifically achieving an R² of 98.4% for Rice yield predictions.</a:t>
            </a:r>
          </a:p>
          <a:p>
            <a:pPr algn="just" marL="397974" indent="-198987" lvl="1">
              <a:lnSpc>
                <a:spcPts val="2514"/>
              </a:lnSpc>
              <a:spcBef>
                <a:spcPct val="0"/>
              </a:spcBef>
              <a:buAutoNum type="arabicPeriod" startAt="1"/>
            </a:pPr>
            <a:r>
              <a:rPr lang="en-US" b="true" sz="1843">
                <a:solidFill>
                  <a:srgbClr val="000000"/>
                </a:solidFill>
                <a:latin typeface="Solway Bold"/>
                <a:ea typeface="Solway Bold"/>
                <a:cs typeface="Solway Bold"/>
                <a:sym typeface="Solway Bold"/>
              </a:rPr>
              <a:t>Research Gaps</a:t>
            </a:r>
            <a:r>
              <a:rPr lang="en-US" sz="1843">
                <a:solidFill>
                  <a:srgbClr val="000000"/>
                </a:solidFill>
                <a:latin typeface="Solway"/>
                <a:ea typeface="Solway"/>
                <a:cs typeface="Solway"/>
                <a:sym typeface="Solway"/>
              </a:rPr>
              <a:t>: The framework operates as an uninterpretable "black box," lacking Model Interpretability to explain why a crop might fail. Furthermore, its reliance on international macro-data makes it poorly suited for district-stratified, localized interventions for smallholder farmers.</a:t>
            </a:r>
          </a:p>
          <a:p>
            <a:pPr algn="just">
              <a:lnSpc>
                <a:spcPts val="2514"/>
              </a:lnSpc>
              <a:spcBef>
                <a:spcPct val="0"/>
              </a:spcBef>
            </a:pPr>
          </a:p>
        </p:txBody>
      </p:sp>
      <p:sp>
        <p:nvSpPr>
          <p:cNvPr name="TextBox 12" id="12"/>
          <p:cNvSpPr txBox="true"/>
          <p:nvPr/>
        </p:nvSpPr>
        <p:spPr>
          <a:xfrm rot="0">
            <a:off x="706256" y="595897"/>
            <a:ext cx="3690640" cy="432803"/>
          </a:xfrm>
          <a:prstGeom prst="rect">
            <a:avLst/>
          </a:prstGeom>
        </p:spPr>
        <p:txBody>
          <a:bodyPr anchor="t" rtlCol="false" tIns="0" lIns="0" bIns="0" rIns="0">
            <a:spAutoFit/>
          </a:bodyPr>
          <a:lstStyle/>
          <a:p>
            <a:pPr algn="ctr">
              <a:lnSpc>
                <a:spcPts val="3469"/>
              </a:lnSpc>
              <a:spcBef>
                <a:spcPct val="0"/>
              </a:spcBef>
            </a:pPr>
            <a:r>
              <a:rPr lang="en-US" b="true" sz="2543" u="sng">
                <a:solidFill>
                  <a:srgbClr val="000000"/>
                </a:solidFill>
                <a:latin typeface="Arial Bold"/>
                <a:ea typeface="Arial Bold"/>
                <a:cs typeface="Arial Bold"/>
                <a:sym typeface="Arial Bold"/>
              </a:rPr>
              <a:t> LITERATURE REVIEWS</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17653" y="-170330"/>
            <a:ext cx="18923306" cy="10700437"/>
            <a:chOff x="0" y="0"/>
            <a:chExt cx="4983916" cy="2818222"/>
          </a:xfrm>
        </p:grpSpPr>
        <p:sp>
          <p:nvSpPr>
            <p:cNvPr name="Freeform 3" id="3"/>
            <p:cNvSpPr/>
            <p:nvPr/>
          </p:nvSpPr>
          <p:spPr>
            <a:xfrm flipH="false" flipV="false" rot="0">
              <a:off x="0" y="0"/>
              <a:ext cx="4983916" cy="2818222"/>
            </a:xfrm>
            <a:custGeom>
              <a:avLst/>
              <a:gdLst/>
              <a:ahLst/>
              <a:cxnLst/>
              <a:rect r="r" b="b" t="t" l="l"/>
              <a:pathLst>
                <a:path h="2818222" w="4983916">
                  <a:moveTo>
                    <a:pt x="40912" y="0"/>
                  </a:moveTo>
                  <a:lnTo>
                    <a:pt x="4943004" y="0"/>
                  </a:lnTo>
                  <a:cubicBezTo>
                    <a:pt x="4953855" y="0"/>
                    <a:pt x="4964261" y="4310"/>
                    <a:pt x="4971933" y="11983"/>
                  </a:cubicBezTo>
                  <a:cubicBezTo>
                    <a:pt x="4979606" y="19655"/>
                    <a:pt x="4983916" y="30062"/>
                    <a:pt x="4983916" y="40912"/>
                  </a:cubicBezTo>
                  <a:lnTo>
                    <a:pt x="4983916" y="2777310"/>
                  </a:lnTo>
                  <a:cubicBezTo>
                    <a:pt x="4983916" y="2788161"/>
                    <a:pt x="4979606" y="2798567"/>
                    <a:pt x="4971933" y="2806239"/>
                  </a:cubicBezTo>
                  <a:cubicBezTo>
                    <a:pt x="4964261" y="2813912"/>
                    <a:pt x="4953855" y="2818222"/>
                    <a:pt x="4943004" y="2818222"/>
                  </a:cubicBezTo>
                  <a:lnTo>
                    <a:pt x="40912" y="2818222"/>
                  </a:lnTo>
                  <a:cubicBezTo>
                    <a:pt x="30062" y="2818222"/>
                    <a:pt x="19655" y="2813912"/>
                    <a:pt x="11983" y="2806239"/>
                  </a:cubicBezTo>
                  <a:cubicBezTo>
                    <a:pt x="4310" y="2798567"/>
                    <a:pt x="0" y="2788161"/>
                    <a:pt x="0" y="2777310"/>
                  </a:cubicBezTo>
                  <a:lnTo>
                    <a:pt x="0" y="40912"/>
                  </a:lnTo>
                  <a:cubicBezTo>
                    <a:pt x="0" y="30062"/>
                    <a:pt x="4310" y="19655"/>
                    <a:pt x="11983" y="11983"/>
                  </a:cubicBezTo>
                  <a:cubicBezTo>
                    <a:pt x="19655" y="4310"/>
                    <a:pt x="30062" y="0"/>
                    <a:pt x="40912" y="0"/>
                  </a:cubicBezTo>
                  <a:close/>
                </a:path>
              </a:pathLst>
            </a:custGeom>
            <a:solidFill>
              <a:srgbClr val="6B95E0"/>
            </a:solidFill>
            <a:ln cap="rnd">
              <a:noFill/>
              <a:prstDash val="solid"/>
              <a:round/>
            </a:ln>
          </p:spPr>
        </p:sp>
        <p:sp>
          <p:nvSpPr>
            <p:cNvPr name="TextBox 4" id="4"/>
            <p:cNvSpPr txBox="true"/>
            <p:nvPr/>
          </p:nvSpPr>
          <p:spPr>
            <a:xfrm>
              <a:off x="0" y="-47625"/>
              <a:ext cx="4983916" cy="286584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09174" y="357961"/>
            <a:ext cx="17869653" cy="9571077"/>
            <a:chOff x="0" y="0"/>
            <a:chExt cx="4706411" cy="2520778"/>
          </a:xfrm>
        </p:grpSpPr>
        <p:sp>
          <p:nvSpPr>
            <p:cNvPr name="Freeform 6" id="6"/>
            <p:cNvSpPr/>
            <p:nvPr/>
          </p:nvSpPr>
          <p:spPr>
            <a:xfrm flipH="false" flipV="false" rot="0">
              <a:off x="0" y="0"/>
              <a:ext cx="4706410" cy="2520778"/>
            </a:xfrm>
            <a:custGeom>
              <a:avLst/>
              <a:gdLst/>
              <a:ahLst/>
              <a:cxnLst/>
              <a:rect r="r" b="b" t="t" l="l"/>
              <a:pathLst>
                <a:path h="2520778" w="4706410">
                  <a:moveTo>
                    <a:pt x="43324" y="0"/>
                  </a:moveTo>
                  <a:lnTo>
                    <a:pt x="4663086" y="0"/>
                  </a:lnTo>
                  <a:cubicBezTo>
                    <a:pt x="4687014" y="0"/>
                    <a:pt x="4706410" y="19397"/>
                    <a:pt x="4706410" y="43324"/>
                  </a:cubicBezTo>
                  <a:lnTo>
                    <a:pt x="4706410" y="2477453"/>
                  </a:lnTo>
                  <a:cubicBezTo>
                    <a:pt x="4706410" y="2501380"/>
                    <a:pt x="4687014" y="2520778"/>
                    <a:pt x="4663086" y="2520778"/>
                  </a:cubicBezTo>
                  <a:lnTo>
                    <a:pt x="43324" y="2520778"/>
                  </a:lnTo>
                  <a:cubicBezTo>
                    <a:pt x="19397" y="2520778"/>
                    <a:pt x="0" y="2501380"/>
                    <a:pt x="0" y="2477453"/>
                  </a:cubicBezTo>
                  <a:lnTo>
                    <a:pt x="0" y="43324"/>
                  </a:lnTo>
                  <a:cubicBezTo>
                    <a:pt x="0" y="19397"/>
                    <a:pt x="19397" y="0"/>
                    <a:pt x="43324" y="0"/>
                  </a:cubicBezTo>
                  <a:close/>
                </a:path>
              </a:pathLst>
            </a:custGeom>
            <a:solidFill>
              <a:srgbClr val="FFFFFE"/>
            </a:solidFill>
            <a:ln cap="rnd">
              <a:noFill/>
              <a:prstDash val="solid"/>
              <a:round/>
            </a:ln>
          </p:spPr>
        </p:sp>
        <p:sp>
          <p:nvSpPr>
            <p:cNvPr name="TextBox 7" id="7"/>
            <p:cNvSpPr txBox="true"/>
            <p:nvPr/>
          </p:nvSpPr>
          <p:spPr>
            <a:xfrm>
              <a:off x="0" y="-47625"/>
              <a:ext cx="4706411" cy="2568403"/>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630323" y="835667"/>
            <a:ext cx="15483036" cy="347967"/>
          </a:xfrm>
          <a:prstGeom prst="rect">
            <a:avLst/>
          </a:prstGeom>
        </p:spPr>
        <p:txBody>
          <a:bodyPr anchor="t" rtlCol="false" tIns="0" lIns="0" bIns="0" rIns="0">
            <a:spAutoFit/>
          </a:bodyPr>
          <a:lstStyle/>
          <a:p>
            <a:pPr algn="ctr">
              <a:lnSpc>
                <a:spcPts val="2787"/>
              </a:lnSpc>
              <a:spcBef>
                <a:spcPct val="0"/>
              </a:spcBef>
            </a:pPr>
            <a:r>
              <a:rPr lang="en-US" b="true" sz="2043">
                <a:solidFill>
                  <a:srgbClr val="000000"/>
                </a:solidFill>
                <a:latin typeface="Arial Bold"/>
                <a:ea typeface="Arial Bold"/>
                <a:cs typeface="Arial Bold"/>
                <a:sym typeface="Arial Bold"/>
              </a:rPr>
              <a:t>PAPER -3 : Precisi</a:t>
            </a:r>
            <a:r>
              <a:rPr lang="en-US" b="true" sz="2043">
                <a:solidFill>
                  <a:srgbClr val="000000"/>
                </a:solidFill>
                <a:latin typeface="Arial Bold"/>
                <a:ea typeface="Arial Bold"/>
                <a:cs typeface="Arial Bold"/>
                <a:sym typeface="Arial Bold"/>
              </a:rPr>
              <a:t>on Agriculture Revolution: Integrating Digital Twins and Advanced Crop Recommendation for Optimal Yield</a:t>
            </a:r>
          </a:p>
        </p:txBody>
      </p:sp>
      <p:sp>
        <p:nvSpPr>
          <p:cNvPr name="TextBox 9" id="9"/>
          <p:cNvSpPr txBox="true"/>
          <p:nvPr/>
        </p:nvSpPr>
        <p:spPr>
          <a:xfrm rot="0">
            <a:off x="767673" y="1338409"/>
            <a:ext cx="15879290" cy="3457282"/>
          </a:xfrm>
          <a:prstGeom prst="rect">
            <a:avLst/>
          </a:prstGeom>
        </p:spPr>
        <p:txBody>
          <a:bodyPr anchor="t" rtlCol="false" tIns="0" lIns="0" bIns="0" rIns="0">
            <a:spAutoFit/>
          </a:bodyPr>
          <a:lstStyle/>
          <a:p>
            <a:pPr algn="l" marL="397974" indent="-198987" lvl="1">
              <a:lnSpc>
                <a:spcPts val="2514"/>
              </a:lnSpc>
              <a:spcBef>
                <a:spcPct val="0"/>
              </a:spcBef>
              <a:buAutoNum type="arabicPeriod" startAt="1"/>
            </a:pPr>
            <a:r>
              <a:rPr lang="en-US" b="true" sz="1843">
                <a:solidFill>
                  <a:srgbClr val="000000"/>
                </a:solidFill>
                <a:latin typeface="Solway Bold"/>
                <a:ea typeface="Solway Bold"/>
                <a:cs typeface="Solway Bold"/>
                <a:sym typeface="Solway Bold"/>
              </a:rPr>
              <a:t>Brief Descripti</a:t>
            </a:r>
            <a:r>
              <a:rPr lang="en-US" b="true" sz="1843">
                <a:solidFill>
                  <a:srgbClr val="000000"/>
                </a:solidFill>
                <a:latin typeface="Solway Bold"/>
                <a:ea typeface="Solway Bold"/>
                <a:cs typeface="Solway Bold"/>
                <a:sym typeface="Solway Bold"/>
              </a:rPr>
              <a:t>on</a:t>
            </a:r>
            <a:r>
              <a:rPr lang="en-US" sz="1843">
                <a:solidFill>
                  <a:srgbClr val="000000"/>
                </a:solidFill>
                <a:latin typeface="Solway"/>
                <a:ea typeface="Solway"/>
                <a:cs typeface="Solway"/>
                <a:sym typeface="Solway"/>
              </a:rPr>
              <a:t>: This paper explores the integration of Cyber-Physical Systems (CPS) to construct an agricultural digital twin capable of advanced, dynamic crop recommendation.</a:t>
            </a:r>
          </a:p>
          <a:p>
            <a:pPr algn="l" marL="397974" indent="-198987" lvl="1">
              <a:lnSpc>
                <a:spcPts val="2514"/>
              </a:lnSpc>
              <a:spcBef>
                <a:spcPct val="0"/>
              </a:spcBef>
              <a:buAutoNum type="arabicPeriod" startAt="1"/>
            </a:pPr>
            <a:r>
              <a:rPr lang="en-US" b="true" sz="1843">
                <a:solidFill>
                  <a:srgbClr val="000000"/>
                </a:solidFill>
                <a:latin typeface="Solway Bold"/>
                <a:ea typeface="Solway Bold"/>
                <a:cs typeface="Solway Bold"/>
                <a:sym typeface="Solway Bold"/>
              </a:rPr>
              <a:t>Dataset Used</a:t>
            </a:r>
            <a:r>
              <a:rPr lang="en-US" sz="1843">
                <a:solidFill>
                  <a:srgbClr val="000000"/>
                </a:solidFill>
                <a:latin typeface="Solway"/>
                <a:ea typeface="Solway"/>
                <a:cs typeface="Solway"/>
                <a:sym typeface="Solway"/>
              </a:rPr>
              <a:t>: Operational farm-level data collected via localized Internet of Things (IoT) sensor networks.</a:t>
            </a:r>
          </a:p>
          <a:p>
            <a:pPr algn="l" marL="397974" indent="-198987" lvl="1">
              <a:lnSpc>
                <a:spcPts val="2514"/>
              </a:lnSpc>
              <a:spcBef>
                <a:spcPct val="0"/>
              </a:spcBef>
              <a:buAutoNum type="arabicPeriod" startAt="1"/>
            </a:pPr>
            <a:r>
              <a:rPr lang="en-US" b="true" sz="1843">
                <a:solidFill>
                  <a:srgbClr val="000000"/>
                </a:solidFill>
                <a:latin typeface="Solway Bold"/>
                <a:ea typeface="Solway Bold"/>
                <a:cs typeface="Solway Bold"/>
                <a:sym typeface="Solway Bold"/>
              </a:rPr>
              <a:t>Proposed Methodology</a:t>
            </a:r>
            <a:r>
              <a:rPr lang="en-US" sz="1843">
                <a:solidFill>
                  <a:srgbClr val="000000"/>
                </a:solidFill>
                <a:latin typeface="Solway"/>
                <a:ea typeface="Solway"/>
                <a:cs typeface="Solway"/>
                <a:sym typeface="Solway"/>
              </a:rPr>
              <a:t>: The researchers developed a digital twin methodology that digitally mirrors the physical farm environment, enabling the execution of dynamic "What-if" simulations for agricultural planning.</a:t>
            </a:r>
          </a:p>
          <a:p>
            <a:pPr algn="l" marL="397974" indent="-198987" lvl="1">
              <a:lnSpc>
                <a:spcPts val="2514"/>
              </a:lnSpc>
              <a:spcBef>
                <a:spcPct val="0"/>
              </a:spcBef>
              <a:buAutoNum type="arabicPeriod" startAt="1"/>
            </a:pPr>
            <a:r>
              <a:rPr lang="en-US" b="true" sz="1843">
                <a:solidFill>
                  <a:srgbClr val="000000"/>
                </a:solidFill>
                <a:latin typeface="Solway Bold"/>
                <a:ea typeface="Solway Bold"/>
                <a:cs typeface="Solway Bold"/>
                <a:sym typeface="Solway Bold"/>
              </a:rPr>
              <a:t>Key Outcomes</a:t>
            </a:r>
            <a:r>
              <a:rPr lang="en-US" sz="1843">
                <a:solidFill>
                  <a:srgbClr val="000000"/>
                </a:solidFill>
                <a:latin typeface="Solway"/>
                <a:ea typeface="Solway"/>
                <a:cs typeface="Solway"/>
                <a:sym typeface="Solway"/>
              </a:rPr>
              <a:t>: The implementation of the digital twin led to highly impactful optimizations, demonstrating a 10-25% increase in crop yield and a 20-30% reduction in water usage.</a:t>
            </a:r>
          </a:p>
          <a:p>
            <a:pPr algn="l" marL="397974" indent="-198987" lvl="1">
              <a:lnSpc>
                <a:spcPts val="2514"/>
              </a:lnSpc>
              <a:spcBef>
                <a:spcPct val="0"/>
              </a:spcBef>
              <a:buAutoNum type="arabicPeriod" startAt="1"/>
            </a:pPr>
            <a:r>
              <a:rPr lang="en-US" b="true" sz="1843">
                <a:solidFill>
                  <a:srgbClr val="000000"/>
                </a:solidFill>
                <a:latin typeface="Solway Bold"/>
                <a:ea typeface="Solway Bold"/>
                <a:cs typeface="Solway Bold"/>
                <a:sym typeface="Solway Bold"/>
              </a:rPr>
              <a:t>Research Gaps:</a:t>
            </a:r>
            <a:r>
              <a:rPr lang="en-US" sz="1843">
                <a:solidFill>
                  <a:srgbClr val="000000"/>
                </a:solidFill>
                <a:latin typeface="Solway"/>
                <a:ea typeface="Solway"/>
                <a:cs typeface="Solway"/>
                <a:sym typeface="Solway"/>
              </a:rPr>
              <a:t> The heavy reliance on a sensor-dense "single-farm silo" creates a massive infrastructure cost and data interoperability bottleneck, rendering it financially unviable for smallholders. It also lacks an automated, explainable mechanism for translating complex AI logic to the farmer.</a:t>
            </a:r>
          </a:p>
          <a:p>
            <a:pPr algn="l">
              <a:lnSpc>
                <a:spcPts val="2514"/>
              </a:lnSpc>
              <a:spcBef>
                <a:spcPct val="0"/>
              </a:spcBef>
            </a:pPr>
          </a:p>
        </p:txBody>
      </p:sp>
      <p:sp>
        <p:nvSpPr>
          <p:cNvPr name="TextBox 10" id="10"/>
          <p:cNvSpPr txBox="true"/>
          <p:nvPr/>
        </p:nvSpPr>
        <p:spPr>
          <a:xfrm rot="0">
            <a:off x="630323" y="4795533"/>
            <a:ext cx="14725650" cy="347967"/>
          </a:xfrm>
          <a:prstGeom prst="rect">
            <a:avLst/>
          </a:prstGeom>
        </p:spPr>
        <p:txBody>
          <a:bodyPr anchor="t" rtlCol="false" tIns="0" lIns="0" bIns="0" rIns="0">
            <a:spAutoFit/>
          </a:bodyPr>
          <a:lstStyle/>
          <a:p>
            <a:pPr algn="ctr">
              <a:lnSpc>
                <a:spcPts val="2787"/>
              </a:lnSpc>
              <a:spcBef>
                <a:spcPct val="0"/>
              </a:spcBef>
            </a:pPr>
            <a:r>
              <a:rPr lang="en-US" b="true" sz="2043">
                <a:solidFill>
                  <a:srgbClr val="000000"/>
                </a:solidFill>
                <a:latin typeface="Arial Bold"/>
                <a:ea typeface="Arial Bold"/>
                <a:cs typeface="Arial Bold"/>
                <a:sym typeface="Arial Bold"/>
              </a:rPr>
              <a:t>PAPER -4 : Crop Yield Time-Series Data Prediction Based on Multiple Hybrid Machine Learning Models (Yan et al., 2025)</a:t>
            </a:r>
          </a:p>
        </p:txBody>
      </p:sp>
      <p:sp>
        <p:nvSpPr>
          <p:cNvPr name="TextBox 11" id="11"/>
          <p:cNvSpPr txBox="true"/>
          <p:nvPr/>
        </p:nvSpPr>
        <p:spPr>
          <a:xfrm rot="0">
            <a:off x="767673" y="5295900"/>
            <a:ext cx="15879290" cy="3457282"/>
          </a:xfrm>
          <a:prstGeom prst="rect">
            <a:avLst/>
          </a:prstGeom>
        </p:spPr>
        <p:txBody>
          <a:bodyPr anchor="t" rtlCol="false" tIns="0" lIns="0" bIns="0" rIns="0">
            <a:spAutoFit/>
          </a:bodyPr>
          <a:lstStyle/>
          <a:p>
            <a:pPr algn="l" marL="397974" indent="-198987" lvl="1">
              <a:lnSpc>
                <a:spcPts val="2514"/>
              </a:lnSpc>
              <a:spcBef>
                <a:spcPct val="0"/>
              </a:spcBef>
              <a:buAutoNum type="arabicPeriod" startAt="1"/>
            </a:pPr>
            <a:r>
              <a:rPr lang="en-US" b="true" sz="1843">
                <a:solidFill>
                  <a:srgbClr val="000000"/>
                </a:solidFill>
                <a:latin typeface="Solway Bold"/>
                <a:ea typeface="Solway Bold"/>
                <a:cs typeface="Solway Bold"/>
                <a:sym typeface="Solway Bold"/>
              </a:rPr>
              <a:t>Brief Description:</a:t>
            </a:r>
            <a:r>
              <a:rPr lang="en-US" sz="1843">
                <a:solidFill>
                  <a:srgbClr val="000000"/>
                </a:solidFill>
                <a:latin typeface="Solway"/>
                <a:ea typeface="Solway"/>
                <a:cs typeface="Solway"/>
                <a:sym typeface="Solway"/>
              </a:rPr>
              <a:t> This study focuses on enhancing th</a:t>
            </a:r>
            <a:r>
              <a:rPr lang="en-US" sz="1843">
                <a:solidFill>
                  <a:srgbClr val="000000"/>
                </a:solidFill>
                <a:latin typeface="Solway"/>
                <a:ea typeface="Solway"/>
                <a:cs typeface="Solway"/>
                <a:sym typeface="Solway"/>
              </a:rPr>
              <a:t>e accuracy of continuous crop yield predictions by analyzing complex, non-linear relationships in agricultural time-series data.</a:t>
            </a:r>
          </a:p>
          <a:p>
            <a:pPr algn="l" marL="397974" indent="-198987" lvl="1">
              <a:lnSpc>
                <a:spcPts val="2514"/>
              </a:lnSpc>
              <a:spcBef>
                <a:spcPct val="0"/>
              </a:spcBef>
              <a:buAutoNum type="arabicPeriod" startAt="1"/>
            </a:pPr>
            <a:r>
              <a:rPr lang="en-US" b="true" sz="1843">
                <a:solidFill>
                  <a:srgbClr val="000000"/>
                </a:solidFill>
                <a:latin typeface="Solway Bold"/>
                <a:ea typeface="Solway Bold"/>
                <a:cs typeface="Solway Bold"/>
                <a:sym typeface="Solway Bold"/>
              </a:rPr>
              <a:t>Dataset Used</a:t>
            </a:r>
            <a:r>
              <a:rPr lang="en-US" sz="1843">
                <a:solidFill>
                  <a:srgbClr val="000000"/>
                </a:solidFill>
                <a:latin typeface="Solway"/>
                <a:ea typeface="Solway"/>
                <a:cs typeface="Solway"/>
                <a:sym typeface="Solway"/>
              </a:rPr>
              <a:t>: Historical agricultural yield metrics combined with localized, real-time pesticide usage records.</a:t>
            </a:r>
          </a:p>
          <a:p>
            <a:pPr algn="l" marL="397974" indent="-198987" lvl="1">
              <a:lnSpc>
                <a:spcPts val="2514"/>
              </a:lnSpc>
              <a:spcBef>
                <a:spcPct val="0"/>
              </a:spcBef>
              <a:buAutoNum type="arabicPeriod" startAt="1"/>
            </a:pPr>
            <a:r>
              <a:rPr lang="en-US" b="true" sz="1843">
                <a:solidFill>
                  <a:srgbClr val="000000"/>
                </a:solidFill>
                <a:latin typeface="Solway Bold"/>
                <a:ea typeface="Solway Bold"/>
                <a:cs typeface="Solway Bold"/>
                <a:sym typeface="Solway Bold"/>
              </a:rPr>
              <a:t>Proposed Methodology</a:t>
            </a:r>
            <a:r>
              <a:rPr lang="en-US" sz="1843">
                <a:solidFill>
                  <a:srgbClr val="000000"/>
                </a:solidFill>
                <a:latin typeface="Solway"/>
                <a:ea typeface="Solway"/>
                <a:cs typeface="Solway"/>
                <a:sym typeface="Solway"/>
              </a:rPr>
              <a:t>: The researchers constructed a Weighted Ensemble model that combines the predictive strengths of Random Forest (RF) and XGBoost algorithms.</a:t>
            </a:r>
          </a:p>
          <a:p>
            <a:pPr algn="l" marL="397974" indent="-198987" lvl="1">
              <a:lnSpc>
                <a:spcPts val="2514"/>
              </a:lnSpc>
              <a:spcBef>
                <a:spcPct val="0"/>
              </a:spcBef>
              <a:buAutoNum type="arabicPeriod" startAt="1"/>
            </a:pPr>
            <a:r>
              <a:rPr lang="en-US" b="true" sz="1843">
                <a:solidFill>
                  <a:srgbClr val="000000"/>
                </a:solidFill>
                <a:latin typeface="Solway Bold"/>
                <a:ea typeface="Solway Bold"/>
                <a:cs typeface="Solway Bold"/>
                <a:sym typeface="Solway Bold"/>
              </a:rPr>
              <a:t>Key Outcomes</a:t>
            </a:r>
            <a:r>
              <a:rPr lang="en-US" sz="1843">
                <a:solidFill>
                  <a:srgbClr val="000000"/>
                </a:solidFill>
                <a:latin typeface="Solway"/>
                <a:ea typeface="Solway"/>
                <a:cs typeface="Solway"/>
                <a:sym typeface="Solway"/>
              </a:rPr>
              <a:t>: The hybrid ensemble approach significantly outperformed standalone models, successfully reducing the Mean Absolute Error (MAE) from 0.0177 (standalone RF) to 0.0042.</a:t>
            </a:r>
          </a:p>
          <a:p>
            <a:pPr algn="l" marL="397974" indent="-198987" lvl="1">
              <a:lnSpc>
                <a:spcPts val="2514"/>
              </a:lnSpc>
              <a:spcBef>
                <a:spcPct val="0"/>
              </a:spcBef>
              <a:buAutoNum type="arabicPeriod" startAt="1"/>
            </a:pPr>
            <a:r>
              <a:rPr lang="en-US" b="true" sz="1843">
                <a:solidFill>
                  <a:srgbClr val="000000"/>
                </a:solidFill>
                <a:latin typeface="Solway Bold"/>
                <a:ea typeface="Solway Bold"/>
                <a:cs typeface="Solway Bold"/>
                <a:sym typeface="Solway Bold"/>
              </a:rPr>
              <a:t>Research Gaps</a:t>
            </a:r>
            <a:r>
              <a:rPr lang="en-US" sz="1843">
                <a:solidFill>
                  <a:srgbClr val="000000"/>
                </a:solidFill>
                <a:latin typeface="Solway"/>
                <a:ea typeface="Solway"/>
                <a:cs typeface="Solway"/>
                <a:sym typeface="Solway"/>
              </a:rPr>
              <a:t>: The model strictly predicts continuous yield volume (t/ha) rather than classifying the binary "Failure Anomalies" required for disaster relief triggering. Additionally, its heavy reliance on real-time pesticide data creates a severe operational bottleneck in developing regions where such data is often delayed or unavailable.</a:t>
            </a:r>
          </a:p>
          <a:p>
            <a:pPr algn="l">
              <a:lnSpc>
                <a:spcPts val="2514"/>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17653" y="-170330"/>
            <a:ext cx="18923306" cy="10700437"/>
            <a:chOff x="0" y="0"/>
            <a:chExt cx="4983916" cy="2818222"/>
          </a:xfrm>
        </p:grpSpPr>
        <p:sp>
          <p:nvSpPr>
            <p:cNvPr name="Freeform 3" id="3"/>
            <p:cNvSpPr/>
            <p:nvPr/>
          </p:nvSpPr>
          <p:spPr>
            <a:xfrm flipH="false" flipV="false" rot="0">
              <a:off x="0" y="0"/>
              <a:ext cx="4983916" cy="2818222"/>
            </a:xfrm>
            <a:custGeom>
              <a:avLst/>
              <a:gdLst/>
              <a:ahLst/>
              <a:cxnLst/>
              <a:rect r="r" b="b" t="t" l="l"/>
              <a:pathLst>
                <a:path h="2818222" w="4983916">
                  <a:moveTo>
                    <a:pt x="40912" y="0"/>
                  </a:moveTo>
                  <a:lnTo>
                    <a:pt x="4943004" y="0"/>
                  </a:lnTo>
                  <a:cubicBezTo>
                    <a:pt x="4953855" y="0"/>
                    <a:pt x="4964261" y="4310"/>
                    <a:pt x="4971933" y="11983"/>
                  </a:cubicBezTo>
                  <a:cubicBezTo>
                    <a:pt x="4979606" y="19655"/>
                    <a:pt x="4983916" y="30062"/>
                    <a:pt x="4983916" y="40912"/>
                  </a:cubicBezTo>
                  <a:lnTo>
                    <a:pt x="4983916" y="2777310"/>
                  </a:lnTo>
                  <a:cubicBezTo>
                    <a:pt x="4983916" y="2788161"/>
                    <a:pt x="4979606" y="2798567"/>
                    <a:pt x="4971933" y="2806239"/>
                  </a:cubicBezTo>
                  <a:cubicBezTo>
                    <a:pt x="4964261" y="2813912"/>
                    <a:pt x="4953855" y="2818222"/>
                    <a:pt x="4943004" y="2818222"/>
                  </a:cubicBezTo>
                  <a:lnTo>
                    <a:pt x="40912" y="2818222"/>
                  </a:lnTo>
                  <a:cubicBezTo>
                    <a:pt x="30062" y="2818222"/>
                    <a:pt x="19655" y="2813912"/>
                    <a:pt x="11983" y="2806239"/>
                  </a:cubicBezTo>
                  <a:cubicBezTo>
                    <a:pt x="4310" y="2798567"/>
                    <a:pt x="0" y="2788161"/>
                    <a:pt x="0" y="2777310"/>
                  </a:cubicBezTo>
                  <a:lnTo>
                    <a:pt x="0" y="40912"/>
                  </a:lnTo>
                  <a:cubicBezTo>
                    <a:pt x="0" y="30062"/>
                    <a:pt x="4310" y="19655"/>
                    <a:pt x="11983" y="11983"/>
                  </a:cubicBezTo>
                  <a:cubicBezTo>
                    <a:pt x="19655" y="4310"/>
                    <a:pt x="30062" y="0"/>
                    <a:pt x="40912" y="0"/>
                  </a:cubicBezTo>
                  <a:close/>
                </a:path>
              </a:pathLst>
            </a:custGeom>
            <a:solidFill>
              <a:srgbClr val="6B95E0"/>
            </a:solidFill>
            <a:ln cap="rnd">
              <a:noFill/>
              <a:prstDash val="solid"/>
              <a:round/>
            </a:ln>
          </p:spPr>
        </p:sp>
        <p:sp>
          <p:nvSpPr>
            <p:cNvPr name="TextBox 4" id="4"/>
            <p:cNvSpPr txBox="true"/>
            <p:nvPr/>
          </p:nvSpPr>
          <p:spPr>
            <a:xfrm>
              <a:off x="0" y="-47625"/>
              <a:ext cx="4983916" cy="286584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09174" y="357961"/>
            <a:ext cx="17869653" cy="9571077"/>
            <a:chOff x="0" y="0"/>
            <a:chExt cx="4706411" cy="2520778"/>
          </a:xfrm>
        </p:grpSpPr>
        <p:sp>
          <p:nvSpPr>
            <p:cNvPr name="Freeform 6" id="6"/>
            <p:cNvSpPr/>
            <p:nvPr/>
          </p:nvSpPr>
          <p:spPr>
            <a:xfrm flipH="false" flipV="false" rot="0">
              <a:off x="0" y="0"/>
              <a:ext cx="4706410" cy="2520778"/>
            </a:xfrm>
            <a:custGeom>
              <a:avLst/>
              <a:gdLst/>
              <a:ahLst/>
              <a:cxnLst/>
              <a:rect r="r" b="b" t="t" l="l"/>
              <a:pathLst>
                <a:path h="2520778" w="4706410">
                  <a:moveTo>
                    <a:pt x="43324" y="0"/>
                  </a:moveTo>
                  <a:lnTo>
                    <a:pt x="4663086" y="0"/>
                  </a:lnTo>
                  <a:cubicBezTo>
                    <a:pt x="4687014" y="0"/>
                    <a:pt x="4706410" y="19397"/>
                    <a:pt x="4706410" y="43324"/>
                  </a:cubicBezTo>
                  <a:lnTo>
                    <a:pt x="4706410" y="2477453"/>
                  </a:lnTo>
                  <a:cubicBezTo>
                    <a:pt x="4706410" y="2501380"/>
                    <a:pt x="4687014" y="2520778"/>
                    <a:pt x="4663086" y="2520778"/>
                  </a:cubicBezTo>
                  <a:lnTo>
                    <a:pt x="43324" y="2520778"/>
                  </a:lnTo>
                  <a:cubicBezTo>
                    <a:pt x="19397" y="2520778"/>
                    <a:pt x="0" y="2501380"/>
                    <a:pt x="0" y="2477453"/>
                  </a:cubicBezTo>
                  <a:lnTo>
                    <a:pt x="0" y="43324"/>
                  </a:lnTo>
                  <a:cubicBezTo>
                    <a:pt x="0" y="19397"/>
                    <a:pt x="19397" y="0"/>
                    <a:pt x="43324" y="0"/>
                  </a:cubicBezTo>
                  <a:close/>
                </a:path>
              </a:pathLst>
            </a:custGeom>
            <a:solidFill>
              <a:srgbClr val="FFFFFE"/>
            </a:solidFill>
            <a:ln cap="rnd">
              <a:noFill/>
              <a:prstDash val="solid"/>
              <a:round/>
            </a:ln>
          </p:spPr>
        </p:sp>
        <p:sp>
          <p:nvSpPr>
            <p:cNvPr name="TextBox 7" id="7"/>
            <p:cNvSpPr txBox="true"/>
            <p:nvPr/>
          </p:nvSpPr>
          <p:spPr>
            <a:xfrm>
              <a:off x="0" y="-47625"/>
              <a:ext cx="4706411" cy="2568403"/>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9340" y="5000785"/>
            <a:ext cx="5904107" cy="4609064"/>
          </a:xfrm>
          <a:custGeom>
            <a:avLst/>
            <a:gdLst/>
            <a:ahLst/>
            <a:cxnLst/>
            <a:rect r="r" b="b" t="t" l="l"/>
            <a:pathLst>
              <a:path h="4609064" w="5904107">
                <a:moveTo>
                  <a:pt x="0" y="0"/>
                </a:moveTo>
                <a:lnTo>
                  <a:pt x="5904107" y="0"/>
                </a:lnTo>
                <a:lnTo>
                  <a:pt x="5904107" y="4609065"/>
                </a:lnTo>
                <a:lnTo>
                  <a:pt x="0" y="4609065"/>
                </a:lnTo>
                <a:lnTo>
                  <a:pt x="0" y="0"/>
                </a:lnTo>
                <a:close/>
              </a:path>
            </a:pathLst>
          </a:custGeom>
          <a:blipFill>
            <a:blip r:embed="rId2"/>
            <a:stretch>
              <a:fillRect l="0" t="0" r="0" b="0"/>
            </a:stretch>
          </a:blipFill>
        </p:spPr>
      </p:sp>
      <p:sp>
        <p:nvSpPr>
          <p:cNvPr name="Freeform 9" id="9"/>
          <p:cNvSpPr/>
          <p:nvPr/>
        </p:nvSpPr>
        <p:spPr>
          <a:xfrm flipH="false" flipV="false" rot="0">
            <a:off x="8859551" y="4680764"/>
            <a:ext cx="6720613" cy="4577536"/>
          </a:xfrm>
          <a:custGeom>
            <a:avLst/>
            <a:gdLst/>
            <a:ahLst/>
            <a:cxnLst/>
            <a:rect r="r" b="b" t="t" l="l"/>
            <a:pathLst>
              <a:path h="4577536" w="6720613">
                <a:moveTo>
                  <a:pt x="0" y="0"/>
                </a:moveTo>
                <a:lnTo>
                  <a:pt x="6720613" y="0"/>
                </a:lnTo>
                <a:lnTo>
                  <a:pt x="6720613" y="4577536"/>
                </a:lnTo>
                <a:lnTo>
                  <a:pt x="0" y="4577536"/>
                </a:lnTo>
                <a:lnTo>
                  <a:pt x="0" y="0"/>
                </a:lnTo>
                <a:close/>
              </a:path>
            </a:pathLst>
          </a:custGeom>
          <a:blipFill>
            <a:blip r:embed="rId3"/>
            <a:stretch>
              <a:fillRect l="0" t="0" r="0" b="0"/>
            </a:stretch>
          </a:blipFill>
        </p:spPr>
      </p:sp>
      <p:sp>
        <p:nvSpPr>
          <p:cNvPr name="TextBox 10" id="10"/>
          <p:cNvSpPr txBox="true"/>
          <p:nvPr/>
        </p:nvSpPr>
        <p:spPr>
          <a:xfrm rot="0">
            <a:off x="689091" y="835667"/>
            <a:ext cx="15194310" cy="347967"/>
          </a:xfrm>
          <a:prstGeom prst="rect">
            <a:avLst/>
          </a:prstGeom>
        </p:spPr>
        <p:txBody>
          <a:bodyPr anchor="t" rtlCol="false" tIns="0" lIns="0" bIns="0" rIns="0">
            <a:spAutoFit/>
          </a:bodyPr>
          <a:lstStyle/>
          <a:p>
            <a:pPr algn="ctr">
              <a:lnSpc>
                <a:spcPts val="2787"/>
              </a:lnSpc>
              <a:spcBef>
                <a:spcPct val="0"/>
              </a:spcBef>
            </a:pPr>
            <a:r>
              <a:rPr lang="en-US" b="true" sz="2043">
                <a:solidFill>
                  <a:srgbClr val="000000"/>
                </a:solidFill>
                <a:latin typeface="Arial Bold"/>
                <a:ea typeface="Arial Bold"/>
                <a:cs typeface="Arial Bold"/>
                <a:sym typeface="Arial Bold"/>
              </a:rPr>
              <a:t>PAPER -5 : Digital</a:t>
            </a:r>
            <a:r>
              <a:rPr lang="en-US" b="true" sz="2043">
                <a:solidFill>
                  <a:srgbClr val="000000"/>
                </a:solidFill>
                <a:latin typeface="Arial Bold"/>
                <a:ea typeface="Arial Bold"/>
                <a:cs typeface="Arial Bold"/>
                <a:sym typeface="Arial Bold"/>
              </a:rPr>
              <a:t> Twin-Based Uncertain Weather Condition Monitoring for Enhanced Crop Yield Prediction (Kenneth, 2026)</a:t>
            </a:r>
          </a:p>
        </p:txBody>
      </p:sp>
      <p:sp>
        <p:nvSpPr>
          <p:cNvPr name="TextBox 11" id="11"/>
          <p:cNvSpPr txBox="true"/>
          <p:nvPr/>
        </p:nvSpPr>
        <p:spPr>
          <a:xfrm rot="0">
            <a:off x="689091" y="1543503"/>
            <a:ext cx="15879290" cy="3457282"/>
          </a:xfrm>
          <a:prstGeom prst="rect">
            <a:avLst/>
          </a:prstGeom>
        </p:spPr>
        <p:txBody>
          <a:bodyPr anchor="t" rtlCol="false" tIns="0" lIns="0" bIns="0" rIns="0">
            <a:spAutoFit/>
          </a:bodyPr>
          <a:lstStyle/>
          <a:p>
            <a:pPr algn="l" marL="397974" indent="-198987" lvl="1">
              <a:lnSpc>
                <a:spcPts val="2514"/>
              </a:lnSpc>
              <a:spcBef>
                <a:spcPct val="0"/>
              </a:spcBef>
              <a:buAutoNum type="arabicPeriod" startAt="1"/>
            </a:pPr>
            <a:r>
              <a:rPr lang="en-US" b="true" sz="1843">
                <a:solidFill>
                  <a:srgbClr val="000000"/>
                </a:solidFill>
                <a:latin typeface="Solway Bold"/>
                <a:ea typeface="Solway Bold"/>
                <a:cs typeface="Solway Bold"/>
                <a:sym typeface="Solway Bold"/>
              </a:rPr>
              <a:t>Brief Description</a:t>
            </a:r>
            <a:r>
              <a:rPr lang="en-US" sz="1843">
                <a:solidFill>
                  <a:srgbClr val="000000"/>
                </a:solidFill>
                <a:latin typeface="Solway"/>
                <a:ea typeface="Solway"/>
                <a:cs typeface="Solway"/>
                <a:sym typeface="Solway"/>
              </a:rPr>
              <a:t>: Ken</a:t>
            </a:r>
            <a:r>
              <a:rPr lang="en-US" sz="1843">
                <a:solidFill>
                  <a:srgbClr val="000000"/>
                </a:solidFill>
                <a:latin typeface="Solway"/>
                <a:ea typeface="Solway"/>
                <a:cs typeface="Solway"/>
                <a:sym typeface="Solway"/>
              </a:rPr>
              <a:t>neth (2026) introduces the "CropTwin" framework, designed to monitor and mathematically model uncertain weather conditions to enhance the prediction of crop yields without relying on local hardware.</a:t>
            </a:r>
          </a:p>
          <a:p>
            <a:pPr algn="l" marL="397974" indent="-198987" lvl="1">
              <a:lnSpc>
                <a:spcPts val="2514"/>
              </a:lnSpc>
              <a:spcBef>
                <a:spcPct val="0"/>
              </a:spcBef>
              <a:buAutoNum type="arabicPeriod" startAt="1"/>
            </a:pPr>
            <a:r>
              <a:rPr lang="en-US" b="true" sz="1843">
                <a:solidFill>
                  <a:srgbClr val="000000"/>
                </a:solidFill>
                <a:latin typeface="Solway Bold"/>
                <a:ea typeface="Solway Bold"/>
                <a:cs typeface="Solway Bold"/>
                <a:sym typeface="Solway Bold"/>
              </a:rPr>
              <a:t>Dataset Used</a:t>
            </a:r>
            <a:r>
              <a:rPr lang="en-US" sz="1843">
                <a:solidFill>
                  <a:srgbClr val="000000"/>
                </a:solidFill>
                <a:latin typeface="Solway"/>
                <a:ea typeface="Solway"/>
                <a:cs typeface="Solway"/>
                <a:sym typeface="Solway"/>
              </a:rPr>
              <a:t>: Continuous satellite meteorological telemetry sourced directly from the NASA POWER API.</a:t>
            </a:r>
          </a:p>
          <a:p>
            <a:pPr algn="l" marL="397974" indent="-198987" lvl="1">
              <a:lnSpc>
                <a:spcPts val="2514"/>
              </a:lnSpc>
              <a:spcBef>
                <a:spcPct val="0"/>
              </a:spcBef>
              <a:buAutoNum type="arabicPeriod" startAt="1"/>
            </a:pPr>
            <a:r>
              <a:rPr lang="en-US" sz="1843">
                <a:solidFill>
                  <a:srgbClr val="000000"/>
                </a:solidFill>
                <a:latin typeface="Solway"/>
                <a:ea typeface="Solway"/>
                <a:cs typeface="Solway"/>
                <a:sym typeface="Solway"/>
              </a:rPr>
              <a:t>Proposed Methodology: The framework integrates digital twin technology with Monte Carlo simulations to computationally model weather uncertainty and evaluate counterfactual environmental scenarios.</a:t>
            </a:r>
          </a:p>
          <a:p>
            <a:pPr algn="l" marL="397974" indent="-198987" lvl="1">
              <a:lnSpc>
                <a:spcPts val="2514"/>
              </a:lnSpc>
              <a:spcBef>
                <a:spcPct val="0"/>
              </a:spcBef>
              <a:buAutoNum type="arabicPeriod" startAt="1"/>
            </a:pPr>
            <a:r>
              <a:rPr lang="en-US" b="true" sz="1843">
                <a:solidFill>
                  <a:srgbClr val="000000"/>
                </a:solidFill>
                <a:latin typeface="Solway Bold"/>
                <a:ea typeface="Solway Bold"/>
                <a:cs typeface="Solway Bold"/>
                <a:sym typeface="Solway Bold"/>
              </a:rPr>
              <a:t>Key Outcomes</a:t>
            </a:r>
            <a:r>
              <a:rPr lang="en-US" sz="1843">
                <a:solidFill>
                  <a:srgbClr val="000000"/>
                </a:solidFill>
                <a:latin typeface="Solway"/>
                <a:ea typeface="Solway"/>
                <a:cs typeface="Solway"/>
                <a:sym typeface="Solway"/>
              </a:rPr>
              <a:t>: The simulated uncertainty approach proved highly viable, generating a real-time yield prediction of 5.90 t/ha compared to an uncertain weather projection of 5.62 t/ha using only satellite API data.</a:t>
            </a:r>
          </a:p>
          <a:p>
            <a:pPr algn="l" marL="397974" indent="-198987" lvl="1">
              <a:lnSpc>
                <a:spcPts val="2514"/>
              </a:lnSpc>
              <a:spcBef>
                <a:spcPct val="0"/>
              </a:spcBef>
              <a:buAutoNum type="arabicPeriod" startAt="1"/>
            </a:pPr>
            <a:r>
              <a:rPr lang="en-US" b="true" sz="1843">
                <a:solidFill>
                  <a:srgbClr val="000000"/>
                </a:solidFill>
                <a:latin typeface="Solway Bold"/>
                <a:ea typeface="Solway Bold"/>
                <a:cs typeface="Solway Bold"/>
                <a:sym typeface="Solway Bold"/>
              </a:rPr>
              <a:t>Research Gaps</a:t>
            </a:r>
            <a:r>
              <a:rPr lang="en-US" sz="1843">
                <a:solidFill>
                  <a:srgbClr val="000000"/>
                </a:solidFill>
                <a:latin typeface="Solway"/>
                <a:ea typeface="Solway"/>
                <a:cs typeface="Solway"/>
                <a:sym typeface="Solway"/>
              </a:rPr>
              <a:t>: The framework exclusively models weather uncertainty while completely ignoring critical biotic stress factors (like pest infestations driven by humidity). It also operates purely as a predictive monitor, lacking a Decision Support System (DSS) to issue actionable intervention advisories back to the physical layer.</a:t>
            </a:r>
          </a:p>
          <a:p>
            <a:pPr algn="l">
              <a:lnSpc>
                <a:spcPts val="2514"/>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17653" y="-170330"/>
            <a:ext cx="18923306" cy="10700437"/>
            <a:chOff x="0" y="0"/>
            <a:chExt cx="4983916" cy="2818222"/>
          </a:xfrm>
        </p:grpSpPr>
        <p:sp>
          <p:nvSpPr>
            <p:cNvPr name="Freeform 3" id="3"/>
            <p:cNvSpPr/>
            <p:nvPr/>
          </p:nvSpPr>
          <p:spPr>
            <a:xfrm flipH="false" flipV="false" rot="0">
              <a:off x="0" y="0"/>
              <a:ext cx="4983916" cy="2818222"/>
            </a:xfrm>
            <a:custGeom>
              <a:avLst/>
              <a:gdLst/>
              <a:ahLst/>
              <a:cxnLst/>
              <a:rect r="r" b="b" t="t" l="l"/>
              <a:pathLst>
                <a:path h="2818222" w="4983916">
                  <a:moveTo>
                    <a:pt x="40912" y="0"/>
                  </a:moveTo>
                  <a:lnTo>
                    <a:pt x="4943004" y="0"/>
                  </a:lnTo>
                  <a:cubicBezTo>
                    <a:pt x="4953855" y="0"/>
                    <a:pt x="4964261" y="4310"/>
                    <a:pt x="4971933" y="11983"/>
                  </a:cubicBezTo>
                  <a:cubicBezTo>
                    <a:pt x="4979606" y="19655"/>
                    <a:pt x="4983916" y="30062"/>
                    <a:pt x="4983916" y="40912"/>
                  </a:cubicBezTo>
                  <a:lnTo>
                    <a:pt x="4983916" y="2777310"/>
                  </a:lnTo>
                  <a:cubicBezTo>
                    <a:pt x="4983916" y="2788161"/>
                    <a:pt x="4979606" y="2798567"/>
                    <a:pt x="4971933" y="2806239"/>
                  </a:cubicBezTo>
                  <a:cubicBezTo>
                    <a:pt x="4964261" y="2813912"/>
                    <a:pt x="4953855" y="2818222"/>
                    <a:pt x="4943004" y="2818222"/>
                  </a:cubicBezTo>
                  <a:lnTo>
                    <a:pt x="40912" y="2818222"/>
                  </a:lnTo>
                  <a:cubicBezTo>
                    <a:pt x="30062" y="2818222"/>
                    <a:pt x="19655" y="2813912"/>
                    <a:pt x="11983" y="2806239"/>
                  </a:cubicBezTo>
                  <a:cubicBezTo>
                    <a:pt x="4310" y="2798567"/>
                    <a:pt x="0" y="2788161"/>
                    <a:pt x="0" y="2777310"/>
                  </a:cubicBezTo>
                  <a:lnTo>
                    <a:pt x="0" y="40912"/>
                  </a:lnTo>
                  <a:cubicBezTo>
                    <a:pt x="0" y="30062"/>
                    <a:pt x="4310" y="19655"/>
                    <a:pt x="11983" y="11983"/>
                  </a:cubicBezTo>
                  <a:cubicBezTo>
                    <a:pt x="19655" y="4310"/>
                    <a:pt x="30062" y="0"/>
                    <a:pt x="40912" y="0"/>
                  </a:cubicBezTo>
                  <a:close/>
                </a:path>
              </a:pathLst>
            </a:custGeom>
            <a:solidFill>
              <a:srgbClr val="6B95E0"/>
            </a:solidFill>
            <a:ln cap="rnd">
              <a:noFill/>
              <a:prstDash val="solid"/>
              <a:round/>
            </a:ln>
          </p:spPr>
        </p:sp>
        <p:sp>
          <p:nvSpPr>
            <p:cNvPr name="TextBox 4" id="4"/>
            <p:cNvSpPr txBox="true"/>
            <p:nvPr/>
          </p:nvSpPr>
          <p:spPr>
            <a:xfrm>
              <a:off x="0" y="-47625"/>
              <a:ext cx="4983916" cy="286584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1710" y="239208"/>
            <a:ext cx="17904579" cy="9847001"/>
            <a:chOff x="0" y="0"/>
            <a:chExt cx="4715609" cy="2593449"/>
          </a:xfrm>
        </p:grpSpPr>
        <p:sp>
          <p:nvSpPr>
            <p:cNvPr name="Freeform 6" id="6"/>
            <p:cNvSpPr/>
            <p:nvPr/>
          </p:nvSpPr>
          <p:spPr>
            <a:xfrm flipH="false" flipV="false" rot="0">
              <a:off x="0" y="0"/>
              <a:ext cx="4715609" cy="2593449"/>
            </a:xfrm>
            <a:custGeom>
              <a:avLst/>
              <a:gdLst/>
              <a:ahLst/>
              <a:cxnLst/>
              <a:rect r="r" b="b" t="t" l="l"/>
              <a:pathLst>
                <a:path h="2593449" w="4715609">
                  <a:moveTo>
                    <a:pt x="43240" y="0"/>
                  </a:moveTo>
                  <a:lnTo>
                    <a:pt x="4672369" y="0"/>
                  </a:lnTo>
                  <a:cubicBezTo>
                    <a:pt x="4683837" y="0"/>
                    <a:pt x="4694836" y="4556"/>
                    <a:pt x="4702945" y="12665"/>
                  </a:cubicBezTo>
                  <a:cubicBezTo>
                    <a:pt x="4711054" y="20774"/>
                    <a:pt x="4715609" y="31772"/>
                    <a:pt x="4715609" y="43240"/>
                  </a:cubicBezTo>
                  <a:lnTo>
                    <a:pt x="4715609" y="2550209"/>
                  </a:lnTo>
                  <a:cubicBezTo>
                    <a:pt x="4715609" y="2561677"/>
                    <a:pt x="4711054" y="2572675"/>
                    <a:pt x="4702945" y="2580784"/>
                  </a:cubicBezTo>
                  <a:cubicBezTo>
                    <a:pt x="4694836" y="2588893"/>
                    <a:pt x="4683837" y="2593449"/>
                    <a:pt x="4672369" y="2593449"/>
                  </a:cubicBezTo>
                  <a:lnTo>
                    <a:pt x="43240" y="2593449"/>
                  </a:lnTo>
                  <a:cubicBezTo>
                    <a:pt x="31772" y="2593449"/>
                    <a:pt x="20774" y="2588893"/>
                    <a:pt x="12665" y="2580784"/>
                  </a:cubicBezTo>
                  <a:cubicBezTo>
                    <a:pt x="4556" y="2572675"/>
                    <a:pt x="0" y="2561677"/>
                    <a:pt x="0" y="2550209"/>
                  </a:cubicBezTo>
                  <a:lnTo>
                    <a:pt x="0" y="43240"/>
                  </a:lnTo>
                  <a:cubicBezTo>
                    <a:pt x="0" y="31772"/>
                    <a:pt x="4556" y="20774"/>
                    <a:pt x="12665" y="12665"/>
                  </a:cubicBezTo>
                  <a:cubicBezTo>
                    <a:pt x="20774" y="4556"/>
                    <a:pt x="31772" y="0"/>
                    <a:pt x="43240" y="0"/>
                  </a:cubicBezTo>
                  <a:close/>
                </a:path>
              </a:pathLst>
            </a:custGeom>
            <a:solidFill>
              <a:srgbClr val="FFFFFE"/>
            </a:solidFill>
            <a:ln cap="rnd">
              <a:noFill/>
              <a:prstDash val="solid"/>
              <a:round/>
            </a:ln>
          </p:spPr>
        </p:sp>
        <p:sp>
          <p:nvSpPr>
            <p:cNvPr name="TextBox 7" id="7"/>
            <p:cNvSpPr txBox="true"/>
            <p:nvPr/>
          </p:nvSpPr>
          <p:spPr>
            <a:xfrm>
              <a:off x="0" y="-47625"/>
              <a:ext cx="4715609" cy="2641074"/>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91710" y="501841"/>
            <a:ext cx="7776620" cy="364934"/>
          </a:xfrm>
          <a:prstGeom prst="rect">
            <a:avLst/>
          </a:prstGeom>
        </p:spPr>
        <p:txBody>
          <a:bodyPr anchor="t" rtlCol="false" tIns="0" lIns="0" bIns="0" rIns="0">
            <a:spAutoFit/>
          </a:bodyPr>
          <a:lstStyle/>
          <a:p>
            <a:pPr algn="ctr">
              <a:lnSpc>
                <a:spcPts val="2923"/>
              </a:lnSpc>
              <a:spcBef>
                <a:spcPct val="0"/>
              </a:spcBef>
            </a:pPr>
            <a:r>
              <a:rPr lang="en-US" b="true" sz="2143">
                <a:solidFill>
                  <a:srgbClr val="000000"/>
                </a:solidFill>
                <a:latin typeface="Arial Bold"/>
                <a:ea typeface="Arial Bold"/>
                <a:cs typeface="Arial Bold"/>
                <a:sym typeface="Arial Bold"/>
              </a:rPr>
              <a:t>Key Limitations in Existing Literature (Research Gaps)</a:t>
            </a:r>
          </a:p>
        </p:txBody>
      </p:sp>
      <p:grpSp>
        <p:nvGrpSpPr>
          <p:cNvPr name="Group 9" id="9"/>
          <p:cNvGrpSpPr/>
          <p:nvPr/>
        </p:nvGrpSpPr>
        <p:grpSpPr>
          <a:xfrm rot="0">
            <a:off x="1279199" y="1028700"/>
            <a:ext cx="16480528" cy="1392150"/>
            <a:chOff x="0" y="0"/>
            <a:chExt cx="21974037" cy="1856200"/>
          </a:xfrm>
        </p:grpSpPr>
        <p:grpSp>
          <p:nvGrpSpPr>
            <p:cNvPr name="Group 10" id="10"/>
            <p:cNvGrpSpPr/>
            <p:nvPr/>
          </p:nvGrpSpPr>
          <p:grpSpPr>
            <a:xfrm rot="0">
              <a:off x="0" y="0"/>
              <a:ext cx="21974037" cy="1856200"/>
              <a:chOff x="0" y="0"/>
              <a:chExt cx="4340551" cy="366657"/>
            </a:xfrm>
          </p:grpSpPr>
          <p:sp>
            <p:nvSpPr>
              <p:cNvPr name="Freeform 11" id="11"/>
              <p:cNvSpPr/>
              <p:nvPr/>
            </p:nvSpPr>
            <p:spPr>
              <a:xfrm flipH="false" flipV="false" rot="0">
                <a:off x="0" y="0"/>
                <a:ext cx="4340551" cy="366657"/>
              </a:xfrm>
              <a:custGeom>
                <a:avLst/>
                <a:gdLst/>
                <a:ahLst/>
                <a:cxnLst/>
                <a:rect r="r" b="b" t="t" l="l"/>
                <a:pathLst>
                  <a:path h="366657" w="4340551">
                    <a:moveTo>
                      <a:pt x="10335" y="0"/>
                    </a:moveTo>
                    <a:lnTo>
                      <a:pt x="4330216" y="0"/>
                    </a:lnTo>
                    <a:cubicBezTo>
                      <a:pt x="4332957" y="0"/>
                      <a:pt x="4335585" y="1089"/>
                      <a:pt x="4337524" y="3027"/>
                    </a:cubicBezTo>
                    <a:cubicBezTo>
                      <a:pt x="4339462" y="4965"/>
                      <a:pt x="4340551" y="7594"/>
                      <a:pt x="4340551" y="10335"/>
                    </a:cubicBezTo>
                    <a:lnTo>
                      <a:pt x="4340551" y="356322"/>
                    </a:lnTo>
                    <a:cubicBezTo>
                      <a:pt x="4340551" y="359063"/>
                      <a:pt x="4339462" y="361692"/>
                      <a:pt x="4337524" y="363630"/>
                    </a:cubicBezTo>
                    <a:cubicBezTo>
                      <a:pt x="4335585" y="365568"/>
                      <a:pt x="4332957" y="366657"/>
                      <a:pt x="4330216" y="366657"/>
                    </a:cubicBezTo>
                    <a:lnTo>
                      <a:pt x="10335" y="366657"/>
                    </a:lnTo>
                    <a:cubicBezTo>
                      <a:pt x="7594" y="366657"/>
                      <a:pt x="4965" y="365568"/>
                      <a:pt x="3027" y="363630"/>
                    </a:cubicBezTo>
                    <a:cubicBezTo>
                      <a:pt x="1089" y="361692"/>
                      <a:pt x="0" y="359063"/>
                      <a:pt x="0" y="356322"/>
                    </a:cubicBezTo>
                    <a:lnTo>
                      <a:pt x="0" y="10335"/>
                    </a:lnTo>
                    <a:cubicBezTo>
                      <a:pt x="0" y="7594"/>
                      <a:pt x="1089" y="4965"/>
                      <a:pt x="3027" y="3027"/>
                    </a:cubicBezTo>
                    <a:cubicBezTo>
                      <a:pt x="4965" y="1089"/>
                      <a:pt x="7594" y="0"/>
                      <a:pt x="10335" y="0"/>
                    </a:cubicBezTo>
                    <a:close/>
                  </a:path>
                </a:pathLst>
              </a:custGeom>
              <a:solidFill>
                <a:srgbClr val="F8FFFB"/>
              </a:solidFill>
              <a:ln w="9525" cap="rnd">
                <a:solidFill>
                  <a:srgbClr val="000000"/>
                </a:solidFill>
                <a:prstDash val="solid"/>
                <a:round/>
              </a:ln>
            </p:spPr>
          </p:sp>
          <p:sp>
            <p:nvSpPr>
              <p:cNvPr name="TextBox 12" id="12"/>
              <p:cNvSpPr txBox="true"/>
              <p:nvPr/>
            </p:nvSpPr>
            <p:spPr>
              <a:xfrm>
                <a:off x="0" y="-47625"/>
                <a:ext cx="4340551" cy="414282"/>
              </a:xfrm>
              <a:prstGeom prst="rect">
                <a:avLst/>
              </a:prstGeom>
            </p:spPr>
            <p:txBody>
              <a:bodyPr anchor="ctr" rtlCol="false" tIns="50800" lIns="50800" bIns="50800" rIns="50800"/>
              <a:lstStyle/>
              <a:p>
                <a:pPr algn="ctr">
                  <a:lnSpc>
                    <a:spcPts val="2105"/>
                  </a:lnSpc>
                </a:pPr>
              </a:p>
            </p:txBody>
          </p:sp>
        </p:grpSp>
        <p:sp>
          <p:nvSpPr>
            <p:cNvPr name="TextBox 13" id="13"/>
            <p:cNvSpPr txBox="true"/>
            <p:nvPr/>
          </p:nvSpPr>
          <p:spPr>
            <a:xfrm rot="0">
              <a:off x="397946" y="190705"/>
              <a:ext cx="21336595" cy="1524600"/>
            </a:xfrm>
            <a:prstGeom prst="rect">
              <a:avLst/>
            </a:prstGeom>
          </p:spPr>
          <p:txBody>
            <a:bodyPr anchor="t" rtlCol="false" tIns="0" lIns="0" bIns="0" rIns="0">
              <a:spAutoFit/>
            </a:bodyPr>
            <a:lstStyle/>
            <a:p>
              <a:pPr algn="l">
                <a:lnSpc>
                  <a:spcPts val="2377"/>
                </a:lnSpc>
              </a:pPr>
              <a:r>
                <a:rPr lang="en-US" b="true" sz="1743">
                  <a:solidFill>
                    <a:srgbClr val="000000"/>
                  </a:solidFill>
                  <a:latin typeface="Arial Bold"/>
                  <a:ea typeface="Arial Bold"/>
                  <a:cs typeface="Arial Bold"/>
                  <a:sym typeface="Arial Bold"/>
                </a:rPr>
                <a:t>Prediction of Continuous </a:t>
              </a:r>
              <a:r>
                <a:rPr lang="en-US" b="true" sz="1743">
                  <a:solidFill>
                    <a:srgbClr val="000000"/>
                  </a:solidFill>
                  <a:latin typeface="Arial Bold"/>
                  <a:ea typeface="Arial Bold"/>
                  <a:cs typeface="Arial Bold"/>
                  <a:sym typeface="Arial Bold"/>
                </a:rPr>
                <a:t>Yield vs. Binary Disaster Risk</a:t>
              </a:r>
            </a:p>
            <a:p>
              <a:pPr algn="l" marL="752770" indent="-250923" lvl="2">
                <a:lnSpc>
                  <a:spcPts val="2377"/>
                </a:lnSpc>
                <a:buFont typeface="Arial"/>
                <a:buChar char="⚬"/>
              </a:pPr>
              <a:r>
                <a:rPr lang="en-US" sz="1743">
                  <a:solidFill>
                    <a:srgbClr val="000000"/>
                  </a:solidFill>
                  <a:latin typeface="Arial"/>
                  <a:ea typeface="Arial"/>
                  <a:cs typeface="Arial"/>
                  <a:sym typeface="Arial"/>
                </a:rPr>
                <a:t>Existing hybrid models (e.g., Yan et al., 2025) focus entirely on predicting absolute crop volume (t/ha).</a:t>
              </a:r>
            </a:p>
            <a:p>
              <a:pPr algn="l" marL="709591" indent="-236530" lvl="2">
                <a:lnSpc>
                  <a:spcPts val="2241"/>
                </a:lnSpc>
                <a:buFont typeface="Arial"/>
                <a:buChar char="⚬"/>
              </a:pPr>
              <a:r>
                <a:rPr lang="en-US" sz="1643">
                  <a:solidFill>
                    <a:srgbClr val="000000"/>
                  </a:solidFill>
                  <a:latin typeface="Arial"/>
                  <a:ea typeface="Arial"/>
                  <a:cs typeface="Arial"/>
                  <a:sym typeface="Arial"/>
                </a:rPr>
                <a:t>They fail to classify whether a drop in yield constitutes a full-scale agricultural "failure anomaly," which is the actual metric required for immediate disaster intervention.</a:t>
              </a:r>
            </a:p>
            <a:p>
              <a:pPr algn="l">
                <a:lnSpc>
                  <a:spcPts val="2241"/>
                </a:lnSpc>
              </a:pPr>
            </a:p>
          </p:txBody>
        </p:sp>
      </p:grpSp>
      <p:grpSp>
        <p:nvGrpSpPr>
          <p:cNvPr name="Group 14" id="14"/>
          <p:cNvGrpSpPr/>
          <p:nvPr/>
        </p:nvGrpSpPr>
        <p:grpSpPr>
          <a:xfrm rot="0">
            <a:off x="1279199" y="2582775"/>
            <a:ext cx="16480528" cy="1530392"/>
            <a:chOff x="0" y="0"/>
            <a:chExt cx="21974037" cy="2040522"/>
          </a:xfrm>
        </p:grpSpPr>
        <p:grpSp>
          <p:nvGrpSpPr>
            <p:cNvPr name="Group 15" id="15"/>
            <p:cNvGrpSpPr/>
            <p:nvPr/>
          </p:nvGrpSpPr>
          <p:grpSpPr>
            <a:xfrm rot="0">
              <a:off x="0" y="0"/>
              <a:ext cx="21974037" cy="1856179"/>
              <a:chOff x="0" y="0"/>
              <a:chExt cx="4340551" cy="366653"/>
            </a:xfrm>
          </p:grpSpPr>
          <p:sp>
            <p:nvSpPr>
              <p:cNvPr name="Freeform 16" id="16"/>
              <p:cNvSpPr/>
              <p:nvPr/>
            </p:nvSpPr>
            <p:spPr>
              <a:xfrm flipH="false" flipV="false" rot="0">
                <a:off x="0" y="0"/>
                <a:ext cx="4340551" cy="366653"/>
              </a:xfrm>
              <a:custGeom>
                <a:avLst/>
                <a:gdLst/>
                <a:ahLst/>
                <a:cxnLst/>
                <a:rect r="r" b="b" t="t" l="l"/>
                <a:pathLst>
                  <a:path h="366653" w="4340551">
                    <a:moveTo>
                      <a:pt x="12214" y="0"/>
                    </a:moveTo>
                    <a:lnTo>
                      <a:pt x="4328337" y="0"/>
                    </a:lnTo>
                    <a:cubicBezTo>
                      <a:pt x="4331576" y="0"/>
                      <a:pt x="4334683" y="1287"/>
                      <a:pt x="4336973" y="3577"/>
                    </a:cubicBezTo>
                    <a:cubicBezTo>
                      <a:pt x="4339264" y="5868"/>
                      <a:pt x="4340551" y="8975"/>
                      <a:pt x="4340551" y="12214"/>
                    </a:cubicBezTo>
                    <a:lnTo>
                      <a:pt x="4340551" y="354439"/>
                    </a:lnTo>
                    <a:cubicBezTo>
                      <a:pt x="4340551" y="361184"/>
                      <a:pt x="4335082" y="366653"/>
                      <a:pt x="4328337" y="366653"/>
                    </a:cubicBezTo>
                    <a:lnTo>
                      <a:pt x="12214" y="366653"/>
                    </a:lnTo>
                    <a:cubicBezTo>
                      <a:pt x="5468" y="366653"/>
                      <a:pt x="0" y="361184"/>
                      <a:pt x="0" y="354439"/>
                    </a:cubicBezTo>
                    <a:lnTo>
                      <a:pt x="0" y="12214"/>
                    </a:lnTo>
                    <a:cubicBezTo>
                      <a:pt x="0" y="5468"/>
                      <a:pt x="5468" y="0"/>
                      <a:pt x="12214" y="0"/>
                    </a:cubicBezTo>
                    <a:close/>
                  </a:path>
                </a:pathLst>
              </a:custGeom>
              <a:solidFill>
                <a:srgbClr val="E1FFF8"/>
              </a:solidFill>
              <a:ln w="9525" cap="rnd">
                <a:solidFill>
                  <a:srgbClr val="000000"/>
                </a:solidFill>
                <a:prstDash val="solid"/>
                <a:round/>
              </a:ln>
            </p:spPr>
          </p:sp>
          <p:sp>
            <p:nvSpPr>
              <p:cNvPr name="TextBox 17" id="17"/>
              <p:cNvSpPr txBox="true"/>
              <p:nvPr/>
            </p:nvSpPr>
            <p:spPr>
              <a:xfrm>
                <a:off x="0" y="-47625"/>
                <a:ext cx="4340551" cy="414278"/>
              </a:xfrm>
              <a:prstGeom prst="rect">
                <a:avLst/>
              </a:prstGeom>
            </p:spPr>
            <p:txBody>
              <a:bodyPr anchor="ctr" rtlCol="false" tIns="50800" lIns="50800" bIns="50800" rIns="50800"/>
              <a:lstStyle/>
              <a:p>
                <a:pPr algn="ctr">
                  <a:lnSpc>
                    <a:spcPts val="2105"/>
                  </a:lnSpc>
                </a:pPr>
              </a:p>
            </p:txBody>
          </p:sp>
        </p:grpSp>
        <p:sp>
          <p:nvSpPr>
            <p:cNvPr name="TextBox 18" id="18"/>
            <p:cNvSpPr txBox="true"/>
            <p:nvPr/>
          </p:nvSpPr>
          <p:spPr>
            <a:xfrm rot="0">
              <a:off x="318721" y="96822"/>
              <a:ext cx="21336595" cy="1943700"/>
            </a:xfrm>
            <a:prstGeom prst="rect">
              <a:avLst/>
            </a:prstGeom>
          </p:spPr>
          <p:txBody>
            <a:bodyPr anchor="t" rtlCol="false" tIns="0" lIns="0" bIns="0" rIns="0">
              <a:spAutoFit/>
            </a:bodyPr>
            <a:lstStyle/>
            <a:p>
              <a:pPr algn="l">
                <a:lnSpc>
                  <a:spcPts val="2377"/>
                </a:lnSpc>
              </a:pPr>
              <a:r>
                <a:rPr lang="en-US" b="true" sz="1743">
                  <a:solidFill>
                    <a:srgbClr val="000000"/>
                  </a:solidFill>
                  <a:latin typeface="Arial Bold"/>
                  <a:ea typeface="Arial Bold"/>
                  <a:cs typeface="Arial Bold"/>
                  <a:sym typeface="Arial Bold"/>
                </a:rPr>
                <a:t>The Model Interpretab</a:t>
              </a:r>
              <a:r>
                <a:rPr lang="en-US" b="true" sz="1743">
                  <a:solidFill>
                    <a:srgbClr val="000000"/>
                  </a:solidFill>
                  <a:latin typeface="Arial Bold"/>
                  <a:ea typeface="Arial Bold"/>
                  <a:cs typeface="Arial Bold"/>
                  <a:sym typeface="Arial Bold"/>
                </a:rPr>
                <a:t>ility Gap</a:t>
              </a:r>
            </a:p>
            <a:p>
              <a:pPr algn="l" marL="752770" indent="-250923" lvl="2">
                <a:lnSpc>
                  <a:spcPts val="2377"/>
                </a:lnSpc>
                <a:buFont typeface="Arial"/>
                <a:buChar char="⚬"/>
              </a:pPr>
              <a:r>
                <a:rPr lang="en-US" sz="1743">
                  <a:solidFill>
                    <a:srgbClr val="000000"/>
                  </a:solidFill>
                  <a:latin typeface="Arial"/>
                  <a:ea typeface="Arial"/>
                  <a:cs typeface="Arial"/>
                  <a:sym typeface="Arial"/>
                </a:rPr>
                <a:t>Adva</a:t>
              </a:r>
              <a:r>
                <a:rPr lang="en-US" sz="1743">
                  <a:solidFill>
                    <a:srgbClr val="000000"/>
                  </a:solidFill>
                  <a:latin typeface="Arial"/>
                  <a:ea typeface="Arial"/>
                  <a:cs typeface="Arial"/>
                  <a:sym typeface="Arial"/>
                </a:rPr>
                <a:t>nced deep learning models (e.g., Arya et al., 2026; Andini &amp; Utomo, 2021) achieve high accuracy but operate as uninterpretable black boxes.</a:t>
              </a:r>
            </a:p>
            <a:p>
              <a:pPr algn="l" marL="752770" indent="-250923" lvl="2">
                <a:lnSpc>
                  <a:spcPts val="2377"/>
                </a:lnSpc>
                <a:buFont typeface="Arial"/>
                <a:buChar char="⚬"/>
              </a:pPr>
              <a:r>
                <a:rPr lang="en-US" sz="1743">
                  <a:solidFill>
                    <a:srgbClr val="000000"/>
                  </a:solidFill>
                  <a:latin typeface="Arial"/>
                  <a:ea typeface="Arial"/>
                  <a:cs typeface="Arial"/>
                  <a:sym typeface="Arial"/>
                </a:rPr>
                <a:t>They do not map mathematical predictions (like LSTM attention weights) to real-world biophysical triggers (such as severe drought or thermal sterility), reducing stakeholder trust.</a:t>
              </a:r>
            </a:p>
            <a:p>
              <a:pPr algn="l">
                <a:lnSpc>
                  <a:spcPts val="2241"/>
                </a:lnSpc>
              </a:pPr>
            </a:p>
          </p:txBody>
        </p:sp>
      </p:grpSp>
      <p:grpSp>
        <p:nvGrpSpPr>
          <p:cNvPr name="Group 19" id="19"/>
          <p:cNvGrpSpPr/>
          <p:nvPr/>
        </p:nvGrpSpPr>
        <p:grpSpPr>
          <a:xfrm rot="0">
            <a:off x="1279199" y="4183579"/>
            <a:ext cx="16480528" cy="1392134"/>
            <a:chOff x="0" y="0"/>
            <a:chExt cx="21974037" cy="1856179"/>
          </a:xfrm>
        </p:grpSpPr>
        <p:grpSp>
          <p:nvGrpSpPr>
            <p:cNvPr name="Group 20" id="20"/>
            <p:cNvGrpSpPr/>
            <p:nvPr/>
          </p:nvGrpSpPr>
          <p:grpSpPr>
            <a:xfrm rot="0">
              <a:off x="0" y="0"/>
              <a:ext cx="21974037" cy="1856179"/>
              <a:chOff x="0" y="0"/>
              <a:chExt cx="4340551" cy="366653"/>
            </a:xfrm>
          </p:grpSpPr>
          <p:sp>
            <p:nvSpPr>
              <p:cNvPr name="Freeform 21" id="21"/>
              <p:cNvSpPr/>
              <p:nvPr/>
            </p:nvSpPr>
            <p:spPr>
              <a:xfrm flipH="false" flipV="false" rot="0">
                <a:off x="0" y="0"/>
                <a:ext cx="4340551" cy="366653"/>
              </a:xfrm>
              <a:custGeom>
                <a:avLst/>
                <a:gdLst/>
                <a:ahLst/>
                <a:cxnLst/>
                <a:rect r="r" b="b" t="t" l="l"/>
                <a:pathLst>
                  <a:path h="366653" w="4340551">
                    <a:moveTo>
                      <a:pt x="10335" y="0"/>
                    </a:moveTo>
                    <a:lnTo>
                      <a:pt x="4330216" y="0"/>
                    </a:lnTo>
                    <a:cubicBezTo>
                      <a:pt x="4332957" y="0"/>
                      <a:pt x="4335585" y="1089"/>
                      <a:pt x="4337524" y="3027"/>
                    </a:cubicBezTo>
                    <a:cubicBezTo>
                      <a:pt x="4339462" y="4965"/>
                      <a:pt x="4340551" y="7594"/>
                      <a:pt x="4340551" y="10335"/>
                    </a:cubicBezTo>
                    <a:lnTo>
                      <a:pt x="4340551" y="356318"/>
                    </a:lnTo>
                    <a:cubicBezTo>
                      <a:pt x="4340551" y="359059"/>
                      <a:pt x="4339462" y="361687"/>
                      <a:pt x="4337524" y="363626"/>
                    </a:cubicBezTo>
                    <a:cubicBezTo>
                      <a:pt x="4335585" y="365564"/>
                      <a:pt x="4332957" y="366653"/>
                      <a:pt x="4330216" y="366653"/>
                    </a:cubicBezTo>
                    <a:lnTo>
                      <a:pt x="10335" y="366653"/>
                    </a:lnTo>
                    <a:cubicBezTo>
                      <a:pt x="7594" y="366653"/>
                      <a:pt x="4965" y="365564"/>
                      <a:pt x="3027" y="363626"/>
                    </a:cubicBezTo>
                    <a:cubicBezTo>
                      <a:pt x="1089" y="361687"/>
                      <a:pt x="0" y="359059"/>
                      <a:pt x="0" y="356318"/>
                    </a:cubicBezTo>
                    <a:lnTo>
                      <a:pt x="0" y="10335"/>
                    </a:lnTo>
                    <a:cubicBezTo>
                      <a:pt x="0" y="7594"/>
                      <a:pt x="1089" y="4965"/>
                      <a:pt x="3027" y="3027"/>
                    </a:cubicBezTo>
                    <a:cubicBezTo>
                      <a:pt x="4965" y="1089"/>
                      <a:pt x="7594" y="0"/>
                      <a:pt x="10335" y="0"/>
                    </a:cubicBezTo>
                    <a:close/>
                  </a:path>
                </a:pathLst>
              </a:custGeom>
              <a:solidFill>
                <a:srgbClr val="F8FFFB"/>
              </a:solidFill>
              <a:ln w="9525" cap="rnd">
                <a:solidFill>
                  <a:srgbClr val="000000"/>
                </a:solidFill>
                <a:prstDash val="solid"/>
                <a:round/>
              </a:ln>
            </p:spPr>
          </p:sp>
          <p:sp>
            <p:nvSpPr>
              <p:cNvPr name="TextBox 22" id="22"/>
              <p:cNvSpPr txBox="true"/>
              <p:nvPr/>
            </p:nvSpPr>
            <p:spPr>
              <a:xfrm>
                <a:off x="0" y="-47625"/>
                <a:ext cx="4340551" cy="414278"/>
              </a:xfrm>
              <a:prstGeom prst="rect">
                <a:avLst/>
              </a:prstGeom>
            </p:spPr>
            <p:txBody>
              <a:bodyPr anchor="ctr" rtlCol="false" tIns="50800" lIns="50800" bIns="50800" rIns="50800"/>
              <a:lstStyle/>
              <a:p>
                <a:pPr algn="ctr">
                  <a:lnSpc>
                    <a:spcPts val="2105"/>
                  </a:lnSpc>
                </a:pPr>
              </a:p>
            </p:txBody>
          </p:sp>
        </p:grpSp>
        <p:sp>
          <p:nvSpPr>
            <p:cNvPr name="TextBox 23" id="23"/>
            <p:cNvSpPr txBox="true"/>
            <p:nvPr/>
          </p:nvSpPr>
          <p:spPr>
            <a:xfrm rot="0">
              <a:off x="397946" y="190705"/>
              <a:ext cx="21336595" cy="1550000"/>
            </a:xfrm>
            <a:prstGeom prst="rect">
              <a:avLst/>
            </a:prstGeom>
          </p:spPr>
          <p:txBody>
            <a:bodyPr anchor="t" rtlCol="false" tIns="0" lIns="0" bIns="0" rIns="0">
              <a:spAutoFit/>
            </a:bodyPr>
            <a:lstStyle/>
            <a:p>
              <a:pPr algn="l">
                <a:lnSpc>
                  <a:spcPts val="2377"/>
                </a:lnSpc>
              </a:pPr>
              <a:r>
                <a:rPr lang="en-US" b="true" sz="1743">
                  <a:solidFill>
                    <a:srgbClr val="000000"/>
                  </a:solidFill>
                  <a:latin typeface="Arial Bold"/>
                  <a:ea typeface="Arial Bold"/>
                  <a:cs typeface="Arial Bold"/>
                  <a:sym typeface="Arial Bold"/>
                </a:rPr>
                <a:t>High Infrastructure Cost and Scalab</a:t>
              </a:r>
              <a:r>
                <a:rPr lang="en-US" b="true" sz="1743">
                  <a:solidFill>
                    <a:srgbClr val="000000"/>
                  </a:solidFill>
                  <a:latin typeface="Arial Bold"/>
                  <a:ea typeface="Arial Bold"/>
                  <a:cs typeface="Arial Bold"/>
                  <a:sym typeface="Arial Bold"/>
                </a:rPr>
                <a:t>ility Bottlenecks</a:t>
              </a:r>
            </a:p>
            <a:p>
              <a:pPr algn="l">
                <a:lnSpc>
                  <a:spcPts val="2377"/>
                </a:lnSpc>
              </a:pPr>
              <a:r>
                <a:rPr lang="en-US" b="true" sz="1743">
                  <a:solidFill>
                    <a:srgbClr val="000000"/>
                  </a:solidFill>
                  <a:latin typeface="Arial Bold"/>
                  <a:ea typeface="Arial Bold"/>
                  <a:cs typeface="Arial Bold"/>
                  <a:sym typeface="Arial Bold"/>
                </a:rPr>
                <a:t>         ○  </a:t>
              </a:r>
              <a:r>
                <a:rPr lang="en-US" sz="1743">
                  <a:solidFill>
                    <a:srgbClr val="000000"/>
                  </a:solidFill>
                  <a:latin typeface="Arial"/>
                  <a:ea typeface="Arial"/>
                  <a:cs typeface="Arial"/>
                  <a:sym typeface="Arial"/>
                </a:rPr>
                <a:t>Current Cyber-Physical Systems (CPS) and agricultural Digital Twins often rely heavily on expensive, localized IoT sensor networks.</a:t>
              </a:r>
            </a:p>
            <a:p>
              <a:pPr algn="l">
                <a:lnSpc>
                  <a:spcPts val="2377"/>
                </a:lnSpc>
              </a:pPr>
              <a:r>
                <a:rPr lang="en-US" sz="1743">
                  <a:solidFill>
                    <a:srgbClr val="000000"/>
                  </a:solidFill>
                  <a:latin typeface="Arial"/>
                  <a:ea typeface="Arial"/>
                  <a:cs typeface="Arial"/>
                  <a:sym typeface="Arial"/>
                </a:rPr>
                <a:t>         ○ </a:t>
              </a:r>
              <a:r>
                <a:rPr lang="en-US" sz="1743">
                  <a:solidFill>
                    <a:srgbClr val="000000"/>
                  </a:solidFill>
                  <a:latin typeface="Arial"/>
                  <a:ea typeface="Arial"/>
                  <a:cs typeface="Arial"/>
                  <a:sym typeface="Arial"/>
                </a:rPr>
                <a:t>This "single-farm silo" approach poses massive data interoperability challenges and is financially unviable for smallholder farmers in regions like Odisha.</a:t>
              </a:r>
            </a:p>
            <a:p>
              <a:pPr algn="l">
                <a:lnSpc>
                  <a:spcPts val="2241"/>
                </a:lnSpc>
              </a:pPr>
            </a:p>
          </p:txBody>
        </p:sp>
      </p:grpSp>
      <p:grpSp>
        <p:nvGrpSpPr>
          <p:cNvPr name="Group 24" id="24"/>
          <p:cNvGrpSpPr/>
          <p:nvPr/>
        </p:nvGrpSpPr>
        <p:grpSpPr>
          <a:xfrm rot="0">
            <a:off x="1279199" y="5737638"/>
            <a:ext cx="16480528" cy="1600804"/>
            <a:chOff x="0" y="0"/>
            <a:chExt cx="21974037" cy="2134405"/>
          </a:xfrm>
        </p:grpSpPr>
        <p:grpSp>
          <p:nvGrpSpPr>
            <p:cNvPr name="Group 25" id="25"/>
            <p:cNvGrpSpPr/>
            <p:nvPr/>
          </p:nvGrpSpPr>
          <p:grpSpPr>
            <a:xfrm rot="0">
              <a:off x="0" y="0"/>
              <a:ext cx="21974037" cy="1856179"/>
              <a:chOff x="0" y="0"/>
              <a:chExt cx="4340551" cy="366653"/>
            </a:xfrm>
          </p:grpSpPr>
          <p:sp>
            <p:nvSpPr>
              <p:cNvPr name="Freeform 26" id="26"/>
              <p:cNvSpPr/>
              <p:nvPr/>
            </p:nvSpPr>
            <p:spPr>
              <a:xfrm flipH="false" flipV="false" rot="0">
                <a:off x="0" y="0"/>
                <a:ext cx="4340551" cy="366653"/>
              </a:xfrm>
              <a:custGeom>
                <a:avLst/>
                <a:gdLst/>
                <a:ahLst/>
                <a:cxnLst/>
                <a:rect r="r" b="b" t="t" l="l"/>
                <a:pathLst>
                  <a:path h="366653" w="4340551">
                    <a:moveTo>
                      <a:pt x="10335" y="0"/>
                    </a:moveTo>
                    <a:lnTo>
                      <a:pt x="4330216" y="0"/>
                    </a:lnTo>
                    <a:cubicBezTo>
                      <a:pt x="4332957" y="0"/>
                      <a:pt x="4335585" y="1089"/>
                      <a:pt x="4337524" y="3027"/>
                    </a:cubicBezTo>
                    <a:cubicBezTo>
                      <a:pt x="4339462" y="4965"/>
                      <a:pt x="4340551" y="7594"/>
                      <a:pt x="4340551" y="10335"/>
                    </a:cubicBezTo>
                    <a:lnTo>
                      <a:pt x="4340551" y="356318"/>
                    </a:lnTo>
                    <a:cubicBezTo>
                      <a:pt x="4340551" y="359059"/>
                      <a:pt x="4339462" y="361687"/>
                      <a:pt x="4337524" y="363626"/>
                    </a:cubicBezTo>
                    <a:cubicBezTo>
                      <a:pt x="4335585" y="365564"/>
                      <a:pt x="4332957" y="366653"/>
                      <a:pt x="4330216" y="366653"/>
                    </a:cubicBezTo>
                    <a:lnTo>
                      <a:pt x="10335" y="366653"/>
                    </a:lnTo>
                    <a:cubicBezTo>
                      <a:pt x="7594" y="366653"/>
                      <a:pt x="4965" y="365564"/>
                      <a:pt x="3027" y="363626"/>
                    </a:cubicBezTo>
                    <a:cubicBezTo>
                      <a:pt x="1089" y="361687"/>
                      <a:pt x="0" y="359059"/>
                      <a:pt x="0" y="356318"/>
                    </a:cubicBezTo>
                    <a:lnTo>
                      <a:pt x="0" y="10335"/>
                    </a:lnTo>
                    <a:cubicBezTo>
                      <a:pt x="0" y="7594"/>
                      <a:pt x="1089" y="4965"/>
                      <a:pt x="3027" y="3027"/>
                    </a:cubicBezTo>
                    <a:cubicBezTo>
                      <a:pt x="4965" y="1089"/>
                      <a:pt x="7594" y="0"/>
                      <a:pt x="10335" y="0"/>
                    </a:cubicBezTo>
                    <a:close/>
                  </a:path>
                </a:pathLst>
              </a:custGeom>
              <a:solidFill>
                <a:srgbClr val="E1FFF8"/>
              </a:solidFill>
              <a:ln w="9525" cap="rnd">
                <a:solidFill>
                  <a:srgbClr val="000000"/>
                </a:solidFill>
                <a:prstDash val="solid"/>
                <a:round/>
              </a:ln>
            </p:spPr>
          </p:sp>
          <p:sp>
            <p:nvSpPr>
              <p:cNvPr name="TextBox 27" id="27"/>
              <p:cNvSpPr txBox="true"/>
              <p:nvPr/>
            </p:nvSpPr>
            <p:spPr>
              <a:xfrm>
                <a:off x="0" y="-47625"/>
                <a:ext cx="4340551" cy="414278"/>
              </a:xfrm>
              <a:prstGeom prst="rect">
                <a:avLst/>
              </a:prstGeom>
            </p:spPr>
            <p:txBody>
              <a:bodyPr anchor="ctr" rtlCol="false" tIns="50800" lIns="50800" bIns="50800" rIns="50800"/>
              <a:lstStyle/>
              <a:p>
                <a:pPr algn="ctr">
                  <a:lnSpc>
                    <a:spcPts val="2105"/>
                  </a:lnSpc>
                </a:pPr>
              </a:p>
            </p:txBody>
          </p:sp>
        </p:grpSp>
        <p:sp>
          <p:nvSpPr>
            <p:cNvPr name="TextBox 28" id="28"/>
            <p:cNvSpPr txBox="true"/>
            <p:nvPr/>
          </p:nvSpPr>
          <p:spPr>
            <a:xfrm rot="0">
              <a:off x="443164" y="190705"/>
              <a:ext cx="21291377" cy="1943700"/>
            </a:xfrm>
            <a:prstGeom prst="rect">
              <a:avLst/>
            </a:prstGeom>
          </p:spPr>
          <p:txBody>
            <a:bodyPr anchor="t" rtlCol="false" tIns="0" lIns="0" bIns="0" rIns="0">
              <a:spAutoFit/>
            </a:bodyPr>
            <a:lstStyle/>
            <a:p>
              <a:pPr algn="l">
                <a:lnSpc>
                  <a:spcPts val="2377"/>
                </a:lnSpc>
              </a:pPr>
              <a:r>
                <a:rPr lang="en-US" b="true" sz="1743">
                  <a:solidFill>
                    <a:srgbClr val="000000"/>
                  </a:solidFill>
                  <a:latin typeface="Arial Bold"/>
                  <a:ea typeface="Arial Bold"/>
                  <a:cs typeface="Arial Bold"/>
                  <a:sym typeface="Arial Bold"/>
                </a:rPr>
                <a:t>Omission of Actionab</a:t>
              </a:r>
              <a:r>
                <a:rPr lang="en-US" b="true" sz="1743">
                  <a:solidFill>
                    <a:srgbClr val="000000"/>
                  </a:solidFill>
                  <a:latin typeface="Arial Bold"/>
                  <a:ea typeface="Arial Bold"/>
                  <a:cs typeface="Arial Bold"/>
                  <a:sym typeface="Arial Bold"/>
                </a:rPr>
                <a:t>le Feedback Loops</a:t>
              </a:r>
            </a:p>
            <a:p>
              <a:pPr algn="l" marL="752770" indent="-250923" lvl="2">
                <a:lnSpc>
                  <a:spcPts val="2377"/>
                </a:lnSpc>
                <a:buFont typeface="Arial"/>
                <a:buChar char="⚬"/>
              </a:pPr>
              <a:r>
                <a:rPr lang="en-US" sz="1743">
                  <a:solidFill>
                    <a:srgbClr val="000000"/>
                  </a:solidFill>
                  <a:latin typeface="Arial"/>
                  <a:ea typeface="Arial"/>
                  <a:cs typeface="Arial"/>
                  <a:sym typeface="Arial"/>
                </a:rPr>
                <a:t>While</a:t>
              </a:r>
              <a:r>
                <a:rPr lang="en-US" sz="1743">
                  <a:solidFill>
                    <a:srgbClr val="000000"/>
                  </a:solidFill>
                  <a:latin typeface="Arial"/>
                  <a:ea typeface="Arial"/>
                  <a:cs typeface="Arial"/>
                  <a:sym typeface="Arial"/>
                </a:rPr>
                <a:t> systems like Kenneth's (2026) CropTwin successfully model weather uncertainty, they operate purely as passive predictive monitors.</a:t>
              </a:r>
            </a:p>
            <a:p>
              <a:pPr algn="l" marL="752770" indent="-250923" lvl="2">
                <a:lnSpc>
                  <a:spcPts val="2377"/>
                </a:lnSpc>
                <a:buFont typeface="Arial"/>
                <a:buChar char="⚬"/>
              </a:pPr>
              <a:r>
                <a:rPr lang="en-US" sz="1743">
                  <a:solidFill>
                    <a:srgbClr val="000000"/>
                  </a:solidFill>
                  <a:latin typeface="Arial"/>
                  <a:ea typeface="Arial"/>
                  <a:cs typeface="Arial"/>
                  <a:sym typeface="Arial"/>
                </a:rPr>
                <a:t>They lack an integrated, intelligent Decision Support System (DSS) that automatically translates complex predictions into actionable agronomic advisories for the end-user.</a:t>
              </a:r>
            </a:p>
            <a:p>
              <a:pPr algn="l">
                <a:lnSpc>
                  <a:spcPts val="2241"/>
                </a:lnSpc>
              </a:pPr>
            </a:p>
          </p:txBody>
        </p:sp>
      </p:grpSp>
      <p:grpSp>
        <p:nvGrpSpPr>
          <p:cNvPr name="Group 29" id="29"/>
          <p:cNvGrpSpPr/>
          <p:nvPr/>
        </p:nvGrpSpPr>
        <p:grpSpPr>
          <a:xfrm rot="0">
            <a:off x="1279199" y="7500367"/>
            <a:ext cx="16480528" cy="1600804"/>
            <a:chOff x="0" y="0"/>
            <a:chExt cx="21974037" cy="2134405"/>
          </a:xfrm>
        </p:grpSpPr>
        <p:grpSp>
          <p:nvGrpSpPr>
            <p:cNvPr name="Group 30" id="30"/>
            <p:cNvGrpSpPr/>
            <p:nvPr/>
          </p:nvGrpSpPr>
          <p:grpSpPr>
            <a:xfrm rot="0">
              <a:off x="0" y="0"/>
              <a:ext cx="21974037" cy="1856179"/>
              <a:chOff x="0" y="0"/>
              <a:chExt cx="4340551" cy="366653"/>
            </a:xfrm>
          </p:grpSpPr>
          <p:sp>
            <p:nvSpPr>
              <p:cNvPr name="Freeform 31" id="31"/>
              <p:cNvSpPr/>
              <p:nvPr/>
            </p:nvSpPr>
            <p:spPr>
              <a:xfrm flipH="false" flipV="false" rot="0">
                <a:off x="0" y="0"/>
                <a:ext cx="4340551" cy="366653"/>
              </a:xfrm>
              <a:custGeom>
                <a:avLst/>
                <a:gdLst/>
                <a:ahLst/>
                <a:cxnLst/>
                <a:rect r="r" b="b" t="t" l="l"/>
                <a:pathLst>
                  <a:path h="366653" w="4340551">
                    <a:moveTo>
                      <a:pt x="10335" y="0"/>
                    </a:moveTo>
                    <a:lnTo>
                      <a:pt x="4330216" y="0"/>
                    </a:lnTo>
                    <a:cubicBezTo>
                      <a:pt x="4332957" y="0"/>
                      <a:pt x="4335585" y="1089"/>
                      <a:pt x="4337524" y="3027"/>
                    </a:cubicBezTo>
                    <a:cubicBezTo>
                      <a:pt x="4339462" y="4965"/>
                      <a:pt x="4340551" y="7594"/>
                      <a:pt x="4340551" y="10335"/>
                    </a:cubicBezTo>
                    <a:lnTo>
                      <a:pt x="4340551" y="356318"/>
                    </a:lnTo>
                    <a:cubicBezTo>
                      <a:pt x="4340551" y="359059"/>
                      <a:pt x="4339462" y="361687"/>
                      <a:pt x="4337524" y="363626"/>
                    </a:cubicBezTo>
                    <a:cubicBezTo>
                      <a:pt x="4335585" y="365564"/>
                      <a:pt x="4332957" y="366653"/>
                      <a:pt x="4330216" y="366653"/>
                    </a:cubicBezTo>
                    <a:lnTo>
                      <a:pt x="10335" y="366653"/>
                    </a:lnTo>
                    <a:cubicBezTo>
                      <a:pt x="7594" y="366653"/>
                      <a:pt x="4965" y="365564"/>
                      <a:pt x="3027" y="363626"/>
                    </a:cubicBezTo>
                    <a:cubicBezTo>
                      <a:pt x="1089" y="361687"/>
                      <a:pt x="0" y="359059"/>
                      <a:pt x="0" y="356318"/>
                    </a:cubicBezTo>
                    <a:lnTo>
                      <a:pt x="0" y="10335"/>
                    </a:lnTo>
                    <a:cubicBezTo>
                      <a:pt x="0" y="7594"/>
                      <a:pt x="1089" y="4965"/>
                      <a:pt x="3027" y="3027"/>
                    </a:cubicBezTo>
                    <a:cubicBezTo>
                      <a:pt x="4965" y="1089"/>
                      <a:pt x="7594" y="0"/>
                      <a:pt x="10335" y="0"/>
                    </a:cubicBezTo>
                    <a:close/>
                  </a:path>
                </a:pathLst>
              </a:custGeom>
              <a:solidFill>
                <a:srgbClr val="F8FFFB"/>
              </a:solidFill>
              <a:ln w="9525" cap="rnd">
                <a:solidFill>
                  <a:srgbClr val="000000"/>
                </a:solidFill>
                <a:prstDash val="solid"/>
                <a:round/>
              </a:ln>
            </p:spPr>
          </p:sp>
          <p:sp>
            <p:nvSpPr>
              <p:cNvPr name="TextBox 32" id="32"/>
              <p:cNvSpPr txBox="true"/>
              <p:nvPr/>
            </p:nvSpPr>
            <p:spPr>
              <a:xfrm>
                <a:off x="0" y="-47625"/>
                <a:ext cx="4340551" cy="414278"/>
              </a:xfrm>
              <a:prstGeom prst="rect">
                <a:avLst/>
              </a:prstGeom>
            </p:spPr>
            <p:txBody>
              <a:bodyPr anchor="ctr" rtlCol="false" tIns="50800" lIns="50800" bIns="50800" rIns="50800"/>
              <a:lstStyle/>
              <a:p>
                <a:pPr algn="ctr">
                  <a:lnSpc>
                    <a:spcPts val="2105"/>
                  </a:lnSpc>
                </a:pPr>
              </a:p>
            </p:txBody>
          </p:sp>
        </p:grpSp>
        <p:sp>
          <p:nvSpPr>
            <p:cNvPr name="TextBox 33" id="33"/>
            <p:cNvSpPr txBox="true"/>
            <p:nvPr/>
          </p:nvSpPr>
          <p:spPr>
            <a:xfrm rot="0">
              <a:off x="443164" y="190705"/>
              <a:ext cx="21291377" cy="1943700"/>
            </a:xfrm>
            <a:prstGeom prst="rect">
              <a:avLst/>
            </a:prstGeom>
          </p:spPr>
          <p:txBody>
            <a:bodyPr anchor="t" rtlCol="false" tIns="0" lIns="0" bIns="0" rIns="0">
              <a:spAutoFit/>
            </a:bodyPr>
            <a:lstStyle/>
            <a:p>
              <a:pPr algn="l">
                <a:lnSpc>
                  <a:spcPts val="2377"/>
                </a:lnSpc>
              </a:pPr>
              <a:r>
                <a:rPr lang="en-US" b="true" sz="1743">
                  <a:solidFill>
                    <a:srgbClr val="000000"/>
                  </a:solidFill>
                  <a:latin typeface="Arial Bold"/>
                  <a:ea typeface="Arial Bold"/>
                  <a:cs typeface="Arial Bold"/>
                  <a:sym typeface="Arial Bold"/>
                </a:rPr>
                <a:t>Incomp</a:t>
              </a:r>
              <a:r>
                <a:rPr lang="en-US" b="true" sz="1743">
                  <a:solidFill>
                    <a:srgbClr val="000000"/>
                  </a:solidFill>
                  <a:latin typeface="Arial Bold"/>
                  <a:ea typeface="Arial Bold"/>
                  <a:cs typeface="Arial Bold"/>
                  <a:sym typeface="Arial Bold"/>
                </a:rPr>
                <a:t>lete Environmental</a:t>
              </a:r>
              <a:r>
                <a:rPr lang="en-US" b="true" sz="1743">
                  <a:solidFill>
                    <a:srgbClr val="000000"/>
                  </a:solidFill>
                  <a:latin typeface="Arial Bold"/>
                  <a:ea typeface="Arial Bold"/>
                  <a:cs typeface="Arial Bold"/>
                  <a:sym typeface="Arial Bold"/>
                </a:rPr>
                <a:t> Stress Profiling</a:t>
              </a:r>
            </a:p>
            <a:p>
              <a:pPr algn="l" marL="752770" indent="-250923" lvl="2">
                <a:lnSpc>
                  <a:spcPts val="2377"/>
                </a:lnSpc>
                <a:buFont typeface="Arial"/>
                <a:buChar char="⚬"/>
              </a:pPr>
              <a:r>
                <a:rPr lang="en-US" sz="1743">
                  <a:solidFill>
                    <a:srgbClr val="000000"/>
                  </a:solidFill>
                  <a:latin typeface="Arial"/>
                  <a:ea typeface="Arial"/>
                  <a:cs typeface="Arial"/>
                  <a:sym typeface="Arial"/>
                </a:rPr>
                <a:t>Current models often rely on high-friction, hard-to-acquire data like real-time pesticide usag</a:t>
              </a:r>
              <a:r>
                <a:rPr lang="en-US" sz="1743">
                  <a:solidFill>
                    <a:srgbClr val="000000"/>
                  </a:solidFill>
                  <a:latin typeface="Arial"/>
                  <a:ea typeface="Arial"/>
                  <a:cs typeface="Arial"/>
                  <a:sym typeface="Arial"/>
                </a:rPr>
                <a:t>e, while omitting critical sub-surface metrics like Root Zone Soil Wetness (GWETROOT).</a:t>
              </a:r>
            </a:p>
            <a:p>
              <a:pPr algn="l" marL="752770" indent="-250923" lvl="2">
                <a:lnSpc>
                  <a:spcPts val="2377"/>
                </a:lnSpc>
                <a:buFont typeface="Arial"/>
                <a:buChar char="⚬"/>
              </a:pPr>
              <a:r>
                <a:rPr lang="en-US" sz="1743">
                  <a:solidFill>
                    <a:srgbClr val="000000"/>
                  </a:solidFill>
                  <a:latin typeface="Arial"/>
                  <a:ea typeface="Arial"/>
                  <a:cs typeface="Arial"/>
                  <a:sym typeface="Arial"/>
                </a:rPr>
                <a:t>This causes predictions to fail when chemical application data is delayed or when complex biotic stress triggers are ignored.</a:t>
              </a:r>
            </a:p>
            <a:p>
              <a:pPr algn="l">
                <a:lnSpc>
                  <a:spcPts val="2241"/>
                </a:lnSpc>
              </a:pPr>
            </a:p>
          </p:txBody>
        </p:sp>
      </p:gr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17653" y="-170330"/>
            <a:ext cx="18923306" cy="10700437"/>
            <a:chOff x="0" y="0"/>
            <a:chExt cx="4983916" cy="2818222"/>
          </a:xfrm>
        </p:grpSpPr>
        <p:sp>
          <p:nvSpPr>
            <p:cNvPr name="Freeform 3" id="3"/>
            <p:cNvSpPr/>
            <p:nvPr/>
          </p:nvSpPr>
          <p:spPr>
            <a:xfrm flipH="false" flipV="false" rot="0">
              <a:off x="0" y="0"/>
              <a:ext cx="4983916" cy="2818222"/>
            </a:xfrm>
            <a:custGeom>
              <a:avLst/>
              <a:gdLst/>
              <a:ahLst/>
              <a:cxnLst/>
              <a:rect r="r" b="b" t="t" l="l"/>
              <a:pathLst>
                <a:path h="2818222" w="4983916">
                  <a:moveTo>
                    <a:pt x="40912" y="0"/>
                  </a:moveTo>
                  <a:lnTo>
                    <a:pt x="4943004" y="0"/>
                  </a:lnTo>
                  <a:cubicBezTo>
                    <a:pt x="4953855" y="0"/>
                    <a:pt x="4964261" y="4310"/>
                    <a:pt x="4971933" y="11983"/>
                  </a:cubicBezTo>
                  <a:cubicBezTo>
                    <a:pt x="4979606" y="19655"/>
                    <a:pt x="4983916" y="30062"/>
                    <a:pt x="4983916" y="40912"/>
                  </a:cubicBezTo>
                  <a:lnTo>
                    <a:pt x="4983916" y="2777310"/>
                  </a:lnTo>
                  <a:cubicBezTo>
                    <a:pt x="4983916" y="2788161"/>
                    <a:pt x="4979606" y="2798567"/>
                    <a:pt x="4971933" y="2806239"/>
                  </a:cubicBezTo>
                  <a:cubicBezTo>
                    <a:pt x="4964261" y="2813912"/>
                    <a:pt x="4953855" y="2818222"/>
                    <a:pt x="4943004" y="2818222"/>
                  </a:cubicBezTo>
                  <a:lnTo>
                    <a:pt x="40912" y="2818222"/>
                  </a:lnTo>
                  <a:cubicBezTo>
                    <a:pt x="30062" y="2818222"/>
                    <a:pt x="19655" y="2813912"/>
                    <a:pt x="11983" y="2806239"/>
                  </a:cubicBezTo>
                  <a:cubicBezTo>
                    <a:pt x="4310" y="2798567"/>
                    <a:pt x="0" y="2788161"/>
                    <a:pt x="0" y="2777310"/>
                  </a:cubicBezTo>
                  <a:lnTo>
                    <a:pt x="0" y="40912"/>
                  </a:lnTo>
                  <a:cubicBezTo>
                    <a:pt x="0" y="30062"/>
                    <a:pt x="4310" y="19655"/>
                    <a:pt x="11983" y="11983"/>
                  </a:cubicBezTo>
                  <a:cubicBezTo>
                    <a:pt x="19655" y="4310"/>
                    <a:pt x="30062" y="0"/>
                    <a:pt x="40912" y="0"/>
                  </a:cubicBezTo>
                  <a:close/>
                </a:path>
              </a:pathLst>
            </a:custGeom>
            <a:solidFill>
              <a:srgbClr val="6B95E0"/>
            </a:solidFill>
            <a:ln cap="rnd">
              <a:noFill/>
              <a:prstDash val="solid"/>
              <a:round/>
            </a:ln>
          </p:spPr>
        </p:sp>
        <p:sp>
          <p:nvSpPr>
            <p:cNvPr name="TextBox 4" id="4"/>
            <p:cNvSpPr txBox="true"/>
            <p:nvPr/>
          </p:nvSpPr>
          <p:spPr>
            <a:xfrm>
              <a:off x="0" y="-47625"/>
              <a:ext cx="4983916" cy="286584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1710" y="357961"/>
            <a:ext cx="17869653" cy="9571077"/>
            <a:chOff x="0" y="0"/>
            <a:chExt cx="4706411" cy="2520778"/>
          </a:xfrm>
        </p:grpSpPr>
        <p:sp>
          <p:nvSpPr>
            <p:cNvPr name="Freeform 6" id="6"/>
            <p:cNvSpPr/>
            <p:nvPr/>
          </p:nvSpPr>
          <p:spPr>
            <a:xfrm flipH="false" flipV="false" rot="0">
              <a:off x="0" y="0"/>
              <a:ext cx="4706410" cy="2520778"/>
            </a:xfrm>
            <a:custGeom>
              <a:avLst/>
              <a:gdLst/>
              <a:ahLst/>
              <a:cxnLst/>
              <a:rect r="r" b="b" t="t" l="l"/>
              <a:pathLst>
                <a:path h="2520778" w="4706410">
                  <a:moveTo>
                    <a:pt x="43324" y="0"/>
                  </a:moveTo>
                  <a:lnTo>
                    <a:pt x="4663086" y="0"/>
                  </a:lnTo>
                  <a:cubicBezTo>
                    <a:pt x="4687014" y="0"/>
                    <a:pt x="4706410" y="19397"/>
                    <a:pt x="4706410" y="43324"/>
                  </a:cubicBezTo>
                  <a:lnTo>
                    <a:pt x="4706410" y="2477453"/>
                  </a:lnTo>
                  <a:cubicBezTo>
                    <a:pt x="4706410" y="2501380"/>
                    <a:pt x="4687014" y="2520778"/>
                    <a:pt x="4663086" y="2520778"/>
                  </a:cubicBezTo>
                  <a:lnTo>
                    <a:pt x="43324" y="2520778"/>
                  </a:lnTo>
                  <a:cubicBezTo>
                    <a:pt x="19397" y="2520778"/>
                    <a:pt x="0" y="2501380"/>
                    <a:pt x="0" y="2477453"/>
                  </a:cubicBezTo>
                  <a:lnTo>
                    <a:pt x="0" y="43324"/>
                  </a:lnTo>
                  <a:cubicBezTo>
                    <a:pt x="0" y="19397"/>
                    <a:pt x="19397" y="0"/>
                    <a:pt x="43324" y="0"/>
                  </a:cubicBezTo>
                  <a:close/>
                </a:path>
              </a:pathLst>
            </a:custGeom>
            <a:solidFill>
              <a:srgbClr val="FFFFFE"/>
            </a:solidFill>
            <a:ln cap="rnd">
              <a:noFill/>
              <a:prstDash val="solid"/>
              <a:round/>
            </a:ln>
          </p:spPr>
        </p:sp>
        <p:sp>
          <p:nvSpPr>
            <p:cNvPr name="TextBox 7" id="7"/>
            <p:cNvSpPr txBox="true"/>
            <p:nvPr/>
          </p:nvSpPr>
          <p:spPr>
            <a:xfrm>
              <a:off x="0" y="-47625"/>
              <a:ext cx="4706411" cy="2568403"/>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567675" y="455577"/>
            <a:ext cx="9503681" cy="398868"/>
          </a:xfrm>
          <a:prstGeom prst="rect">
            <a:avLst/>
          </a:prstGeom>
        </p:spPr>
        <p:txBody>
          <a:bodyPr anchor="t" rtlCol="false" tIns="0" lIns="0" bIns="0" rIns="0">
            <a:spAutoFit/>
          </a:bodyPr>
          <a:lstStyle/>
          <a:p>
            <a:pPr algn="l">
              <a:lnSpc>
                <a:spcPts val="3196"/>
              </a:lnSpc>
              <a:spcBef>
                <a:spcPct val="0"/>
              </a:spcBef>
            </a:pPr>
            <a:r>
              <a:rPr lang="en-US" b="true" sz="2343" u="sng">
                <a:solidFill>
                  <a:srgbClr val="000000"/>
                </a:solidFill>
                <a:latin typeface="Arial Bold"/>
                <a:ea typeface="Arial Bold"/>
                <a:cs typeface="Arial Bold"/>
                <a:sym typeface="Arial Bold"/>
              </a:rPr>
              <a:t>Our Innovative Approach (The Cognitive Digital Twin Framework)</a:t>
            </a:r>
          </a:p>
        </p:txBody>
      </p:sp>
      <p:grpSp>
        <p:nvGrpSpPr>
          <p:cNvPr name="Group 9" id="9"/>
          <p:cNvGrpSpPr/>
          <p:nvPr/>
        </p:nvGrpSpPr>
        <p:grpSpPr>
          <a:xfrm rot="0">
            <a:off x="230769" y="1655824"/>
            <a:ext cx="5827854" cy="3192401"/>
            <a:chOff x="0" y="0"/>
            <a:chExt cx="7770472" cy="4256534"/>
          </a:xfrm>
        </p:grpSpPr>
        <p:grpSp>
          <p:nvGrpSpPr>
            <p:cNvPr name="Group 10" id="10"/>
            <p:cNvGrpSpPr/>
            <p:nvPr/>
          </p:nvGrpSpPr>
          <p:grpSpPr>
            <a:xfrm rot="0">
              <a:off x="0" y="0"/>
              <a:ext cx="7770472" cy="4256534"/>
              <a:chOff x="0" y="0"/>
              <a:chExt cx="1534903" cy="840814"/>
            </a:xfrm>
          </p:grpSpPr>
          <p:sp>
            <p:nvSpPr>
              <p:cNvPr name="Freeform 11" id="11"/>
              <p:cNvSpPr/>
              <p:nvPr/>
            </p:nvSpPr>
            <p:spPr>
              <a:xfrm flipH="false" flipV="false" rot="0">
                <a:off x="0" y="0"/>
                <a:ext cx="1534903" cy="840814"/>
              </a:xfrm>
              <a:custGeom>
                <a:avLst/>
                <a:gdLst/>
                <a:ahLst/>
                <a:cxnLst/>
                <a:rect r="r" b="b" t="t" l="l"/>
                <a:pathLst>
                  <a:path h="840814" w="1534903">
                    <a:moveTo>
                      <a:pt x="1534903" y="54466"/>
                    </a:moveTo>
                    <a:lnTo>
                      <a:pt x="1534903" y="786348"/>
                    </a:lnTo>
                    <a:cubicBezTo>
                      <a:pt x="1534903" y="800793"/>
                      <a:pt x="1529164" y="814647"/>
                      <a:pt x="1518950" y="824861"/>
                    </a:cubicBezTo>
                    <a:cubicBezTo>
                      <a:pt x="1508736" y="835075"/>
                      <a:pt x="1494882" y="840814"/>
                      <a:pt x="1480437" y="840814"/>
                    </a:cubicBezTo>
                    <a:lnTo>
                      <a:pt x="54466" y="840814"/>
                    </a:lnTo>
                    <a:cubicBezTo>
                      <a:pt x="24385" y="840814"/>
                      <a:pt x="0" y="816429"/>
                      <a:pt x="0" y="786348"/>
                    </a:cubicBezTo>
                    <a:lnTo>
                      <a:pt x="0" y="54466"/>
                    </a:lnTo>
                    <a:cubicBezTo>
                      <a:pt x="0" y="24385"/>
                      <a:pt x="24385" y="0"/>
                      <a:pt x="54466" y="0"/>
                    </a:cubicBezTo>
                    <a:lnTo>
                      <a:pt x="1480437" y="0"/>
                    </a:lnTo>
                    <a:cubicBezTo>
                      <a:pt x="1510517" y="0"/>
                      <a:pt x="1534903" y="24385"/>
                      <a:pt x="1534903" y="54466"/>
                    </a:cubicBezTo>
                    <a:close/>
                  </a:path>
                </a:pathLst>
              </a:custGeom>
              <a:solidFill>
                <a:srgbClr val="D7FFF6"/>
              </a:solidFill>
              <a:ln w="19050" cap="rnd">
                <a:solidFill>
                  <a:srgbClr val="746A6A"/>
                </a:solidFill>
                <a:prstDash val="solid"/>
                <a:round/>
              </a:ln>
            </p:spPr>
          </p:sp>
          <p:sp>
            <p:nvSpPr>
              <p:cNvPr name="TextBox 12" id="12"/>
              <p:cNvSpPr txBox="true"/>
              <p:nvPr/>
            </p:nvSpPr>
            <p:spPr>
              <a:xfrm>
                <a:off x="0" y="-47625"/>
                <a:ext cx="1534903" cy="888439"/>
              </a:xfrm>
              <a:prstGeom prst="rect">
                <a:avLst/>
              </a:prstGeom>
            </p:spPr>
            <p:txBody>
              <a:bodyPr anchor="ctr" rtlCol="false" tIns="50800" lIns="50800" bIns="50800" rIns="50800"/>
              <a:lstStyle/>
              <a:p>
                <a:pPr algn="ctr">
                  <a:lnSpc>
                    <a:spcPts val="2105"/>
                  </a:lnSpc>
                </a:pPr>
              </a:p>
            </p:txBody>
          </p:sp>
        </p:grpSp>
        <p:sp>
          <p:nvSpPr>
            <p:cNvPr name="TextBox 13" id="13"/>
            <p:cNvSpPr txBox="true"/>
            <p:nvPr/>
          </p:nvSpPr>
          <p:spPr>
            <a:xfrm rot="0">
              <a:off x="396370" y="253822"/>
              <a:ext cx="6977732" cy="882658"/>
            </a:xfrm>
            <a:prstGeom prst="rect">
              <a:avLst/>
            </a:prstGeom>
          </p:spPr>
          <p:txBody>
            <a:bodyPr anchor="t" rtlCol="false" tIns="0" lIns="0" bIns="0" rIns="0">
              <a:spAutoFit/>
            </a:bodyPr>
            <a:lstStyle/>
            <a:p>
              <a:pPr algn="ctr">
                <a:lnSpc>
                  <a:spcPts val="2650"/>
                </a:lnSpc>
                <a:spcBef>
                  <a:spcPct val="0"/>
                </a:spcBef>
              </a:pPr>
              <a:r>
                <a:rPr lang="en-US" b="true" sz="1943">
                  <a:solidFill>
                    <a:srgbClr val="000000"/>
                  </a:solidFill>
                  <a:latin typeface="Arial Bold"/>
                  <a:ea typeface="Arial Bold"/>
                  <a:cs typeface="Arial Bold"/>
                  <a:sym typeface="Arial Bold"/>
                </a:rPr>
                <a:t>D</a:t>
              </a:r>
              <a:r>
                <a:rPr lang="en-US" b="true" sz="1943">
                  <a:solidFill>
                    <a:srgbClr val="000000"/>
                  </a:solidFill>
                  <a:latin typeface="Arial Bold"/>
                  <a:ea typeface="Arial Bold"/>
                  <a:cs typeface="Arial Bold"/>
                  <a:sym typeface="Arial Bold"/>
                </a:rPr>
                <a:t>ual-Track ML Engine for Binary Failure Classification</a:t>
              </a:r>
            </a:p>
          </p:txBody>
        </p:sp>
        <p:sp>
          <p:nvSpPr>
            <p:cNvPr name="TextBox 14" id="14"/>
            <p:cNvSpPr txBox="true"/>
            <p:nvPr/>
          </p:nvSpPr>
          <p:spPr>
            <a:xfrm rot="0">
              <a:off x="0" y="1534471"/>
              <a:ext cx="7568605" cy="786612"/>
            </a:xfrm>
            <a:prstGeom prst="rect">
              <a:avLst/>
            </a:prstGeom>
          </p:spPr>
          <p:txBody>
            <a:bodyPr anchor="t" rtlCol="false" tIns="0" lIns="0" bIns="0" rIns="0">
              <a:spAutoFit/>
            </a:bodyPr>
            <a:lstStyle/>
            <a:p>
              <a:pPr algn="l">
                <a:lnSpc>
                  <a:spcPts val="2377"/>
                </a:lnSpc>
              </a:pPr>
              <a:r>
                <a:rPr lang="en-US" sz="1743">
                  <a:solidFill>
                    <a:srgbClr val="000000"/>
                  </a:solidFill>
                  <a:latin typeface="Arial"/>
                  <a:ea typeface="Arial"/>
                  <a:cs typeface="Arial"/>
                  <a:sym typeface="Arial"/>
                </a:rPr>
                <a:t>      Implements a dual-track engine (Tabular ML alongside a PyTorch 3D Tensor LSTM-Attention model).</a:t>
              </a:r>
            </a:p>
          </p:txBody>
        </p:sp>
        <p:sp>
          <p:nvSpPr>
            <p:cNvPr name="TextBox 15" id="15"/>
            <p:cNvSpPr txBox="true"/>
            <p:nvPr/>
          </p:nvSpPr>
          <p:spPr>
            <a:xfrm rot="0">
              <a:off x="0" y="2501122"/>
              <a:ext cx="7502128" cy="1574012"/>
            </a:xfrm>
            <a:prstGeom prst="rect">
              <a:avLst/>
            </a:prstGeom>
          </p:spPr>
          <p:txBody>
            <a:bodyPr anchor="t" rtlCol="false" tIns="0" lIns="0" bIns="0" rIns="0">
              <a:spAutoFit/>
            </a:bodyPr>
            <a:lstStyle/>
            <a:p>
              <a:pPr algn="l" marL="376385" indent="-188192" lvl="1">
                <a:lnSpc>
                  <a:spcPts val="2377"/>
                </a:lnSpc>
                <a:buFont typeface="Arial"/>
                <a:buChar char="•"/>
              </a:pPr>
              <a:r>
                <a:rPr lang="en-US" sz="1743">
                  <a:solidFill>
                    <a:srgbClr val="000000"/>
                  </a:solidFill>
                  <a:latin typeface="Arial"/>
                  <a:ea typeface="Arial"/>
                  <a:cs typeface="Arial"/>
                  <a:sym typeface="Arial"/>
                </a:rPr>
                <a:t>We utilize a probabilistic Q</a:t>
              </a:r>
              <a:r>
                <a:rPr lang="en-US" sz="1743">
                  <a:solidFill>
                    <a:srgbClr val="000000"/>
                  </a:solidFill>
                  <a:latin typeface="Arial"/>
                  <a:ea typeface="Arial"/>
                  <a:cs typeface="Arial"/>
                  <a:sym typeface="Arial"/>
                </a:rPr>
                <a:t>1</a:t>
              </a:r>
              <a:r>
                <a:rPr lang="en-US" sz="1743">
                  <a:solidFill>
                    <a:srgbClr val="000000"/>
                  </a:solidFill>
                  <a:latin typeface="Arial"/>
                  <a:ea typeface="Arial"/>
                  <a:cs typeface="Arial"/>
                  <a:sym typeface="Arial"/>
                </a:rPr>
                <a:t>​ thresholding logic on the </a:t>
              </a:r>
            </a:p>
            <a:p>
              <a:pPr algn="l">
                <a:lnSpc>
                  <a:spcPts val="2377"/>
                </a:lnSpc>
                <a:spcBef>
                  <a:spcPct val="0"/>
                </a:spcBef>
              </a:pPr>
              <a:r>
                <a:rPr lang="en-US" sz="1743">
                  <a:solidFill>
                    <a:srgbClr val="000000"/>
                  </a:solidFill>
                  <a:latin typeface="Arial"/>
                  <a:ea typeface="Arial"/>
                  <a:cs typeface="Arial"/>
                  <a:sym typeface="Arial"/>
                </a:rPr>
                <a:t>      </a:t>
              </a:r>
              <a:r>
                <a:rPr lang="en-US" sz="1743">
                  <a:solidFill>
                    <a:srgbClr val="000000"/>
                  </a:solidFill>
                  <a:latin typeface="Arial"/>
                  <a:ea typeface="Arial"/>
                  <a:cs typeface="Arial"/>
                  <a:sym typeface="Arial"/>
                </a:rPr>
                <a:t>data to</a:t>
              </a:r>
              <a:r>
                <a:rPr lang="en-US" sz="1743">
                  <a:solidFill>
                    <a:srgbClr val="000000"/>
                  </a:solidFill>
                  <a:latin typeface="Arial"/>
                  <a:ea typeface="Arial"/>
                  <a:cs typeface="Arial"/>
                  <a:sym typeface="Arial"/>
                </a:rPr>
                <a:t> explicitly classify, label </a:t>
              </a:r>
              <a:r>
                <a:rPr lang="en-US" sz="1743">
                  <a:solidFill>
                    <a:srgbClr val="000000"/>
                  </a:solidFill>
                  <a:latin typeface="Arial"/>
                  <a:ea typeface="Arial"/>
                  <a:cs typeface="Arial"/>
                  <a:sym typeface="Arial"/>
                </a:rPr>
                <a:t>and predict </a:t>
              </a:r>
            </a:p>
            <a:p>
              <a:pPr algn="l">
                <a:lnSpc>
                  <a:spcPts val="2377"/>
                </a:lnSpc>
                <a:spcBef>
                  <a:spcPct val="0"/>
                </a:spcBef>
              </a:pPr>
              <a:r>
                <a:rPr lang="en-US" sz="1743">
                  <a:solidFill>
                    <a:srgbClr val="000000"/>
                  </a:solidFill>
                  <a:latin typeface="Arial"/>
                  <a:ea typeface="Arial"/>
                  <a:cs typeface="Arial"/>
                  <a:sym typeface="Arial"/>
                </a:rPr>
                <a:t>      Failure Anomalies" for disaster relief prioritization.</a:t>
              </a:r>
            </a:p>
            <a:p>
              <a:pPr algn="ctr">
                <a:lnSpc>
                  <a:spcPts val="2377"/>
                </a:lnSpc>
                <a:spcBef>
                  <a:spcPct val="0"/>
                </a:spcBef>
              </a:pPr>
            </a:p>
          </p:txBody>
        </p:sp>
      </p:grpSp>
      <p:grpSp>
        <p:nvGrpSpPr>
          <p:cNvPr name="Group 16" id="16"/>
          <p:cNvGrpSpPr/>
          <p:nvPr/>
        </p:nvGrpSpPr>
        <p:grpSpPr>
          <a:xfrm rot="0">
            <a:off x="6230073" y="1359847"/>
            <a:ext cx="5827854" cy="3783653"/>
            <a:chOff x="0" y="0"/>
            <a:chExt cx="7770472" cy="5044870"/>
          </a:xfrm>
        </p:grpSpPr>
        <p:grpSp>
          <p:nvGrpSpPr>
            <p:cNvPr name="Group 17" id="17"/>
            <p:cNvGrpSpPr/>
            <p:nvPr/>
          </p:nvGrpSpPr>
          <p:grpSpPr>
            <a:xfrm rot="0">
              <a:off x="0" y="0"/>
              <a:ext cx="7770472" cy="5044870"/>
              <a:chOff x="0" y="0"/>
              <a:chExt cx="1534903" cy="996537"/>
            </a:xfrm>
          </p:grpSpPr>
          <p:sp>
            <p:nvSpPr>
              <p:cNvPr name="Freeform 18" id="18"/>
              <p:cNvSpPr/>
              <p:nvPr/>
            </p:nvSpPr>
            <p:spPr>
              <a:xfrm flipH="false" flipV="false" rot="0">
                <a:off x="0" y="0"/>
                <a:ext cx="1534903" cy="996537"/>
              </a:xfrm>
              <a:custGeom>
                <a:avLst/>
                <a:gdLst/>
                <a:ahLst/>
                <a:cxnLst/>
                <a:rect r="r" b="b" t="t" l="l"/>
                <a:pathLst>
                  <a:path h="996537" w="1534903">
                    <a:moveTo>
                      <a:pt x="1534903" y="54466"/>
                    </a:moveTo>
                    <a:lnTo>
                      <a:pt x="1534903" y="942072"/>
                    </a:lnTo>
                    <a:cubicBezTo>
                      <a:pt x="1534903" y="956517"/>
                      <a:pt x="1529164" y="970370"/>
                      <a:pt x="1518950" y="980585"/>
                    </a:cubicBezTo>
                    <a:cubicBezTo>
                      <a:pt x="1508736" y="990799"/>
                      <a:pt x="1494882" y="996537"/>
                      <a:pt x="1480437" y="996537"/>
                    </a:cubicBezTo>
                    <a:lnTo>
                      <a:pt x="54466" y="996537"/>
                    </a:lnTo>
                    <a:cubicBezTo>
                      <a:pt x="24385" y="996537"/>
                      <a:pt x="0" y="972152"/>
                      <a:pt x="0" y="942072"/>
                    </a:cubicBezTo>
                    <a:lnTo>
                      <a:pt x="0" y="54466"/>
                    </a:lnTo>
                    <a:cubicBezTo>
                      <a:pt x="0" y="24385"/>
                      <a:pt x="24385" y="0"/>
                      <a:pt x="54466" y="0"/>
                    </a:cubicBezTo>
                    <a:lnTo>
                      <a:pt x="1480437" y="0"/>
                    </a:lnTo>
                    <a:cubicBezTo>
                      <a:pt x="1510517" y="0"/>
                      <a:pt x="1534903" y="24385"/>
                      <a:pt x="1534903" y="54466"/>
                    </a:cubicBezTo>
                    <a:close/>
                  </a:path>
                </a:pathLst>
              </a:custGeom>
              <a:solidFill>
                <a:srgbClr val="D2FFE7"/>
              </a:solidFill>
              <a:ln w="19050" cap="rnd">
                <a:solidFill>
                  <a:srgbClr val="746A6A"/>
                </a:solidFill>
                <a:prstDash val="solid"/>
                <a:round/>
              </a:ln>
            </p:spPr>
          </p:sp>
          <p:sp>
            <p:nvSpPr>
              <p:cNvPr name="TextBox 19" id="19"/>
              <p:cNvSpPr txBox="true"/>
              <p:nvPr/>
            </p:nvSpPr>
            <p:spPr>
              <a:xfrm>
                <a:off x="0" y="-47625"/>
                <a:ext cx="1534903" cy="1044162"/>
              </a:xfrm>
              <a:prstGeom prst="rect">
                <a:avLst/>
              </a:prstGeom>
            </p:spPr>
            <p:txBody>
              <a:bodyPr anchor="ctr" rtlCol="false" tIns="50800" lIns="50800" bIns="50800" rIns="50800"/>
              <a:lstStyle/>
              <a:p>
                <a:pPr algn="ctr">
                  <a:lnSpc>
                    <a:spcPts val="2105"/>
                  </a:lnSpc>
                </a:pPr>
              </a:p>
            </p:txBody>
          </p:sp>
        </p:grpSp>
        <p:sp>
          <p:nvSpPr>
            <p:cNvPr name="TextBox 20" id="20"/>
            <p:cNvSpPr txBox="true"/>
            <p:nvPr/>
          </p:nvSpPr>
          <p:spPr>
            <a:xfrm rot="0">
              <a:off x="497303" y="253822"/>
              <a:ext cx="6977732" cy="882658"/>
            </a:xfrm>
            <a:prstGeom prst="rect">
              <a:avLst/>
            </a:prstGeom>
          </p:spPr>
          <p:txBody>
            <a:bodyPr anchor="t" rtlCol="false" tIns="0" lIns="0" bIns="0" rIns="0">
              <a:spAutoFit/>
            </a:bodyPr>
            <a:lstStyle/>
            <a:p>
              <a:pPr algn="ctr">
                <a:lnSpc>
                  <a:spcPts val="2650"/>
                </a:lnSpc>
                <a:spcBef>
                  <a:spcPct val="0"/>
                </a:spcBef>
              </a:pPr>
              <a:r>
                <a:rPr lang="en-US" b="true" sz="1943">
                  <a:solidFill>
                    <a:srgbClr val="000000"/>
                  </a:solidFill>
                  <a:latin typeface="Arial Bold"/>
                  <a:ea typeface="Arial Bold"/>
                  <a:cs typeface="Arial Bold"/>
                  <a:sym typeface="Arial Bold"/>
                </a:rPr>
                <a:t>M</a:t>
              </a:r>
              <a:r>
                <a:rPr lang="en-US" b="true" sz="1943">
                  <a:solidFill>
                    <a:srgbClr val="000000"/>
                  </a:solidFill>
                  <a:latin typeface="Arial Bold"/>
                  <a:ea typeface="Arial Bold"/>
                  <a:cs typeface="Arial Bold"/>
                  <a:sym typeface="Arial Bold"/>
                </a:rPr>
                <a:t>acro-to-Micro Data Bridging via NASA POWER API</a:t>
              </a:r>
            </a:p>
          </p:txBody>
        </p:sp>
        <p:sp>
          <p:nvSpPr>
            <p:cNvPr name="TextBox 21" id="21"/>
            <p:cNvSpPr txBox="true"/>
            <p:nvPr/>
          </p:nvSpPr>
          <p:spPr>
            <a:xfrm rot="0">
              <a:off x="100934" y="1534471"/>
              <a:ext cx="7568605" cy="1180312"/>
            </a:xfrm>
            <a:prstGeom prst="rect">
              <a:avLst/>
            </a:prstGeom>
          </p:spPr>
          <p:txBody>
            <a:bodyPr anchor="t" rtlCol="false" tIns="0" lIns="0" bIns="0" rIns="0">
              <a:spAutoFit/>
            </a:bodyPr>
            <a:lstStyle/>
            <a:p>
              <a:pPr algn="l" marL="376385" indent="-188192" lvl="1">
                <a:lnSpc>
                  <a:spcPts val="2377"/>
                </a:lnSpc>
                <a:buFont typeface="Arial"/>
                <a:buChar char="•"/>
              </a:pPr>
              <a:r>
                <a:rPr lang="en-US" sz="1743">
                  <a:solidFill>
                    <a:srgbClr val="000000"/>
                  </a:solidFill>
                  <a:latin typeface="Arial"/>
                  <a:ea typeface="Arial"/>
                  <a:cs typeface="Arial"/>
                  <a:sym typeface="Arial"/>
                </a:rPr>
                <a:t>To solve the IoT hardware infrastructure bottleneck, </a:t>
              </a:r>
              <a:r>
                <a:rPr lang="en-US" sz="1743">
                  <a:solidFill>
                    <a:srgbClr val="000000"/>
                  </a:solidFill>
                  <a:latin typeface="Arial"/>
                  <a:ea typeface="Arial"/>
                  <a:cs typeface="Arial"/>
                  <a:sym typeface="Arial"/>
                </a:rPr>
                <a:t>our framework completely bypasses the need for expensive</a:t>
              </a:r>
              <a:r>
                <a:rPr lang="en-US" sz="1743">
                  <a:solidFill>
                    <a:srgbClr val="000000"/>
                  </a:solidFill>
                  <a:latin typeface="Arial"/>
                  <a:ea typeface="Arial"/>
                  <a:cs typeface="Arial"/>
                  <a:sym typeface="Arial"/>
                </a:rPr>
                <a:t> l</a:t>
              </a:r>
              <a:r>
                <a:rPr lang="en-US" sz="1743">
                  <a:solidFill>
                    <a:srgbClr val="000000"/>
                  </a:solidFill>
                  <a:latin typeface="Arial"/>
                  <a:ea typeface="Arial"/>
                  <a:cs typeface="Arial"/>
                  <a:sym typeface="Arial"/>
                </a:rPr>
                <a:t>ocal sensors.</a:t>
              </a:r>
            </a:p>
          </p:txBody>
        </p:sp>
        <p:sp>
          <p:nvSpPr>
            <p:cNvPr name="TextBox 22" id="22"/>
            <p:cNvSpPr txBox="true"/>
            <p:nvPr/>
          </p:nvSpPr>
          <p:spPr>
            <a:xfrm rot="0">
              <a:off x="100934" y="2683366"/>
              <a:ext cx="7235057" cy="2361504"/>
            </a:xfrm>
            <a:prstGeom prst="rect">
              <a:avLst/>
            </a:prstGeom>
          </p:spPr>
          <p:txBody>
            <a:bodyPr anchor="t" rtlCol="false" tIns="0" lIns="0" bIns="0" rIns="0">
              <a:spAutoFit/>
            </a:bodyPr>
            <a:lstStyle/>
            <a:p>
              <a:pPr algn="l" marL="375666" indent="-187833" lvl="1">
                <a:lnSpc>
                  <a:spcPts val="2373"/>
                </a:lnSpc>
                <a:spcBef>
                  <a:spcPct val="0"/>
                </a:spcBef>
                <a:buFont typeface="Arial"/>
                <a:buChar char="•"/>
              </a:pPr>
              <a:r>
                <a:rPr lang="en-US" sz="1739">
                  <a:solidFill>
                    <a:srgbClr val="000000"/>
                  </a:solidFill>
                  <a:latin typeface="Arial"/>
                  <a:ea typeface="Arial"/>
                  <a:cs typeface="Arial"/>
                  <a:sym typeface="Arial"/>
                </a:rPr>
                <a:t>We ingest continuous, distric</a:t>
              </a:r>
              <a:r>
                <a:rPr lang="en-US" sz="1739">
                  <a:solidFill>
                    <a:srgbClr val="000000"/>
                  </a:solidFill>
                  <a:latin typeface="Arial"/>
                  <a:ea typeface="Arial"/>
                  <a:cs typeface="Arial"/>
                  <a:sym typeface="Arial"/>
                </a:rPr>
                <a:t>t-stratified macro-data directly from the NASA</a:t>
              </a:r>
              <a:r>
                <a:rPr lang="en-US" sz="1739">
                  <a:solidFill>
                    <a:srgbClr val="000000"/>
                  </a:solidFill>
                  <a:latin typeface="Arial"/>
                  <a:ea typeface="Arial"/>
                  <a:cs typeface="Arial"/>
                  <a:sym typeface="Arial"/>
                </a:rPr>
                <a:t> POWER API, compu</a:t>
              </a:r>
              <a:r>
                <a:rPr lang="en-US" sz="1739">
                  <a:solidFill>
                    <a:srgbClr val="000000"/>
                  </a:solidFill>
                  <a:latin typeface="Arial"/>
                  <a:ea typeface="Arial"/>
                  <a:cs typeface="Arial"/>
                  <a:sym typeface="Arial"/>
                </a:rPr>
                <a:t>tationa</a:t>
              </a:r>
              <a:r>
                <a:rPr lang="en-US" sz="1739">
                  <a:solidFill>
                    <a:srgbClr val="000000"/>
                  </a:solidFill>
                  <a:latin typeface="Arial"/>
                  <a:ea typeface="Arial"/>
                  <a:cs typeface="Arial"/>
                  <a:sym typeface="Arial"/>
                </a:rPr>
                <a:t>lly transforming satellite we</a:t>
              </a:r>
              <a:r>
                <a:rPr lang="en-US" sz="1739">
                  <a:solidFill>
                    <a:srgbClr val="000000"/>
                  </a:solidFill>
                  <a:latin typeface="Arial"/>
                  <a:ea typeface="Arial"/>
                  <a:cs typeface="Arial"/>
                  <a:sym typeface="Arial"/>
                </a:rPr>
                <a:t>ather telemetry into localized field-level risk proxies.</a:t>
              </a:r>
            </a:p>
            <a:p>
              <a:pPr algn="l">
                <a:lnSpc>
                  <a:spcPts val="2373"/>
                </a:lnSpc>
                <a:spcBef>
                  <a:spcPct val="0"/>
                </a:spcBef>
              </a:pPr>
            </a:p>
            <a:p>
              <a:pPr algn="ctr">
                <a:lnSpc>
                  <a:spcPts val="2373"/>
                </a:lnSpc>
                <a:spcBef>
                  <a:spcPct val="0"/>
                </a:spcBef>
              </a:pPr>
            </a:p>
          </p:txBody>
        </p:sp>
      </p:grpSp>
      <p:grpSp>
        <p:nvGrpSpPr>
          <p:cNvPr name="Group 23" id="23"/>
          <p:cNvGrpSpPr/>
          <p:nvPr/>
        </p:nvGrpSpPr>
        <p:grpSpPr>
          <a:xfrm rot="0">
            <a:off x="2852344" y="5474647"/>
            <a:ext cx="5827854" cy="3783653"/>
            <a:chOff x="0" y="0"/>
            <a:chExt cx="7770472" cy="5044870"/>
          </a:xfrm>
        </p:grpSpPr>
        <p:grpSp>
          <p:nvGrpSpPr>
            <p:cNvPr name="Group 24" id="24"/>
            <p:cNvGrpSpPr/>
            <p:nvPr/>
          </p:nvGrpSpPr>
          <p:grpSpPr>
            <a:xfrm rot="0">
              <a:off x="0" y="0"/>
              <a:ext cx="7770472" cy="5044870"/>
              <a:chOff x="0" y="0"/>
              <a:chExt cx="1534903" cy="996537"/>
            </a:xfrm>
          </p:grpSpPr>
          <p:sp>
            <p:nvSpPr>
              <p:cNvPr name="Freeform 25" id="25"/>
              <p:cNvSpPr/>
              <p:nvPr/>
            </p:nvSpPr>
            <p:spPr>
              <a:xfrm flipH="false" flipV="false" rot="0">
                <a:off x="0" y="0"/>
                <a:ext cx="1534903" cy="996537"/>
              </a:xfrm>
              <a:custGeom>
                <a:avLst/>
                <a:gdLst/>
                <a:ahLst/>
                <a:cxnLst/>
                <a:rect r="r" b="b" t="t" l="l"/>
                <a:pathLst>
                  <a:path h="996537" w="1534903">
                    <a:moveTo>
                      <a:pt x="1534903" y="54466"/>
                    </a:moveTo>
                    <a:lnTo>
                      <a:pt x="1534903" y="942072"/>
                    </a:lnTo>
                    <a:cubicBezTo>
                      <a:pt x="1534903" y="956517"/>
                      <a:pt x="1529164" y="970370"/>
                      <a:pt x="1518950" y="980585"/>
                    </a:cubicBezTo>
                    <a:cubicBezTo>
                      <a:pt x="1508736" y="990799"/>
                      <a:pt x="1494882" y="996537"/>
                      <a:pt x="1480437" y="996537"/>
                    </a:cubicBezTo>
                    <a:lnTo>
                      <a:pt x="54466" y="996537"/>
                    </a:lnTo>
                    <a:cubicBezTo>
                      <a:pt x="24385" y="996537"/>
                      <a:pt x="0" y="972152"/>
                      <a:pt x="0" y="942072"/>
                    </a:cubicBezTo>
                    <a:lnTo>
                      <a:pt x="0" y="54466"/>
                    </a:lnTo>
                    <a:cubicBezTo>
                      <a:pt x="0" y="24385"/>
                      <a:pt x="24385" y="0"/>
                      <a:pt x="54466" y="0"/>
                    </a:cubicBezTo>
                    <a:lnTo>
                      <a:pt x="1480437" y="0"/>
                    </a:lnTo>
                    <a:cubicBezTo>
                      <a:pt x="1510517" y="0"/>
                      <a:pt x="1534903" y="24385"/>
                      <a:pt x="1534903" y="54466"/>
                    </a:cubicBezTo>
                    <a:close/>
                  </a:path>
                </a:pathLst>
              </a:custGeom>
              <a:solidFill>
                <a:srgbClr val="D7F1FF"/>
              </a:solidFill>
              <a:ln w="19050" cap="rnd">
                <a:solidFill>
                  <a:srgbClr val="746A6A"/>
                </a:solidFill>
                <a:prstDash val="solid"/>
                <a:round/>
              </a:ln>
            </p:spPr>
          </p:sp>
          <p:sp>
            <p:nvSpPr>
              <p:cNvPr name="TextBox 26" id="26"/>
              <p:cNvSpPr txBox="true"/>
              <p:nvPr/>
            </p:nvSpPr>
            <p:spPr>
              <a:xfrm>
                <a:off x="0" y="-47625"/>
                <a:ext cx="1534903" cy="1044162"/>
              </a:xfrm>
              <a:prstGeom prst="rect">
                <a:avLst/>
              </a:prstGeom>
            </p:spPr>
            <p:txBody>
              <a:bodyPr anchor="ctr" rtlCol="false" tIns="50800" lIns="50800" bIns="50800" rIns="50800"/>
              <a:lstStyle/>
              <a:p>
                <a:pPr algn="ctr">
                  <a:lnSpc>
                    <a:spcPts val="2105"/>
                  </a:lnSpc>
                </a:pPr>
              </a:p>
            </p:txBody>
          </p:sp>
        </p:grpSp>
        <p:sp>
          <p:nvSpPr>
            <p:cNvPr name="TextBox 27" id="27"/>
            <p:cNvSpPr txBox="true"/>
            <p:nvPr/>
          </p:nvSpPr>
          <p:spPr>
            <a:xfrm rot="0">
              <a:off x="497303" y="253822"/>
              <a:ext cx="6977732" cy="882658"/>
            </a:xfrm>
            <a:prstGeom prst="rect">
              <a:avLst/>
            </a:prstGeom>
          </p:spPr>
          <p:txBody>
            <a:bodyPr anchor="t" rtlCol="false" tIns="0" lIns="0" bIns="0" rIns="0">
              <a:spAutoFit/>
            </a:bodyPr>
            <a:lstStyle/>
            <a:p>
              <a:pPr algn="ctr">
                <a:lnSpc>
                  <a:spcPts val="2650"/>
                </a:lnSpc>
                <a:spcBef>
                  <a:spcPct val="0"/>
                </a:spcBef>
              </a:pPr>
              <a:r>
                <a:rPr lang="en-US" b="true" sz="1943">
                  <a:solidFill>
                    <a:srgbClr val="000000"/>
                  </a:solidFill>
                  <a:latin typeface="Arial Bold"/>
                  <a:ea typeface="Arial Bold"/>
                  <a:cs typeface="Arial Bold"/>
                  <a:sym typeface="Arial Bold"/>
                </a:rPr>
                <a:t>L</a:t>
              </a:r>
              <a:r>
                <a:rPr lang="en-US" b="true" sz="1943">
                  <a:solidFill>
                    <a:srgbClr val="000000"/>
                  </a:solidFill>
                  <a:latin typeface="Arial Bold"/>
                  <a:ea typeface="Arial Bold"/>
                  <a:cs typeface="Arial Bold"/>
                  <a:sym typeface="Arial Bold"/>
                </a:rPr>
                <a:t>angGraph-Powered Expert Advisory Node (DSS)</a:t>
              </a:r>
            </a:p>
          </p:txBody>
        </p:sp>
        <p:sp>
          <p:nvSpPr>
            <p:cNvPr name="TextBox 28" id="28"/>
            <p:cNvSpPr txBox="true"/>
            <p:nvPr/>
          </p:nvSpPr>
          <p:spPr>
            <a:xfrm rot="0">
              <a:off x="100934" y="1534471"/>
              <a:ext cx="7568605" cy="1180312"/>
            </a:xfrm>
            <a:prstGeom prst="rect">
              <a:avLst/>
            </a:prstGeom>
          </p:spPr>
          <p:txBody>
            <a:bodyPr anchor="t" rtlCol="false" tIns="0" lIns="0" bIns="0" rIns="0">
              <a:spAutoFit/>
            </a:bodyPr>
            <a:lstStyle/>
            <a:p>
              <a:pPr algn="l" marL="376385" indent="-188192" lvl="1">
                <a:lnSpc>
                  <a:spcPts val="2377"/>
                </a:lnSpc>
                <a:buFont typeface="Arial"/>
                <a:buChar char="•"/>
              </a:pPr>
              <a:r>
                <a:rPr lang="en-US" sz="1743">
                  <a:solidFill>
                    <a:srgbClr val="000000"/>
                  </a:solidFill>
                  <a:latin typeface="Arial"/>
                  <a:ea typeface="Arial"/>
                  <a:cs typeface="Arial"/>
                  <a:sym typeface="Arial"/>
                </a:rPr>
                <a:t>Instead of just displaying a raw risk percentage on a</a:t>
              </a:r>
              <a:r>
                <a:rPr lang="en-US" sz="1743">
                  <a:solidFill>
                    <a:srgbClr val="000000"/>
                  </a:solidFill>
                  <a:latin typeface="Arial"/>
                  <a:ea typeface="Arial"/>
                  <a:cs typeface="Arial"/>
                  <a:sym typeface="Arial"/>
                </a:rPr>
                <a:t> screen, we close the feedback loop by embedding an AI-driven</a:t>
              </a:r>
              <a:r>
                <a:rPr lang="en-US" sz="1743">
                  <a:solidFill>
                    <a:srgbClr val="000000"/>
                  </a:solidFill>
                  <a:latin typeface="Arial"/>
                  <a:ea typeface="Arial"/>
                  <a:cs typeface="Arial"/>
                  <a:sym typeface="Arial"/>
                </a:rPr>
                <a:t> Chatbot directly int</a:t>
              </a:r>
              <a:r>
                <a:rPr lang="en-US" sz="1743">
                  <a:solidFill>
                    <a:srgbClr val="000000"/>
                  </a:solidFill>
                  <a:latin typeface="Arial"/>
                  <a:ea typeface="Arial"/>
                  <a:cs typeface="Arial"/>
                  <a:sym typeface="Arial"/>
                </a:rPr>
                <a:t>o the Application Layer.</a:t>
              </a:r>
            </a:p>
          </p:txBody>
        </p:sp>
        <p:sp>
          <p:nvSpPr>
            <p:cNvPr name="TextBox 29" id="29"/>
            <p:cNvSpPr txBox="true"/>
            <p:nvPr/>
          </p:nvSpPr>
          <p:spPr>
            <a:xfrm rot="0">
              <a:off x="100934" y="2683366"/>
              <a:ext cx="7235057" cy="2361504"/>
            </a:xfrm>
            <a:prstGeom prst="rect">
              <a:avLst/>
            </a:prstGeom>
          </p:spPr>
          <p:txBody>
            <a:bodyPr anchor="t" rtlCol="false" tIns="0" lIns="0" bIns="0" rIns="0">
              <a:spAutoFit/>
            </a:bodyPr>
            <a:lstStyle/>
            <a:p>
              <a:pPr algn="l" marL="375666" indent="-187833" lvl="1">
                <a:lnSpc>
                  <a:spcPts val="2373"/>
                </a:lnSpc>
                <a:spcBef>
                  <a:spcPct val="0"/>
                </a:spcBef>
                <a:buFont typeface="Arial"/>
                <a:buChar char="•"/>
              </a:pPr>
              <a:r>
                <a:rPr lang="en-US" sz="1739">
                  <a:solidFill>
                    <a:srgbClr val="000000"/>
                  </a:solidFill>
                  <a:latin typeface="Arial"/>
                  <a:ea typeface="Arial"/>
                  <a:cs typeface="Arial"/>
                  <a:sym typeface="Arial"/>
                </a:rPr>
                <a:t>This Orche</a:t>
              </a:r>
              <a:r>
                <a:rPr lang="en-US" sz="1739">
                  <a:solidFill>
                    <a:srgbClr val="000000"/>
                  </a:solidFill>
                  <a:latin typeface="Arial"/>
                  <a:ea typeface="Arial"/>
                  <a:cs typeface="Arial"/>
                  <a:sym typeface="Arial"/>
                </a:rPr>
                <a:t>strator Agent aut</a:t>
              </a:r>
              <a:r>
                <a:rPr lang="en-US" sz="1739">
                  <a:solidFill>
                    <a:srgbClr val="000000"/>
                  </a:solidFill>
                  <a:latin typeface="Arial"/>
                  <a:ea typeface="Arial"/>
                  <a:cs typeface="Arial"/>
                  <a:sym typeface="Arial"/>
                </a:rPr>
                <a:t>om</a:t>
              </a:r>
              <a:r>
                <a:rPr lang="en-US" sz="1739">
                  <a:solidFill>
                    <a:srgbClr val="000000"/>
                  </a:solidFill>
                  <a:latin typeface="Arial"/>
                  <a:ea typeface="Arial"/>
                  <a:cs typeface="Arial"/>
                  <a:sym typeface="Arial"/>
                </a:rPr>
                <a:t>atica</a:t>
              </a:r>
              <a:r>
                <a:rPr lang="en-US" sz="1739">
                  <a:solidFill>
                    <a:srgbClr val="000000"/>
                  </a:solidFill>
                  <a:latin typeface="Arial"/>
                  <a:ea typeface="Arial"/>
                  <a:cs typeface="Arial"/>
                  <a:sym typeface="Arial"/>
                </a:rPr>
                <a:t>lly translates complex </a:t>
              </a:r>
              <a:r>
                <a:rPr lang="en-US" sz="1739">
                  <a:solidFill>
                    <a:srgbClr val="000000"/>
                  </a:solidFill>
                  <a:latin typeface="Arial"/>
                  <a:ea typeface="Arial"/>
                  <a:cs typeface="Arial"/>
                  <a:sym typeface="Arial"/>
                </a:rPr>
                <a:t>tensor outputs into plain-language, actionable interventions and advisories tailored for the farmer.</a:t>
              </a:r>
            </a:p>
            <a:p>
              <a:pPr algn="l">
                <a:lnSpc>
                  <a:spcPts val="2373"/>
                </a:lnSpc>
                <a:spcBef>
                  <a:spcPct val="0"/>
                </a:spcBef>
              </a:pPr>
            </a:p>
            <a:p>
              <a:pPr algn="ctr">
                <a:lnSpc>
                  <a:spcPts val="2373"/>
                </a:lnSpc>
                <a:spcBef>
                  <a:spcPct val="0"/>
                </a:spcBef>
              </a:pPr>
            </a:p>
          </p:txBody>
        </p:sp>
      </p:grpSp>
      <p:grpSp>
        <p:nvGrpSpPr>
          <p:cNvPr name="Group 30" id="30"/>
          <p:cNvGrpSpPr/>
          <p:nvPr/>
        </p:nvGrpSpPr>
        <p:grpSpPr>
          <a:xfrm rot="0">
            <a:off x="9506633" y="5648325"/>
            <a:ext cx="5827854" cy="3450278"/>
            <a:chOff x="0" y="0"/>
            <a:chExt cx="7770472" cy="4600370"/>
          </a:xfrm>
        </p:grpSpPr>
        <p:grpSp>
          <p:nvGrpSpPr>
            <p:cNvPr name="Group 31" id="31"/>
            <p:cNvGrpSpPr/>
            <p:nvPr/>
          </p:nvGrpSpPr>
          <p:grpSpPr>
            <a:xfrm rot="0">
              <a:off x="0" y="0"/>
              <a:ext cx="7770472" cy="4600370"/>
              <a:chOff x="0" y="0"/>
              <a:chExt cx="1534903" cy="908733"/>
            </a:xfrm>
          </p:grpSpPr>
          <p:sp>
            <p:nvSpPr>
              <p:cNvPr name="Freeform 32" id="32"/>
              <p:cNvSpPr/>
              <p:nvPr/>
            </p:nvSpPr>
            <p:spPr>
              <a:xfrm flipH="false" flipV="false" rot="0">
                <a:off x="0" y="0"/>
                <a:ext cx="1534903" cy="908733"/>
              </a:xfrm>
              <a:custGeom>
                <a:avLst/>
                <a:gdLst/>
                <a:ahLst/>
                <a:cxnLst/>
                <a:rect r="r" b="b" t="t" l="l"/>
                <a:pathLst>
                  <a:path h="908733" w="1534903">
                    <a:moveTo>
                      <a:pt x="1534903" y="54466"/>
                    </a:moveTo>
                    <a:lnTo>
                      <a:pt x="1534903" y="854267"/>
                    </a:lnTo>
                    <a:cubicBezTo>
                      <a:pt x="1534903" y="884348"/>
                      <a:pt x="1510517" y="908733"/>
                      <a:pt x="1480437" y="908733"/>
                    </a:cubicBezTo>
                    <a:lnTo>
                      <a:pt x="54466" y="908733"/>
                    </a:lnTo>
                    <a:cubicBezTo>
                      <a:pt x="24385" y="908733"/>
                      <a:pt x="0" y="884348"/>
                      <a:pt x="0" y="854267"/>
                    </a:cubicBezTo>
                    <a:lnTo>
                      <a:pt x="0" y="54466"/>
                    </a:lnTo>
                    <a:cubicBezTo>
                      <a:pt x="0" y="24385"/>
                      <a:pt x="24385" y="0"/>
                      <a:pt x="54466" y="0"/>
                    </a:cubicBezTo>
                    <a:lnTo>
                      <a:pt x="1480437" y="0"/>
                    </a:lnTo>
                    <a:cubicBezTo>
                      <a:pt x="1510517" y="0"/>
                      <a:pt x="1534903" y="24385"/>
                      <a:pt x="1534903" y="54466"/>
                    </a:cubicBezTo>
                    <a:close/>
                  </a:path>
                </a:pathLst>
              </a:custGeom>
              <a:solidFill>
                <a:srgbClr val="E1F4C4"/>
              </a:solidFill>
              <a:ln w="19050" cap="rnd">
                <a:solidFill>
                  <a:srgbClr val="746A6A"/>
                </a:solidFill>
                <a:prstDash val="solid"/>
                <a:round/>
              </a:ln>
            </p:spPr>
          </p:sp>
          <p:sp>
            <p:nvSpPr>
              <p:cNvPr name="TextBox 33" id="33"/>
              <p:cNvSpPr txBox="true"/>
              <p:nvPr/>
            </p:nvSpPr>
            <p:spPr>
              <a:xfrm>
                <a:off x="0" y="-47625"/>
                <a:ext cx="1534903" cy="956358"/>
              </a:xfrm>
              <a:prstGeom prst="rect">
                <a:avLst/>
              </a:prstGeom>
            </p:spPr>
            <p:txBody>
              <a:bodyPr anchor="ctr" rtlCol="false" tIns="50800" lIns="50800" bIns="50800" rIns="50800"/>
              <a:lstStyle/>
              <a:p>
                <a:pPr algn="ctr">
                  <a:lnSpc>
                    <a:spcPts val="2105"/>
                  </a:lnSpc>
                </a:pPr>
              </a:p>
            </p:txBody>
          </p:sp>
        </p:grpSp>
        <p:sp>
          <p:nvSpPr>
            <p:cNvPr name="TextBox 34" id="34"/>
            <p:cNvSpPr txBox="true"/>
            <p:nvPr/>
          </p:nvSpPr>
          <p:spPr>
            <a:xfrm rot="0">
              <a:off x="497303" y="253822"/>
              <a:ext cx="6977732" cy="438158"/>
            </a:xfrm>
            <a:prstGeom prst="rect">
              <a:avLst/>
            </a:prstGeom>
          </p:spPr>
          <p:txBody>
            <a:bodyPr anchor="t" rtlCol="false" tIns="0" lIns="0" bIns="0" rIns="0">
              <a:spAutoFit/>
            </a:bodyPr>
            <a:lstStyle/>
            <a:p>
              <a:pPr algn="ctr">
                <a:lnSpc>
                  <a:spcPts val="2650"/>
                </a:lnSpc>
                <a:spcBef>
                  <a:spcPct val="0"/>
                </a:spcBef>
              </a:pPr>
              <a:r>
                <a:rPr lang="en-US" b="true" sz="1943">
                  <a:solidFill>
                    <a:srgbClr val="000000"/>
                  </a:solidFill>
                  <a:latin typeface="Arial Bold"/>
                  <a:ea typeface="Arial Bold"/>
                  <a:cs typeface="Arial Bold"/>
                  <a:sym typeface="Arial Bold"/>
                </a:rPr>
                <a:t>I</a:t>
              </a:r>
              <a:r>
                <a:rPr lang="en-US" b="true" sz="1943">
                  <a:solidFill>
                    <a:srgbClr val="000000"/>
                  </a:solidFill>
                  <a:latin typeface="Arial Bold"/>
                  <a:ea typeface="Arial Bold"/>
                  <a:cs typeface="Arial Bold"/>
                  <a:sym typeface="Arial Bold"/>
                </a:rPr>
                <a:t>nteractive "What-If" Climate Simulations</a:t>
              </a:r>
            </a:p>
          </p:txBody>
        </p:sp>
        <p:sp>
          <p:nvSpPr>
            <p:cNvPr name="TextBox 35" id="35"/>
            <p:cNvSpPr txBox="true"/>
            <p:nvPr/>
          </p:nvSpPr>
          <p:spPr>
            <a:xfrm rot="0">
              <a:off x="100934" y="1089971"/>
              <a:ext cx="7568605" cy="1180312"/>
            </a:xfrm>
            <a:prstGeom prst="rect">
              <a:avLst/>
            </a:prstGeom>
          </p:spPr>
          <p:txBody>
            <a:bodyPr anchor="t" rtlCol="false" tIns="0" lIns="0" bIns="0" rIns="0">
              <a:spAutoFit/>
            </a:bodyPr>
            <a:lstStyle/>
            <a:p>
              <a:pPr algn="l" marL="376385" indent="-188192" lvl="1">
                <a:lnSpc>
                  <a:spcPts val="2377"/>
                </a:lnSpc>
                <a:buFont typeface="Arial"/>
                <a:buChar char="•"/>
              </a:pPr>
              <a:r>
                <a:rPr lang="en-US" sz="1743">
                  <a:solidFill>
                    <a:srgbClr val="000000"/>
                  </a:solidFill>
                  <a:latin typeface="Arial"/>
                  <a:ea typeface="Arial"/>
                  <a:cs typeface="Arial"/>
                  <a:sym typeface="Arial"/>
                </a:rPr>
                <a:t>We elevate the system from a passive "Digital Shadow" to a</a:t>
              </a:r>
              <a:r>
                <a:rPr lang="en-US" sz="1743">
                  <a:solidFill>
                    <a:srgbClr val="000000"/>
                  </a:solidFill>
                  <a:latin typeface="Arial"/>
                  <a:ea typeface="Arial"/>
                  <a:cs typeface="Arial"/>
                  <a:sym typeface="Arial"/>
                </a:rPr>
                <a:t> true Cognitive Digital Twin by enabling dynamic</a:t>
              </a:r>
              <a:r>
                <a:rPr lang="en-US" sz="1743">
                  <a:solidFill>
                    <a:srgbClr val="000000"/>
                  </a:solidFill>
                  <a:latin typeface="Arial"/>
                  <a:ea typeface="Arial"/>
                  <a:cs typeface="Arial"/>
                  <a:sym typeface="Arial"/>
                </a:rPr>
                <a:t> counterfactual t</a:t>
              </a:r>
              <a:r>
                <a:rPr lang="en-US" sz="1743">
                  <a:solidFill>
                    <a:srgbClr val="000000"/>
                  </a:solidFill>
                  <a:latin typeface="Arial"/>
                  <a:ea typeface="Arial"/>
                  <a:cs typeface="Arial"/>
                  <a:sym typeface="Arial"/>
                </a:rPr>
                <a:t>esting.</a:t>
              </a:r>
            </a:p>
          </p:txBody>
        </p:sp>
        <p:sp>
          <p:nvSpPr>
            <p:cNvPr name="TextBox 36" id="36"/>
            <p:cNvSpPr txBox="true"/>
            <p:nvPr/>
          </p:nvSpPr>
          <p:spPr>
            <a:xfrm rot="0">
              <a:off x="100934" y="2238866"/>
              <a:ext cx="7235057" cy="2361504"/>
            </a:xfrm>
            <a:prstGeom prst="rect">
              <a:avLst/>
            </a:prstGeom>
          </p:spPr>
          <p:txBody>
            <a:bodyPr anchor="t" rtlCol="false" tIns="0" lIns="0" bIns="0" rIns="0">
              <a:spAutoFit/>
            </a:bodyPr>
            <a:lstStyle/>
            <a:p>
              <a:pPr algn="l" marL="375666" indent="-187833" lvl="1">
                <a:lnSpc>
                  <a:spcPts val="2373"/>
                </a:lnSpc>
                <a:spcBef>
                  <a:spcPct val="0"/>
                </a:spcBef>
                <a:buFont typeface="Arial"/>
                <a:buChar char="•"/>
              </a:pPr>
              <a:r>
                <a:rPr lang="en-US" sz="1739">
                  <a:solidFill>
                    <a:srgbClr val="000000"/>
                  </a:solidFill>
                  <a:latin typeface="Arial"/>
                  <a:ea typeface="Arial"/>
                  <a:cs typeface="Arial"/>
                  <a:sym typeface="Arial"/>
                </a:rPr>
                <a:t>Our dashboa</a:t>
              </a:r>
              <a:r>
                <a:rPr lang="en-US" sz="1739">
                  <a:solidFill>
                    <a:srgbClr val="000000"/>
                  </a:solidFill>
                  <a:latin typeface="Arial"/>
                  <a:ea typeface="Arial"/>
                  <a:cs typeface="Arial"/>
                  <a:sym typeface="Arial"/>
                </a:rPr>
                <a:t>rd allows analysts t</a:t>
              </a:r>
              <a:r>
                <a:rPr lang="en-US" sz="1739">
                  <a:solidFill>
                    <a:srgbClr val="000000"/>
                  </a:solidFill>
                  <a:latin typeface="Arial"/>
                  <a:ea typeface="Arial"/>
                  <a:cs typeface="Arial"/>
                  <a:sym typeface="Arial"/>
                </a:rPr>
                <a:t>o dynam</a:t>
              </a:r>
              <a:r>
                <a:rPr lang="en-US" sz="1739">
                  <a:solidFill>
                    <a:srgbClr val="000000"/>
                  </a:solidFill>
                  <a:latin typeface="Arial"/>
                  <a:ea typeface="Arial"/>
                  <a:cs typeface="Arial"/>
                  <a:sym typeface="Arial"/>
                </a:rPr>
                <a:t>ica</a:t>
              </a:r>
              <a:r>
                <a:rPr lang="en-US" sz="1739">
                  <a:solidFill>
                    <a:srgbClr val="000000"/>
                  </a:solidFill>
                  <a:latin typeface="Arial"/>
                  <a:ea typeface="Arial"/>
                  <a:cs typeface="Arial"/>
                  <a:sym typeface="Arial"/>
                </a:rPr>
                <a:t>lly manipulate climate variabl</a:t>
              </a:r>
              <a:r>
                <a:rPr lang="en-US" sz="1739">
                  <a:solidFill>
                    <a:srgbClr val="000000"/>
                  </a:solidFill>
                  <a:latin typeface="Arial"/>
                  <a:ea typeface="Arial"/>
                  <a:cs typeface="Arial"/>
                  <a:sym typeface="Arial"/>
                </a:rPr>
                <a:t>es (temperature, humidity) and run Monte Carlo simulations to observe potential future disaster outcomes.</a:t>
              </a:r>
            </a:p>
            <a:p>
              <a:pPr algn="l">
                <a:lnSpc>
                  <a:spcPts val="2373"/>
                </a:lnSpc>
                <a:spcBef>
                  <a:spcPct val="0"/>
                </a:spcBef>
              </a:pPr>
            </a:p>
            <a:p>
              <a:pPr algn="ctr">
                <a:lnSpc>
                  <a:spcPts val="2373"/>
                </a:lnSpc>
                <a:spcBef>
                  <a:spcPct val="0"/>
                </a:spcBef>
              </a:pPr>
            </a:p>
          </p:txBody>
        </p:sp>
      </p:grpSp>
      <p:grpSp>
        <p:nvGrpSpPr>
          <p:cNvPr name="Group 37" id="37"/>
          <p:cNvGrpSpPr/>
          <p:nvPr/>
        </p:nvGrpSpPr>
        <p:grpSpPr>
          <a:xfrm rot="0">
            <a:off x="12229377" y="1655122"/>
            <a:ext cx="5827854" cy="3193103"/>
            <a:chOff x="0" y="0"/>
            <a:chExt cx="7770472" cy="4257470"/>
          </a:xfrm>
        </p:grpSpPr>
        <p:grpSp>
          <p:nvGrpSpPr>
            <p:cNvPr name="Group 38" id="38"/>
            <p:cNvGrpSpPr/>
            <p:nvPr/>
          </p:nvGrpSpPr>
          <p:grpSpPr>
            <a:xfrm rot="0">
              <a:off x="0" y="0"/>
              <a:ext cx="7770472" cy="4257470"/>
              <a:chOff x="0" y="0"/>
              <a:chExt cx="1534903" cy="840999"/>
            </a:xfrm>
          </p:grpSpPr>
          <p:sp>
            <p:nvSpPr>
              <p:cNvPr name="Freeform 39" id="39"/>
              <p:cNvSpPr/>
              <p:nvPr/>
            </p:nvSpPr>
            <p:spPr>
              <a:xfrm flipH="false" flipV="false" rot="0">
                <a:off x="0" y="0"/>
                <a:ext cx="1534903" cy="840998"/>
              </a:xfrm>
              <a:custGeom>
                <a:avLst/>
                <a:gdLst/>
                <a:ahLst/>
                <a:cxnLst/>
                <a:rect r="r" b="b" t="t" l="l"/>
                <a:pathLst>
                  <a:path h="840998" w="1534903">
                    <a:moveTo>
                      <a:pt x="1534903" y="54466"/>
                    </a:moveTo>
                    <a:lnTo>
                      <a:pt x="1534903" y="786533"/>
                    </a:lnTo>
                    <a:cubicBezTo>
                      <a:pt x="1534903" y="816613"/>
                      <a:pt x="1510517" y="840998"/>
                      <a:pt x="1480437" y="840998"/>
                    </a:cubicBezTo>
                    <a:lnTo>
                      <a:pt x="54466" y="840998"/>
                    </a:lnTo>
                    <a:cubicBezTo>
                      <a:pt x="24385" y="840998"/>
                      <a:pt x="0" y="816613"/>
                      <a:pt x="0" y="786533"/>
                    </a:cubicBezTo>
                    <a:lnTo>
                      <a:pt x="0" y="54466"/>
                    </a:lnTo>
                    <a:cubicBezTo>
                      <a:pt x="0" y="24385"/>
                      <a:pt x="24385" y="0"/>
                      <a:pt x="54466" y="0"/>
                    </a:cubicBezTo>
                    <a:lnTo>
                      <a:pt x="1480437" y="0"/>
                    </a:lnTo>
                    <a:cubicBezTo>
                      <a:pt x="1510517" y="0"/>
                      <a:pt x="1534903" y="24385"/>
                      <a:pt x="1534903" y="54466"/>
                    </a:cubicBezTo>
                    <a:close/>
                  </a:path>
                </a:pathLst>
              </a:custGeom>
              <a:solidFill>
                <a:srgbClr val="F9FFD7"/>
              </a:solidFill>
              <a:ln w="19050" cap="rnd">
                <a:solidFill>
                  <a:srgbClr val="746A6A"/>
                </a:solidFill>
                <a:prstDash val="solid"/>
                <a:round/>
              </a:ln>
            </p:spPr>
          </p:sp>
          <p:sp>
            <p:nvSpPr>
              <p:cNvPr name="TextBox 40" id="40"/>
              <p:cNvSpPr txBox="true"/>
              <p:nvPr/>
            </p:nvSpPr>
            <p:spPr>
              <a:xfrm>
                <a:off x="0" y="-47625"/>
                <a:ext cx="1534903" cy="888624"/>
              </a:xfrm>
              <a:prstGeom prst="rect">
                <a:avLst/>
              </a:prstGeom>
            </p:spPr>
            <p:txBody>
              <a:bodyPr anchor="ctr" rtlCol="false" tIns="50800" lIns="50800" bIns="50800" rIns="50800"/>
              <a:lstStyle/>
              <a:p>
                <a:pPr algn="ctr">
                  <a:lnSpc>
                    <a:spcPts val="2105"/>
                  </a:lnSpc>
                </a:pPr>
              </a:p>
            </p:txBody>
          </p:sp>
        </p:grpSp>
        <p:sp>
          <p:nvSpPr>
            <p:cNvPr name="TextBox 41" id="41"/>
            <p:cNvSpPr txBox="true"/>
            <p:nvPr/>
          </p:nvSpPr>
          <p:spPr>
            <a:xfrm rot="0">
              <a:off x="497303" y="253822"/>
              <a:ext cx="6977732" cy="882658"/>
            </a:xfrm>
            <a:prstGeom prst="rect">
              <a:avLst/>
            </a:prstGeom>
          </p:spPr>
          <p:txBody>
            <a:bodyPr anchor="t" rtlCol="false" tIns="0" lIns="0" bIns="0" rIns="0">
              <a:spAutoFit/>
            </a:bodyPr>
            <a:lstStyle/>
            <a:p>
              <a:pPr algn="ctr">
                <a:lnSpc>
                  <a:spcPts val="2650"/>
                </a:lnSpc>
                <a:spcBef>
                  <a:spcPct val="0"/>
                </a:spcBef>
              </a:pPr>
              <a:r>
                <a:rPr lang="en-US" b="true" sz="1943">
                  <a:solidFill>
                    <a:srgbClr val="000000"/>
                  </a:solidFill>
                  <a:latin typeface="Arial Bold"/>
                  <a:ea typeface="Arial Bold"/>
                  <a:cs typeface="Arial Bold"/>
                  <a:sym typeface="Arial Bold"/>
                </a:rPr>
                <a:t>M</a:t>
              </a:r>
              <a:r>
                <a:rPr lang="en-US" b="true" sz="1943">
                  <a:solidFill>
                    <a:srgbClr val="000000"/>
                  </a:solidFill>
                  <a:latin typeface="Arial Bold"/>
                  <a:ea typeface="Arial Bold"/>
                  <a:cs typeface="Arial Bold"/>
                  <a:sym typeface="Arial Bold"/>
                </a:rPr>
                <a:t>odel Interpretability Mapped to Biophysical Triggers</a:t>
              </a:r>
            </a:p>
          </p:txBody>
        </p:sp>
        <p:sp>
          <p:nvSpPr>
            <p:cNvPr name="TextBox 42" id="42"/>
            <p:cNvSpPr txBox="true"/>
            <p:nvPr/>
          </p:nvSpPr>
          <p:spPr>
            <a:xfrm rot="0">
              <a:off x="100934" y="1534471"/>
              <a:ext cx="7568605" cy="786612"/>
            </a:xfrm>
            <a:prstGeom prst="rect">
              <a:avLst/>
            </a:prstGeom>
          </p:spPr>
          <p:txBody>
            <a:bodyPr anchor="t" rtlCol="false" tIns="0" lIns="0" bIns="0" rIns="0">
              <a:spAutoFit/>
            </a:bodyPr>
            <a:lstStyle/>
            <a:p>
              <a:pPr algn="l" marL="376385" indent="-188192" lvl="1">
                <a:lnSpc>
                  <a:spcPts val="2377"/>
                </a:lnSpc>
                <a:buFont typeface="Arial"/>
                <a:buChar char="•"/>
              </a:pPr>
              <a:r>
                <a:rPr lang="en-US" sz="1743">
                  <a:solidFill>
                    <a:srgbClr val="000000"/>
                  </a:solidFill>
                  <a:latin typeface="Arial"/>
                  <a:ea typeface="Arial"/>
                  <a:cs typeface="Arial"/>
                  <a:sym typeface="Arial"/>
                </a:rPr>
                <a:t>We ensure high model interpret</a:t>
              </a:r>
              <a:r>
                <a:rPr lang="en-US" sz="1743">
                  <a:solidFill>
                    <a:srgbClr val="000000"/>
                  </a:solidFill>
                  <a:latin typeface="Arial"/>
                  <a:ea typeface="Arial"/>
                  <a:cs typeface="Arial"/>
                  <a:sym typeface="Arial"/>
                </a:rPr>
                <a:t>ability by extracting Temporal Attention Weights</a:t>
              </a:r>
              <a:r>
                <a:rPr lang="en-US" sz="1743">
                  <a:solidFill>
                    <a:srgbClr val="000000"/>
                  </a:solidFill>
                  <a:latin typeface="Arial"/>
                  <a:ea typeface="Arial"/>
                  <a:cs typeface="Arial"/>
                  <a:sym typeface="Arial"/>
                </a:rPr>
                <a:t> from </a:t>
              </a:r>
              <a:r>
                <a:rPr lang="en-US" sz="1743">
                  <a:solidFill>
                    <a:srgbClr val="000000"/>
                  </a:solidFill>
                  <a:latin typeface="Arial"/>
                  <a:ea typeface="Arial"/>
                  <a:cs typeface="Arial"/>
                  <a:sym typeface="Arial"/>
                </a:rPr>
                <a:t>our LSTM network.</a:t>
              </a:r>
            </a:p>
          </p:txBody>
        </p:sp>
        <p:sp>
          <p:nvSpPr>
            <p:cNvPr name="TextBox 43" id="43"/>
            <p:cNvSpPr txBox="true"/>
            <p:nvPr/>
          </p:nvSpPr>
          <p:spPr>
            <a:xfrm rot="0">
              <a:off x="100934" y="2289666"/>
              <a:ext cx="7235057" cy="1967804"/>
            </a:xfrm>
            <a:prstGeom prst="rect">
              <a:avLst/>
            </a:prstGeom>
          </p:spPr>
          <p:txBody>
            <a:bodyPr anchor="t" rtlCol="false" tIns="0" lIns="0" bIns="0" rIns="0">
              <a:spAutoFit/>
            </a:bodyPr>
            <a:lstStyle/>
            <a:p>
              <a:pPr algn="l" marL="375666" indent="-187833" lvl="1">
                <a:lnSpc>
                  <a:spcPts val="2373"/>
                </a:lnSpc>
                <a:spcBef>
                  <a:spcPct val="0"/>
                </a:spcBef>
                <a:buFont typeface="Arial"/>
                <a:buChar char="•"/>
              </a:pPr>
              <a:r>
                <a:rPr lang="en-US" sz="1739">
                  <a:solidFill>
                    <a:srgbClr val="000000"/>
                  </a:solidFill>
                  <a:latin typeface="Arial"/>
                  <a:ea typeface="Arial"/>
                  <a:cs typeface="Arial"/>
                  <a:sym typeface="Arial"/>
                </a:rPr>
                <a:t>We map these m</a:t>
              </a:r>
              <a:r>
                <a:rPr lang="en-US" sz="1739">
                  <a:solidFill>
                    <a:srgbClr val="000000"/>
                  </a:solidFill>
                  <a:latin typeface="Arial"/>
                  <a:ea typeface="Arial"/>
                  <a:cs typeface="Arial"/>
                  <a:sym typeface="Arial"/>
                </a:rPr>
                <a:t>athematical weights directly to physical agricultural</a:t>
              </a:r>
              <a:r>
                <a:rPr lang="en-US" sz="1739">
                  <a:solidFill>
                    <a:srgbClr val="000000"/>
                  </a:solidFill>
                  <a:latin typeface="Arial"/>
                  <a:ea typeface="Arial"/>
                  <a:cs typeface="Arial"/>
                  <a:sym typeface="Arial"/>
                </a:rPr>
                <a:t> stressors (e.g., autom</a:t>
              </a:r>
              <a:r>
                <a:rPr lang="en-US" sz="1739">
                  <a:solidFill>
                    <a:srgbClr val="000000"/>
                  </a:solidFill>
                  <a:latin typeface="Arial"/>
                  <a:ea typeface="Arial"/>
                  <a:cs typeface="Arial"/>
                  <a:sym typeface="Arial"/>
                </a:rPr>
                <a:t>atica</a:t>
              </a:r>
              <a:r>
                <a:rPr lang="en-US" sz="1739">
                  <a:solidFill>
                    <a:srgbClr val="000000"/>
                  </a:solidFill>
                  <a:latin typeface="Arial"/>
                  <a:ea typeface="Arial"/>
                  <a:cs typeface="Arial"/>
                  <a:sym typeface="Arial"/>
                </a:rPr>
                <a:t>lly flagging "Hig</a:t>
              </a:r>
              <a:r>
                <a:rPr lang="en-US" sz="1739">
                  <a:solidFill>
                    <a:srgbClr val="000000"/>
                  </a:solidFill>
                  <a:latin typeface="Arial"/>
                  <a:ea typeface="Arial"/>
                  <a:cs typeface="Arial"/>
                  <a:sym typeface="Arial"/>
                </a:rPr>
                <a:t>h risk due to week-4 thermal stress").</a:t>
              </a:r>
            </a:p>
            <a:p>
              <a:pPr algn="l">
                <a:lnSpc>
                  <a:spcPts val="2373"/>
                </a:lnSpc>
                <a:spcBef>
                  <a:spcPct val="0"/>
                </a:spcBef>
              </a:pPr>
            </a:p>
            <a:p>
              <a:pPr algn="ctr">
                <a:lnSpc>
                  <a:spcPts val="2373"/>
                </a:lnSpc>
                <a:spcBef>
                  <a:spcPct val="0"/>
                </a:spcBef>
              </a:pPr>
            </a:p>
          </p:txBody>
        </p:sp>
      </p:gr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17653" y="-170330"/>
            <a:ext cx="18923306" cy="10700437"/>
            <a:chOff x="0" y="0"/>
            <a:chExt cx="4983916" cy="2818222"/>
          </a:xfrm>
        </p:grpSpPr>
        <p:sp>
          <p:nvSpPr>
            <p:cNvPr name="Freeform 3" id="3"/>
            <p:cNvSpPr/>
            <p:nvPr/>
          </p:nvSpPr>
          <p:spPr>
            <a:xfrm flipH="false" flipV="false" rot="0">
              <a:off x="0" y="0"/>
              <a:ext cx="4983916" cy="2818222"/>
            </a:xfrm>
            <a:custGeom>
              <a:avLst/>
              <a:gdLst/>
              <a:ahLst/>
              <a:cxnLst/>
              <a:rect r="r" b="b" t="t" l="l"/>
              <a:pathLst>
                <a:path h="2818222" w="4983916">
                  <a:moveTo>
                    <a:pt x="40912" y="0"/>
                  </a:moveTo>
                  <a:lnTo>
                    <a:pt x="4943004" y="0"/>
                  </a:lnTo>
                  <a:cubicBezTo>
                    <a:pt x="4953855" y="0"/>
                    <a:pt x="4964261" y="4310"/>
                    <a:pt x="4971933" y="11983"/>
                  </a:cubicBezTo>
                  <a:cubicBezTo>
                    <a:pt x="4979606" y="19655"/>
                    <a:pt x="4983916" y="30062"/>
                    <a:pt x="4983916" y="40912"/>
                  </a:cubicBezTo>
                  <a:lnTo>
                    <a:pt x="4983916" y="2777310"/>
                  </a:lnTo>
                  <a:cubicBezTo>
                    <a:pt x="4983916" y="2788161"/>
                    <a:pt x="4979606" y="2798567"/>
                    <a:pt x="4971933" y="2806239"/>
                  </a:cubicBezTo>
                  <a:cubicBezTo>
                    <a:pt x="4964261" y="2813912"/>
                    <a:pt x="4953855" y="2818222"/>
                    <a:pt x="4943004" y="2818222"/>
                  </a:cubicBezTo>
                  <a:lnTo>
                    <a:pt x="40912" y="2818222"/>
                  </a:lnTo>
                  <a:cubicBezTo>
                    <a:pt x="30062" y="2818222"/>
                    <a:pt x="19655" y="2813912"/>
                    <a:pt x="11983" y="2806239"/>
                  </a:cubicBezTo>
                  <a:cubicBezTo>
                    <a:pt x="4310" y="2798567"/>
                    <a:pt x="0" y="2788161"/>
                    <a:pt x="0" y="2777310"/>
                  </a:cubicBezTo>
                  <a:lnTo>
                    <a:pt x="0" y="40912"/>
                  </a:lnTo>
                  <a:cubicBezTo>
                    <a:pt x="0" y="30062"/>
                    <a:pt x="4310" y="19655"/>
                    <a:pt x="11983" y="11983"/>
                  </a:cubicBezTo>
                  <a:cubicBezTo>
                    <a:pt x="19655" y="4310"/>
                    <a:pt x="30062" y="0"/>
                    <a:pt x="40912" y="0"/>
                  </a:cubicBezTo>
                  <a:close/>
                </a:path>
              </a:pathLst>
            </a:custGeom>
            <a:solidFill>
              <a:srgbClr val="6B95E0"/>
            </a:solidFill>
            <a:ln cap="rnd">
              <a:noFill/>
              <a:prstDash val="solid"/>
              <a:round/>
            </a:ln>
          </p:spPr>
        </p:sp>
        <p:sp>
          <p:nvSpPr>
            <p:cNvPr name="TextBox 4" id="4"/>
            <p:cNvSpPr txBox="true"/>
            <p:nvPr/>
          </p:nvSpPr>
          <p:spPr>
            <a:xfrm>
              <a:off x="0" y="-47625"/>
              <a:ext cx="4983916" cy="286584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1710" y="357961"/>
            <a:ext cx="17869653" cy="9571077"/>
            <a:chOff x="0" y="0"/>
            <a:chExt cx="4706411" cy="2520778"/>
          </a:xfrm>
        </p:grpSpPr>
        <p:sp>
          <p:nvSpPr>
            <p:cNvPr name="Freeform 6" id="6"/>
            <p:cNvSpPr/>
            <p:nvPr/>
          </p:nvSpPr>
          <p:spPr>
            <a:xfrm flipH="false" flipV="false" rot="0">
              <a:off x="0" y="0"/>
              <a:ext cx="4706410" cy="2520778"/>
            </a:xfrm>
            <a:custGeom>
              <a:avLst/>
              <a:gdLst/>
              <a:ahLst/>
              <a:cxnLst/>
              <a:rect r="r" b="b" t="t" l="l"/>
              <a:pathLst>
                <a:path h="2520778" w="4706410">
                  <a:moveTo>
                    <a:pt x="43324" y="0"/>
                  </a:moveTo>
                  <a:lnTo>
                    <a:pt x="4663086" y="0"/>
                  </a:lnTo>
                  <a:cubicBezTo>
                    <a:pt x="4687014" y="0"/>
                    <a:pt x="4706410" y="19397"/>
                    <a:pt x="4706410" y="43324"/>
                  </a:cubicBezTo>
                  <a:lnTo>
                    <a:pt x="4706410" y="2477453"/>
                  </a:lnTo>
                  <a:cubicBezTo>
                    <a:pt x="4706410" y="2501380"/>
                    <a:pt x="4687014" y="2520778"/>
                    <a:pt x="4663086" y="2520778"/>
                  </a:cubicBezTo>
                  <a:lnTo>
                    <a:pt x="43324" y="2520778"/>
                  </a:lnTo>
                  <a:cubicBezTo>
                    <a:pt x="19397" y="2520778"/>
                    <a:pt x="0" y="2501380"/>
                    <a:pt x="0" y="2477453"/>
                  </a:cubicBezTo>
                  <a:lnTo>
                    <a:pt x="0" y="43324"/>
                  </a:lnTo>
                  <a:cubicBezTo>
                    <a:pt x="0" y="19397"/>
                    <a:pt x="19397" y="0"/>
                    <a:pt x="43324" y="0"/>
                  </a:cubicBezTo>
                  <a:close/>
                </a:path>
              </a:pathLst>
            </a:custGeom>
            <a:solidFill>
              <a:srgbClr val="FFFFFE"/>
            </a:solidFill>
            <a:ln cap="rnd">
              <a:noFill/>
              <a:prstDash val="solid"/>
              <a:round/>
            </a:ln>
          </p:spPr>
        </p:sp>
        <p:sp>
          <p:nvSpPr>
            <p:cNvPr name="TextBox 7" id="7"/>
            <p:cNvSpPr txBox="true"/>
            <p:nvPr/>
          </p:nvSpPr>
          <p:spPr>
            <a:xfrm>
              <a:off x="0" y="-47625"/>
              <a:ext cx="4706411" cy="2568403"/>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417799" y="990600"/>
            <a:ext cx="5485954" cy="578130"/>
          </a:xfrm>
          <a:prstGeom prst="rect">
            <a:avLst/>
          </a:prstGeom>
        </p:spPr>
        <p:txBody>
          <a:bodyPr anchor="t" rtlCol="false" tIns="0" lIns="0" bIns="0" rIns="0">
            <a:spAutoFit/>
          </a:bodyPr>
          <a:lstStyle/>
          <a:p>
            <a:pPr algn="ctr">
              <a:lnSpc>
                <a:spcPts val="4492"/>
              </a:lnSpc>
              <a:spcBef>
                <a:spcPct val="0"/>
              </a:spcBef>
            </a:pPr>
            <a:r>
              <a:rPr lang="en-US" b="true" sz="3599">
                <a:solidFill>
                  <a:srgbClr val="000000"/>
                </a:solidFill>
                <a:latin typeface="Times New Roman Bold"/>
                <a:ea typeface="Times New Roman Bold"/>
                <a:cs typeface="Times New Roman Bold"/>
                <a:sym typeface="Times New Roman Bold"/>
              </a:rPr>
              <a:t>PROBLEM STATEMENT :</a:t>
            </a:r>
          </a:p>
        </p:txBody>
      </p:sp>
      <p:sp>
        <p:nvSpPr>
          <p:cNvPr name="TextBox 9" id="9"/>
          <p:cNvSpPr txBox="true"/>
          <p:nvPr/>
        </p:nvSpPr>
        <p:spPr>
          <a:xfrm rot="0">
            <a:off x="417799" y="1957270"/>
            <a:ext cx="16947071" cy="1490320"/>
          </a:xfrm>
          <a:prstGeom prst="rect">
            <a:avLst/>
          </a:prstGeom>
        </p:spPr>
        <p:txBody>
          <a:bodyPr anchor="t" rtlCol="false" tIns="0" lIns="0" bIns="0" rIns="0">
            <a:spAutoFit/>
          </a:bodyPr>
          <a:lstStyle/>
          <a:p>
            <a:pPr algn="l">
              <a:lnSpc>
                <a:spcPts val="2995"/>
              </a:lnSpc>
              <a:spcBef>
                <a:spcPct val="0"/>
              </a:spcBef>
            </a:pPr>
            <a:r>
              <a:rPr lang="en-US" b="true" sz="2400">
                <a:solidFill>
                  <a:srgbClr val="000000"/>
                </a:solidFill>
                <a:latin typeface="Arimo Bold"/>
                <a:ea typeface="Arimo Bold"/>
                <a:cs typeface="Arimo Bold"/>
                <a:sym typeface="Arimo Bold"/>
              </a:rPr>
              <a:t>T</a:t>
            </a:r>
            <a:r>
              <a:rPr lang="en-US" b="true" sz="2400">
                <a:solidFill>
                  <a:srgbClr val="000000"/>
                </a:solidFill>
                <a:latin typeface="Arimo Bold"/>
                <a:ea typeface="Arimo Bold"/>
                <a:cs typeface="Arimo Bold"/>
                <a:sym typeface="Arimo Bold"/>
              </a:rPr>
              <a:t>o design and develop a Cognitive Digital Twin that integrates 20 years of historical yield data (APY Data by Govt. of Odisha) with continuous NASA POWER weather telemetry to accurately forecast crop yield, classify failure anomalies using an intelligent prediction engine, and provide explainable Decision Support System (DSS) and can run "what-if" simulations. </a:t>
            </a:r>
          </a:p>
        </p:txBody>
      </p:sp>
      <p:sp>
        <p:nvSpPr>
          <p:cNvPr name="AutoShape 10" id="10"/>
          <p:cNvSpPr/>
          <p:nvPr/>
        </p:nvSpPr>
        <p:spPr>
          <a:xfrm flipV="true">
            <a:off x="417799" y="1568730"/>
            <a:ext cx="5254698" cy="19050"/>
          </a:xfrm>
          <a:prstGeom prst="line">
            <a:avLst/>
          </a:prstGeom>
          <a:ln cap="flat" w="38100">
            <a:solidFill>
              <a:srgbClr val="FF3131"/>
            </a:solidFill>
            <a:prstDash val="solid"/>
            <a:headEnd type="none" len="sm" w="sm"/>
            <a:tailEnd type="none" len="sm" w="sm"/>
          </a:ln>
        </p:spPr>
      </p:sp>
      <p:grpSp>
        <p:nvGrpSpPr>
          <p:cNvPr name="Group 11" id="11"/>
          <p:cNvGrpSpPr/>
          <p:nvPr/>
        </p:nvGrpSpPr>
        <p:grpSpPr>
          <a:xfrm rot="0">
            <a:off x="417799" y="3817081"/>
            <a:ext cx="3162642" cy="559079"/>
            <a:chOff x="0" y="0"/>
            <a:chExt cx="4216856" cy="745439"/>
          </a:xfrm>
        </p:grpSpPr>
        <p:sp>
          <p:nvSpPr>
            <p:cNvPr name="TextBox 12" id="12"/>
            <p:cNvSpPr txBox="true"/>
            <p:nvPr/>
          </p:nvSpPr>
          <p:spPr>
            <a:xfrm rot="0">
              <a:off x="59" y="-38100"/>
              <a:ext cx="4216797" cy="758139"/>
            </a:xfrm>
            <a:prstGeom prst="rect">
              <a:avLst/>
            </a:prstGeom>
          </p:spPr>
          <p:txBody>
            <a:bodyPr anchor="t" rtlCol="false" tIns="0" lIns="0" bIns="0" rIns="0">
              <a:spAutoFit/>
            </a:bodyPr>
            <a:lstStyle/>
            <a:p>
              <a:pPr algn="ctr">
                <a:lnSpc>
                  <a:spcPts val="4492"/>
                </a:lnSpc>
                <a:spcBef>
                  <a:spcPct val="0"/>
                </a:spcBef>
              </a:pPr>
              <a:r>
                <a:rPr lang="en-US" b="true" sz="3599">
                  <a:solidFill>
                    <a:srgbClr val="000000"/>
                  </a:solidFill>
                  <a:latin typeface="Times New Roman Bold"/>
                  <a:ea typeface="Times New Roman Bold"/>
                  <a:cs typeface="Times New Roman Bold"/>
                  <a:sym typeface="Times New Roman Bold"/>
                </a:rPr>
                <a:t>OBJECTIVES :</a:t>
              </a:r>
            </a:p>
          </p:txBody>
        </p:sp>
        <p:sp>
          <p:nvSpPr>
            <p:cNvPr name="AutoShape 13" id="13"/>
            <p:cNvSpPr/>
            <p:nvPr/>
          </p:nvSpPr>
          <p:spPr>
            <a:xfrm>
              <a:off x="158" y="694639"/>
              <a:ext cx="4075278" cy="25400"/>
            </a:xfrm>
            <a:prstGeom prst="line">
              <a:avLst/>
            </a:prstGeom>
            <a:ln cap="flat" w="50800">
              <a:solidFill>
                <a:srgbClr val="FF3131"/>
              </a:solidFill>
              <a:prstDash val="solid"/>
              <a:headEnd type="none" len="sm" w="sm"/>
              <a:tailEnd type="none" len="sm" w="sm"/>
            </a:ln>
          </p:spPr>
        </p:sp>
      </p:grpSp>
      <p:sp>
        <p:nvSpPr>
          <p:cNvPr name="TextBox 14" id="14"/>
          <p:cNvSpPr txBox="true"/>
          <p:nvPr/>
        </p:nvSpPr>
        <p:spPr>
          <a:xfrm rot="0">
            <a:off x="417799" y="8316801"/>
            <a:ext cx="16025729" cy="719709"/>
          </a:xfrm>
          <a:prstGeom prst="rect">
            <a:avLst/>
          </a:prstGeom>
        </p:spPr>
        <p:txBody>
          <a:bodyPr anchor="t" rtlCol="false" tIns="0" lIns="0" bIns="0" rIns="0">
            <a:spAutoFit/>
          </a:bodyPr>
          <a:lstStyle/>
          <a:p>
            <a:pPr algn="l">
              <a:lnSpc>
                <a:spcPts val="2855"/>
              </a:lnSpc>
              <a:spcBef>
                <a:spcPct val="0"/>
              </a:spcBef>
            </a:pPr>
            <a:r>
              <a:rPr lang="en-US" sz="2039">
                <a:solidFill>
                  <a:srgbClr val="000000"/>
                </a:solidFill>
                <a:latin typeface="Arimo"/>
                <a:ea typeface="Arimo"/>
                <a:cs typeface="Arimo"/>
                <a:sym typeface="Arimo"/>
              </a:rPr>
              <a:t>5.</a:t>
            </a:r>
            <a:r>
              <a:rPr lang="en-US" b="true" sz="2039">
                <a:solidFill>
                  <a:srgbClr val="000000"/>
                </a:solidFill>
                <a:latin typeface="Arimo Bold"/>
                <a:ea typeface="Arimo Bold"/>
                <a:cs typeface="Arimo Bold"/>
                <a:sym typeface="Arimo Bold"/>
              </a:rPr>
              <a:t>C</a:t>
            </a:r>
            <a:r>
              <a:rPr lang="en-US" b="true" sz="2039">
                <a:solidFill>
                  <a:srgbClr val="000000"/>
                </a:solidFill>
                <a:latin typeface="Arimo Bold"/>
                <a:ea typeface="Arimo Bold"/>
                <a:cs typeface="Arimo Bold"/>
                <a:sym typeface="Arimo Bold"/>
              </a:rPr>
              <a:t>onstruct an interactive Digital Twin dashboard : </a:t>
            </a:r>
            <a:r>
              <a:rPr lang="en-US" sz="2039">
                <a:solidFill>
                  <a:srgbClr val="000000"/>
                </a:solidFill>
                <a:latin typeface="Arimo"/>
                <a:ea typeface="Arimo"/>
                <a:cs typeface="Arimo"/>
                <a:sym typeface="Arimo"/>
              </a:rPr>
              <a:t>A Dashboard that empowers stakeholders to run counterfactual "what-if" climate simulations .</a:t>
            </a:r>
          </a:p>
        </p:txBody>
      </p:sp>
      <p:sp>
        <p:nvSpPr>
          <p:cNvPr name="TextBox 15" id="15"/>
          <p:cNvSpPr txBox="true"/>
          <p:nvPr/>
        </p:nvSpPr>
        <p:spPr>
          <a:xfrm rot="0">
            <a:off x="403885" y="7471987"/>
            <a:ext cx="16367456" cy="635264"/>
          </a:xfrm>
          <a:prstGeom prst="rect">
            <a:avLst/>
          </a:prstGeom>
        </p:spPr>
        <p:txBody>
          <a:bodyPr anchor="t" rtlCol="false" tIns="0" lIns="0" bIns="0" rIns="0">
            <a:spAutoFit/>
          </a:bodyPr>
          <a:lstStyle/>
          <a:p>
            <a:pPr algn="l">
              <a:lnSpc>
                <a:spcPts val="2545"/>
              </a:lnSpc>
              <a:spcBef>
                <a:spcPct val="0"/>
              </a:spcBef>
            </a:pPr>
            <a:r>
              <a:rPr lang="en-US" sz="2039">
                <a:solidFill>
                  <a:srgbClr val="000000"/>
                </a:solidFill>
                <a:latin typeface="Arimo"/>
                <a:ea typeface="Arimo"/>
                <a:cs typeface="Arimo"/>
                <a:sym typeface="Arimo"/>
              </a:rPr>
              <a:t>4.</a:t>
            </a:r>
            <a:r>
              <a:rPr lang="en-US" b="true" sz="2039">
                <a:solidFill>
                  <a:srgbClr val="000000"/>
                </a:solidFill>
                <a:latin typeface="Arimo Bold"/>
                <a:ea typeface="Arimo Bold"/>
                <a:cs typeface="Arimo Bold"/>
                <a:sym typeface="Arimo Bold"/>
              </a:rPr>
              <a:t>Depl</a:t>
            </a:r>
            <a:r>
              <a:rPr lang="en-US" b="true" sz="2039">
                <a:solidFill>
                  <a:srgbClr val="000000"/>
                </a:solidFill>
                <a:latin typeface="Arimo Bold"/>
                <a:ea typeface="Arimo Bold"/>
                <a:cs typeface="Arimo Bold"/>
                <a:sym typeface="Arimo Bold"/>
              </a:rPr>
              <a:t>oy an intelligent Decision Support System (DSS)</a:t>
            </a:r>
            <a:r>
              <a:rPr lang="en-US" sz="2039">
                <a:solidFill>
                  <a:srgbClr val="000000"/>
                </a:solidFill>
                <a:latin typeface="Arimo"/>
                <a:ea typeface="Arimo"/>
                <a:cs typeface="Arimo"/>
                <a:sym typeface="Arimo"/>
              </a:rPr>
              <a:t> : A natural language query-response interface for easy interaction with the predictive models</a:t>
            </a:r>
          </a:p>
        </p:txBody>
      </p:sp>
      <p:sp>
        <p:nvSpPr>
          <p:cNvPr name="TextBox 16" id="16"/>
          <p:cNvSpPr txBox="true"/>
          <p:nvPr/>
        </p:nvSpPr>
        <p:spPr>
          <a:xfrm rot="0">
            <a:off x="403885" y="4728585"/>
            <a:ext cx="16841501" cy="635258"/>
          </a:xfrm>
          <a:prstGeom prst="rect">
            <a:avLst/>
          </a:prstGeom>
        </p:spPr>
        <p:txBody>
          <a:bodyPr anchor="t" rtlCol="false" tIns="0" lIns="0" bIns="0" rIns="0">
            <a:spAutoFit/>
          </a:bodyPr>
          <a:lstStyle/>
          <a:p>
            <a:pPr algn="l">
              <a:lnSpc>
                <a:spcPts val="2547"/>
              </a:lnSpc>
            </a:pPr>
            <a:r>
              <a:rPr lang="en-US" sz="2040">
                <a:solidFill>
                  <a:srgbClr val="000000"/>
                </a:solidFill>
                <a:latin typeface="Arimo"/>
                <a:ea typeface="Arimo"/>
                <a:cs typeface="Arimo"/>
                <a:sym typeface="Arimo"/>
              </a:rPr>
              <a:t>1.</a:t>
            </a:r>
            <a:r>
              <a:rPr lang="en-US" b="true" sz="2040">
                <a:solidFill>
                  <a:srgbClr val="000000"/>
                </a:solidFill>
                <a:latin typeface="Arimo Bold"/>
                <a:ea typeface="Arimo Bold"/>
                <a:cs typeface="Arimo Bold"/>
                <a:sym typeface="Arimo Bold"/>
              </a:rPr>
              <a:t>Enginee</a:t>
            </a:r>
            <a:r>
              <a:rPr lang="en-US" b="true" sz="2040">
                <a:solidFill>
                  <a:srgbClr val="000000"/>
                </a:solidFill>
                <a:latin typeface="Arimo Bold"/>
                <a:ea typeface="Arimo Bold"/>
                <a:cs typeface="Arimo Bold"/>
                <a:sym typeface="Arimo Bold"/>
              </a:rPr>
              <a:t>r an automated data pipeline : </a:t>
            </a:r>
            <a:r>
              <a:rPr lang="en-US" sz="2040">
                <a:solidFill>
                  <a:srgbClr val="000000"/>
                </a:solidFill>
                <a:latin typeface="Arimo"/>
                <a:ea typeface="Arimo"/>
                <a:cs typeface="Arimo"/>
                <a:sym typeface="Arimo"/>
              </a:rPr>
              <a:t>A pipeline that harmonizes two decades of historical crop yield statistics with continuous, satellite-based weather telemetry from the </a:t>
            </a:r>
            <a:r>
              <a:rPr lang="en-US" b="true" sz="2040">
                <a:solidFill>
                  <a:srgbClr val="000000"/>
                </a:solidFill>
                <a:latin typeface="Arimo Bold"/>
                <a:ea typeface="Arimo Bold"/>
                <a:cs typeface="Arimo Bold"/>
                <a:sym typeface="Arimo Bold"/>
              </a:rPr>
              <a:t>NASA POWER API.</a:t>
            </a:r>
          </a:p>
        </p:txBody>
      </p:sp>
      <p:sp>
        <p:nvSpPr>
          <p:cNvPr name="TextBox 17" id="17"/>
          <p:cNvSpPr txBox="true"/>
          <p:nvPr/>
        </p:nvSpPr>
        <p:spPr>
          <a:xfrm rot="0">
            <a:off x="417799" y="5606438"/>
            <a:ext cx="16960985" cy="635264"/>
          </a:xfrm>
          <a:prstGeom prst="rect">
            <a:avLst/>
          </a:prstGeom>
        </p:spPr>
        <p:txBody>
          <a:bodyPr anchor="t" rtlCol="false" tIns="0" lIns="0" bIns="0" rIns="0">
            <a:spAutoFit/>
          </a:bodyPr>
          <a:lstStyle/>
          <a:p>
            <a:pPr algn="l">
              <a:lnSpc>
                <a:spcPts val="2545"/>
              </a:lnSpc>
              <a:spcBef>
                <a:spcPct val="0"/>
              </a:spcBef>
            </a:pPr>
            <a:r>
              <a:rPr lang="en-US" sz="2039">
                <a:solidFill>
                  <a:srgbClr val="000000"/>
                </a:solidFill>
                <a:latin typeface="Arimo"/>
                <a:ea typeface="Arimo"/>
                <a:cs typeface="Arimo"/>
                <a:sym typeface="Arimo"/>
              </a:rPr>
              <a:t>2.</a:t>
            </a:r>
            <a:r>
              <a:rPr lang="en-US" b="true" sz="2039">
                <a:solidFill>
                  <a:srgbClr val="000000"/>
                </a:solidFill>
                <a:latin typeface="Arimo Bold"/>
                <a:ea typeface="Arimo Bold"/>
                <a:cs typeface="Arimo Bold"/>
                <a:sym typeface="Arimo Bold"/>
              </a:rPr>
              <a:t>F</a:t>
            </a:r>
            <a:r>
              <a:rPr lang="en-US" b="true" sz="2039">
                <a:solidFill>
                  <a:srgbClr val="000000"/>
                </a:solidFill>
                <a:latin typeface="Arimo Bold"/>
                <a:ea typeface="Arimo Bold"/>
                <a:cs typeface="Arimo Bold"/>
                <a:sym typeface="Arimo Bold"/>
              </a:rPr>
              <a:t>ormulate a statistical framework: </a:t>
            </a:r>
            <a:r>
              <a:rPr lang="en-US" sz="2039">
                <a:solidFill>
                  <a:srgbClr val="000000"/>
                </a:solidFill>
                <a:latin typeface="Arimo"/>
                <a:ea typeface="Arimo"/>
                <a:cs typeface="Arimo"/>
                <a:sym typeface="Arimo"/>
              </a:rPr>
              <a:t>A framework that accurately defines, quantifies, and labels district-level crop failure anomalies for machine learning tasks.</a:t>
            </a:r>
          </a:p>
        </p:txBody>
      </p:sp>
      <p:sp>
        <p:nvSpPr>
          <p:cNvPr name="TextBox 18" id="18"/>
          <p:cNvSpPr txBox="true"/>
          <p:nvPr/>
        </p:nvSpPr>
        <p:spPr>
          <a:xfrm rot="0">
            <a:off x="417799" y="6484297"/>
            <a:ext cx="16637951" cy="635264"/>
          </a:xfrm>
          <a:prstGeom prst="rect">
            <a:avLst/>
          </a:prstGeom>
        </p:spPr>
        <p:txBody>
          <a:bodyPr anchor="t" rtlCol="false" tIns="0" lIns="0" bIns="0" rIns="0">
            <a:spAutoFit/>
          </a:bodyPr>
          <a:lstStyle/>
          <a:p>
            <a:pPr algn="l">
              <a:lnSpc>
                <a:spcPts val="2545"/>
              </a:lnSpc>
              <a:spcBef>
                <a:spcPct val="0"/>
              </a:spcBef>
            </a:pPr>
            <a:r>
              <a:rPr lang="en-US" sz="2039">
                <a:solidFill>
                  <a:srgbClr val="000000"/>
                </a:solidFill>
                <a:latin typeface="Arimo"/>
                <a:ea typeface="Arimo"/>
                <a:cs typeface="Arimo"/>
                <a:sym typeface="Arimo"/>
              </a:rPr>
              <a:t>3.</a:t>
            </a:r>
            <a:r>
              <a:rPr lang="en-US" b="true" sz="2039">
                <a:solidFill>
                  <a:srgbClr val="000000"/>
                </a:solidFill>
                <a:latin typeface="Arimo Bold"/>
                <a:ea typeface="Arimo Bold"/>
                <a:cs typeface="Arimo Bold"/>
                <a:sym typeface="Arimo Bold"/>
              </a:rPr>
              <a:t>Design and train a dual-p</a:t>
            </a:r>
            <a:r>
              <a:rPr lang="en-US" b="true" sz="2039">
                <a:solidFill>
                  <a:srgbClr val="000000"/>
                </a:solidFill>
                <a:latin typeface="Arimo Bold"/>
                <a:ea typeface="Arimo Bold"/>
                <a:cs typeface="Arimo Bold"/>
                <a:sym typeface="Arimo Bold"/>
              </a:rPr>
              <a:t>urpose predictive engine :  </a:t>
            </a:r>
            <a:r>
              <a:rPr lang="en-US" sz="2039">
                <a:solidFill>
                  <a:srgbClr val="000000"/>
                </a:solidFill>
                <a:latin typeface="Arimo"/>
                <a:ea typeface="Arimo"/>
                <a:cs typeface="Arimo"/>
                <a:sym typeface="Arimo"/>
              </a:rPr>
              <a:t>capable of forecasting continuous seasonal crop yields while simultaneously classifying the probability of imminent crop failure.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17653" y="-170330"/>
            <a:ext cx="18923306" cy="10700437"/>
            <a:chOff x="0" y="0"/>
            <a:chExt cx="4983916" cy="2818222"/>
          </a:xfrm>
        </p:grpSpPr>
        <p:sp>
          <p:nvSpPr>
            <p:cNvPr name="Freeform 3" id="3"/>
            <p:cNvSpPr/>
            <p:nvPr/>
          </p:nvSpPr>
          <p:spPr>
            <a:xfrm flipH="false" flipV="false" rot="0">
              <a:off x="0" y="0"/>
              <a:ext cx="4983916" cy="2818222"/>
            </a:xfrm>
            <a:custGeom>
              <a:avLst/>
              <a:gdLst/>
              <a:ahLst/>
              <a:cxnLst/>
              <a:rect r="r" b="b" t="t" l="l"/>
              <a:pathLst>
                <a:path h="2818222" w="4983916">
                  <a:moveTo>
                    <a:pt x="40912" y="0"/>
                  </a:moveTo>
                  <a:lnTo>
                    <a:pt x="4943004" y="0"/>
                  </a:lnTo>
                  <a:cubicBezTo>
                    <a:pt x="4953855" y="0"/>
                    <a:pt x="4964261" y="4310"/>
                    <a:pt x="4971933" y="11983"/>
                  </a:cubicBezTo>
                  <a:cubicBezTo>
                    <a:pt x="4979606" y="19655"/>
                    <a:pt x="4983916" y="30062"/>
                    <a:pt x="4983916" y="40912"/>
                  </a:cubicBezTo>
                  <a:lnTo>
                    <a:pt x="4983916" y="2777310"/>
                  </a:lnTo>
                  <a:cubicBezTo>
                    <a:pt x="4983916" y="2788161"/>
                    <a:pt x="4979606" y="2798567"/>
                    <a:pt x="4971933" y="2806239"/>
                  </a:cubicBezTo>
                  <a:cubicBezTo>
                    <a:pt x="4964261" y="2813912"/>
                    <a:pt x="4953855" y="2818222"/>
                    <a:pt x="4943004" y="2818222"/>
                  </a:cubicBezTo>
                  <a:lnTo>
                    <a:pt x="40912" y="2818222"/>
                  </a:lnTo>
                  <a:cubicBezTo>
                    <a:pt x="30062" y="2818222"/>
                    <a:pt x="19655" y="2813912"/>
                    <a:pt x="11983" y="2806239"/>
                  </a:cubicBezTo>
                  <a:cubicBezTo>
                    <a:pt x="4310" y="2798567"/>
                    <a:pt x="0" y="2788161"/>
                    <a:pt x="0" y="2777310"/>
                  </a:cubicBezTo>
                  <a:lnTo>
                    <a:pt x="0" y="40912"/>
                  </a:lnTo>
                  <a:cubicBezTo>
                    <a:pt x="0" y="30062"/>
                    <a:pt x="4310" y="19655"/>
                    <a:pt x="11983" y="11983"/>
                  </a:cubicBezTo>
                  <a:cubicBezTo>
                    <a:pt x="19655" y="4310"/>
                    <a:pt x="30062" y="0"/>
                    <a:pt x="40912" y="0"/>
                  </a:cubicBezTo>
                  <a:close/>
                </a:path>
              </a:pathLst>
            </a:custGeom>
            <a:solidFill>
              <a:srgbClr val="6B95E0"/>
            </a:solidFill>
            <a:ln cap="rnd">
              <a:noFill/>
              <a:prstDash val="solid"/>
              <a:round/>
            </a:ln>
          </p:spPr>
        </p:sp>
        <p:sp>
          <p:nvSpPr>
            <p:cNvPr name="TextBox 4" id="4"/>
            <p:cNvSpPr txBox="true"/>
            <p:nvPr/>
          </p:nvSpPr>
          <p:spPr>
            <a:xfrm>
              <a:off x="0" y="-47625"/>
              <a:ext cx="4983916" cy="286584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6783" y="113474"/>
            <a:ext cx="17817262" cy="9995054"/>
            <a:chOff x="0" y="0"/>
            <a:chExt cx="4692612" cy="2632442"/>
          </a:xfrm>
        </p:grpSpPr>
        <p:sp>
          <p:nvSpPr>
            <p:cNvPr name="Freeform 6" id="6"/>
            <p:cNvSpPr/>
            <p:nvPr/>
          </p:nvSpPr>
          <p:spPr>
            <a:xfrm flipH="false" flipV="false" rot="0">
              <a:off x="0" y="0"/>
              <a:ext cx="4692612" cy="2632442"/>
            </a:xfrm>
            <a:custGeom>
              <a:avLst/>
              <a:gdLst/>
              <a:ahLst/>
              <a:cxnLst/>
              <a:rect r="r" b="b" t="t" l="l"/>
              <a:pathLst>
                <a:path h="2632442" w="4692612">
                  <a:moveTo>
                    <a:pt x="43452" y="0"/>
                  </a:moveTo>
                  <a:lnTo>
                    <a:pt x="4649161" y="0"/>
                  </a:lnTo>
                  <a:cubicBezTo>
                    <a:pt x="4673159" y="0"/>
                    <a:pt x="4692612" y="19454"/>
                    <a:pt x="4692612" y="43452"/>
                  </a:cubicBezTo>
                  <a:lnTo>
                    <a:pt x="4692612" y="2588990"/>
                  </a:lnTo>
                  <a:cubicBezTo>
                    <a:pt x="4692612" y="2600515"/>
                    <a:pt x="4688034" y="2611567"/>
                    <a:pt x="4679886" y="2619715"/>
                  </a:cubicBezTo>
                  <a:cubicBezTo>
                    <a:pt x="4671737" y="2627864"/>
                    <a:pt x="4660685" y="2632442"/>
                    <a:pt x="4649161" y="2632442"/>
                  </a:cubicBezTo>
                  <a:lnTo>
                    <a:pt x="43452" y="2632442"/>
                  </a:lnTo>
                  <a:cubicBezTo>
                    <a:pt x="31928" y="2632442"/>
                    <a:pt x="20876" y="2627864"/>
                    <a:pt x="12727" y="2619715"/>
                  </a:cubicBezTo>
                  <a:cubicBezTo>
                    <a:pt x="4578" y="2611567"/>
                    <a:pt x="0" y="2600515"/>
                    <a:pt x="0" y="2588990"/>
                  </a:cubicBezTo>
                  <a:lnTo>
                    <a:pt x="0" y="43452"/>
                  </a:lnTo>
                  <a:cubicBezTo>
                    <a:pt x="0" y="31928"/>
                    <a:pt x="4578" y="20876"/>
                    <a:pt x="12727" y="12727"/>
                  </a:cubicBezTo>
                  <a:cubicBezTo>
                    <a:pt x="20876" y="4578"/>
                    <a:pt x="31928" y="0"/>
                    <a:pt x="43452" y="0"/>
                  </a:cubicBezTo>
                  <a:close/>
                </a:path>
              </a:pathLst>
            </a:custGeom>
            <a:solidFill>
              <a:srgbClr val="FFFFFE"/>
            </a:solidFill>
            <a:ln cap="rnd">
              <a:noFill/>
              <a:prstDash val="solid"/>
              <a:round/>
            </a:ln>
          </p:spPr>
        </p:sp>
        <p:sp>
          <p:nvSpPr>
            <p:cNvPr name="TextBox 7" id="7"/>
            <p:cNvSpPr txBox="true"/>
            <p:nvPr/>
          </p:nvSpPr>
          <p:spPr>
            <a:xfrm>
              <a:off x="0" y="-47625"/>
              <a:ext cx="4692612" cy="2680067"/>
            </a:xfrm>
            <a:prstGeom prst="rect">
              <a:avLst/>
            </a:prstGeom>
          </p:spPr>
          <p:txBody>
            <a:bodyPr anchor="ctr" rtlCol="false" tIns="50800" lIns="50800" bIns="50800" rIns="50800"/>
            <a:lstStyle/>
            <a:p>
              <a:pPr algn="ctr">
                <a:lnSpc>
                  <a:spcPts val="2659"/>
                </a:lnSpc>
              </a:pPr>
            </a:p>
          </p:txBody>
        </p:sp>
      </p:grpSp>
      <p:graphicFrame>
        <p:nvGraphicFramePr>
          <p:cNvPr name="Object 8" id="8"/>
          <p:cNvGraphicFramePr/>
          <p:nvPr/>
        </p:nvGraphicFramePr>
        <p:xfrm>
          <a:off x="1116017" y="530225"/>
          <a:ext cx="18773775" cy="5029200"/>
        </p:xfrm>
        <a:graphic>
          <a:graphicData uri="http://schemas.openxmlformats.org/presentationml/2006/ole">
            <p:oleObj imgW="22517100" imgH="87757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9" id="9"/>
          <p:cNvSpPr txBox="true"/>
          <p:nvPr/>
        </p:nvSpPr>
        <p:spPr>
          <a:xfrm rot="0">
            <a:off x="1028700" y="-95250"/>
            <a:ext cx="5289352" cy="625475"/>
          </a:xfrm>
          <a:prstGeom prst="rect">
            <a:avLst/>
          </a:prstGeom>
        </p:spPr>
        <p:txBody>
          <a:bodyPr anchor="t" rtlCol="false" tIns="0" lIns="0" bIns="0" rIns="0">
            <a:spAutoFit/>
          </a:bodyPr>
          <a:lstStyle/>
          <a:p>
            <a:pPr algn="ctr">
              <a:lnSpc>
                <a:spcPts val="4900"/>
              </a:lnSpc>
              <a:spcBef>
                <a:spcPct val="0"/>
              </a:spcBef>
            </a:pPr>
            <a:r>
              <a:rPr lang="en-US" b="true" sz="3500" spc="161">
                <a:solidFill>
                  <a:srgbClr val="000000"/>
                </a:solidFill>
                <a:latin typeface="Times New Roman Bold"/>
                <a:ea typeface="Times New Roman Bold"/>
                <a:cs typeface="Times New Roman Bold"/>
                <a:sym typeface="Times New Roman Bold"/>
              </a:rPr>
              <a:t>Functional Requirements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17653" y="-170330"/>
            <a:ext cx="18923306" cy="10700437"/>
            <a:chOff x="0" y="0"/>
            <a:chExt cx="4983916" cy="2818222"/>
          </a:xfrm>
        </p:grpSpPr>
        <p:sp>
          <p:nvSpPr>
            <p:cNvPr name="Freeform 3" id="3"/>
            <p:cNvSpPr/>
            <p:nvPr/>
          </p:nvSpPr>
          <p:spPr>
            <a:xfrm flipH="false" flipV="false" rot="0">
              <a:off x="0" y="0"/>
              <a:ext cx="4983916" cy="2818222"/>
            </a:xfrm>
            <a:custGeom>
              <a:avLst/>
              <a:gdLst/>
              <a:ahLst/>
              <a:cxnLst/>
              <a:rect r="r" b="b" t="t" l="l"/>
              <a:pathLst>
                <a:path h="2818222" w="4983916">
                  <a:moveTo>
                    <a:pt x="40912" y="0"/>
                  </a:moveTo>
                  <a:lnTo>
                    <a:pt x="4943004" y="0"/>
                  </a:lnTo>
                  <a:cubicBezTo>
                    <a:pt x="4953855" y="0"/>
                    <a:pt x="4964261" y="4310"/>
                    <a:pt x="4971933" y="11983"/>
                  </a:cubicBezTo>
                  <a:cubicBezTo>
                    <a:pt x="4979606" y="19655"/>
                    <a:pt x="4983916" y="30062"/>
                    <a:pt x="4983916" y="40912"/>
                  </a:cubicBezTo>
                  <a:lnTo>
                    <a:pt x="4983916" y="2777310"/>
                  </a:lnTo>
                  <a:cubicBezTo>
                    <a:pt x="4983916" y="2788161"/>
                    <a:pt x="4979606" y="2798567"/>
                    <a:pt x="4971933" y="2806239"/>
                  </a:cubicBezTo>
                  <a:cubicBezTo>
                    <a:pt x="4964261" y="2813912"/>
                    <a:pt x="4953855" y="2818222"/>
                    <a:pt x="4943004" y="2818222"/>
                  </a:cubicBezTo>
                  <a:lnTo>
                    <a:pt x="40912" y="2818222"/>
                  </a:lnTo>
                  <a:cubicBezTo>
                    <a:pt x="30062" y="2818222"/>
                    <a:pt x="19655" y="2813912"/>
                    <a:pt x="11983" y="2806239"/>
                  </a:cubicBezTo>
                  <a:cubicBezTo>
                    <a:pt x="4310" y="2798567"/>
                    <a:pt x="0" y="2788161"/>
                    <a:pt x="0" y="2777310"/>
                  </a:cubicBezTo>
                  <a:lnTo>
                    <a:pt x="0" y="40912"/>
                  </a:lnTo>
                  <a:cubicBezTo>
                    <a:pt x="0" y="30062"/>
                    <a:pt x="4310" y="19655"/>
                    <a:pt x="11983" y="11983"/>
                  </a:cubicBezTo>
                  <a:cubicBezTo>
                    <a:pt x="19655" y="4310"/>
                    <a:pt x="30062" y="0"/>
                    <a:pt x="40912" y="0"/>
                  </a:cubicBezTo>
                  <a:close/>
                </a:path>
              </a:pathLst>
            </a:custGeom>
            <a:solidFill>
              <a:srgbClr val="6B95E0"/>
            </a:solidFill>
            <a:ln cap="rnd">
              <a:noFill/>
              <a:prstDash val="solid"/>
              <a:round/>
            </a:ln>
          </p:spPr>
        </p:sp>
        <p:sp>
          <p:nvSpPr>
            <p:cNvPr name="TextBox 4" id="4"/>
            <p:cNvSpPr txBox="true"/>
            <p:nvPr/>
          </p:nvSpPr>
          <p:spPr>
            <a:xfrm>
              <a:off x="0" y="-47625"/>
              <a:ext cx="4983916" cy="286584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6783" y="113474"/>
            <a:ext cx="17817262" cy="9995054"/>
            <a:chOff x="0" y="0"/>
            <a:chExt cx="4692612" cy="2632442"/>
          </a:xfrm>
        </p:grpSpPr>
        <p:sp>
          <p:nvSpPr>
            <p:cNvPr name="Freeform 6" id="6"/>
            <p:cNvSpPr/>
            <p:nvPr/>
          </p:nvSpPr>
          <p:spPr>
            <a:xfrm flipH="false" flipV="false" rot="0">
              <a:off x="0" y="0"/>
              <a:ext cx="4692612" cy="2632442"/>
            </a:xfrm>
            <a:custGeom>
              <a:avLst/>
              <a:gdLst/>
              <a:ahLst/>
              <a:cxnLst/>
              <a:rect r="r" b="b" t="t" l="l"/>
              <a:pathLst>
                <a:path h="2632442" w="4692612">
                  <a:moveTo>
                    <a:pt x="43452" y="0"/>
                  </a:moveTo>
                  <a:lnTo>
                    <a:pt x="4649161" y="0"/>
                  </a:lnTo>
                  <a:cubicBezTo>
                    <a:pt x="4673159" y="0"/>
                    <a:pt x="4692612" y="19454"/>
                    <a:pt x="4692612" y="43452"/>
                  </a:cubicBezTo>
                  <a:lnTo>
                    <a:pt x="4692612" y="2588990"/>
                  </a:lnTo>
                  <a:cubicBezTo>
                    <a:pt x="4692612" y="2600515"/>
                    <a:pt x="4688034" y="2611567"/>
                    <a:pt x="4679886" y="2619715"/>
                  </a:cubicBezTo>
                  <a:cubicBezTo>
                    <a:pt x="4671737" y="2627864"/>
                    <a:pt x="4660685" y="2632442"/>
                    <a:pt x="4649161" y="2632442"/>
                  </a:cubicBezTo>
                  <a:lnTo>
                    <a:pt x="43452" y="2632442"/>
                  </a:lnTo>
                  <a:cubicBezTo>
                    <a:pt x="31928" y="2632442"/>
                    <a:pt x="20876" y="2627864"/>
                    <a:pt x="12727" y="2619715"/>
                  </a:cubicBezTo>
                  <a:cubicBezTo>
                    <a:pt x="4578" y="2611567"/>
                    <a:pt x="0" y="2600515"/>
                    <a:pt x="0" y="2588990"/>
                  </a:cubicBezTo>
                  <a:lnTo>
                    <a:pt x="0" y="43452"/>
                  </a:lnTo>
                  <a:cubicBezTo>
                    <a:pt x="0" y="31928"/>
                    <a:pt x="4578" y="20876"/>
                    <a:pt x="12727" y="12727"/>
                  </a:cubicBezTo>
                  <a:cubicBezTo>
                    <a:pt x="20876" y="4578"/>
                    <a:pt x="31928" y="0"/>
                    <a:pt x="43452" y="0"/>
                  </a:cubicBezTo>
                  <a:close/>
                </a:path>
              </a:pathLst>
            </a:custGeom>
            <a:solidFill>
              <a:srgbClr val="FFFFFE"/>
            </a:solidFill>
            <a:ln cap="rnd">
              <a:noFill/>
              <a:prstDash val="solid"/>
              <a:round/>
            </a:ln>
          </p:spPr>
        </p:sp>
        <p:sp>
          <p:nvSpPr>
            <p:cNvPr name="TextBox 7" id="7"/>
            <p:cNvSpPr txBox="true"/>
            <p:nvPr/>
          </p:nvSpPr>
          <p:spPr>
            <a:xfrm>
              <a:off x="0" y="-47625"/>
              <a:ext cx="4692612" cy="2680067"/>
            </a:xfrm>
            <a:prstGeom prst="rect">
              <a:avLst/>
            </a:prstGeom>
          </p:spPr>
          <p:txBody>
            <a:bodyPr anchor="ctr" rtlCol="false" tIns="50800" lIns="50800" bIns="50800" rIns="50800"/>
            <a:lstStyle/>
            <a:p>
              <a:pPr algn="ctr">
                <a:lnSpc>
                  <a:spcPts val="2659"/>
                </a:lnSpc>
              </a:pPr>
            </a:p>
          </p:txBody>
        </p:sp>
      </p:grpSp>
      <p:graphicFrame>
        <p:nvGraphicFramePr>
          <p:cNvPr name="Object 8" id="8"/>
          <p:cNvGraphicFramePr/>
          <p:nvPr/>
        </p:nvGraphicFramePr>
        <p:xfrm>
          <a:off x="585268" y="1028700"/>
          <a:ext cx="18773775" cy="5029200"/>
        </p:xfrm>
        <a:graphic>
          <a:graphicData uri="http://schemas.openxmlformats.org/presentationml/2006/ole">
            <p:oleObj imgW="22517100" imgH="87757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9" id="9"/>
          <p:cNvSpPr txBox="true"/>
          <p:nvPr/>
        </p:nvSpPr>
        <p:spPr>
          <a:xfrm rot="0">
            <a:off x="780617" y="166701"/>
            <a:ext cx="6309420" cy="625475"/>
          </a:xfrm>
          <a:prstGeom prst="rect">
            <a:avLst/>
          </a:prstGeom>
        </p:spPr>
        <p:txBody>
          <a:bodyPr anchor="t" rtlCol="false" tIns="0" lIns="0" bIns="0" rIns="0">
            <a:spAutoFit/>
          </a:bodyPr>
          <a:lstStyle/>
          <a:p>
            <a:pPr algn="ctr">
              <a:lnSpc>
                <a:spcPts val="4900"/>
              </a:lnSpc>
              <a:spcBef>
                <a:spcPct val="0"/>
              </a:spcBef>
            </a:pPr>
            <a:r>
              <a:rPr lang="en-US" b="true" sz="3500" spc="161">
                <a:solidFill>
                  <a:srgbClr val="000000"/>
                </a:solidFill>
                <a:latin typeface="Times New Roman Bold"/>
                <a:ea typeface="Times New Roman Bold"/>
                <a:cs typeface="Times New Roman Bold"/>
                <a:sym typeface="Times New Roman Bold"/>
              </a:rPr>
              <a:t>Non-Functional Requirements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17653" y="-170330"/>
            <a:ext cx="18923306" cy="10700437"/>
            <a:chOff x="0" y="0"/>
            <a:chExt cx="4983916" cy="2818222"/>
          </a:xfrm>
        </p:grpSpPr>
        <p:sp>
          <p:nvSpPr>
            <p:cNvPr name="Freeform 3" id="3"/>
            <p:cNvSpPr/>
            <p:nvPr/>
          </p:nvSpPr>
          <p:spPr>
            <a:xfrm flipH="false" flipV="false" rot="0">
              <a:off x="0" y="0"/>
              <a:ext cx="4983916" cy="2818222"/>
            </a:xfrm>
            <a:custGeom>
              <a:avLst/>
              <a:gdLst/>
              <a:ahLst/>
              <a:cxnLst/>
              <a:rect r="r" b="b" t="t" l="l"/>
              <a:pathLst>
                <a:path h="2818222" w="4983916">
                  <a:moveTo>
                    <a:pt x="40912" y="0"/>
                  </a:moveTo>
                  <a:lnTo>
                    <a:pt x="4943004" y="0"/>
                  </a:lnTo>
                  <a:cubicBezTo>
                    <a:pt x="4953855" y="0"/>
                    <a:pt x="4964261" y="4310"/>
                    <a:pt x="4971933" y="11983"/>
                  </a:cubicBezTo>
                  <a:cubicBezTo>
                    <a:pt x="4979606" y="19655"/>
                    <a:pt x="4983916" y="30062"/>
                    <a:pt x="4983916" y="40912"/>
                  </a:cubicBezTo>
                  <a:lnTo>
                    <a:pt x="4983916" y="2777310"/>
                  </a:lnTo>
                  <a:cubicBezTo>
                    <a:pt x="4983916" y="2788161"/>
                    <a:pt x="4979606" y="2798567"/>
                    <a:pt x="4971933" y="2806239"/>
                  </a:cubicBezTo>
                  <a:cubicBezTo>
                    <a:pt x="4964261" y="2813912"/>
                    <a:pt x="4953855" y="2818222"/>
                    <a:pt x="4943004" y="2818222"/>
                  </a:cubicBezTo>
                  <a:lnTo>
                    <a:pt x="40912" y="2818222"/>
                  </a:lnTo>
                  <a:cubicBezTo>
                    <a:pt x="30062" y="2818222"/>
                    <a:pt x="19655" y="2813912"/>
                    <a:pt x="11983" y="2806239"/>
                  </a:cubicBezTo>
                  <a:cubicBezTo>
                    <a:pt x="4310" y="2798567"/>
                    <a:pt x="0" y="2788161"/>
                    <a:pt x="0" y="2777310"/>
                  </a:cubicBezTo>
                  <a:lnTo>
                    <a:pt x="0" y="40912"/>
                  </a:lnTo>
                  <a:cubicBezTo>
                    <a:pt x="0" y="30062"/>
                    <a:pt x="4310" y="19655"/>
                    <a:pt x="11983" y="11983"/>
                  </a:cubicBezTo>
                  <a:cubicBezTo>
                    <a:pt x="19655" y="4310"/>
                    <a:pt x="30062" y="0"/>
                    <a:pt x="40912" y="0"/>
                  </a:cubicBezTo>
                  <a:close/>
                </a:path>
              </a:pathLst>
            </a:custGeom>
            <a:solidFill>
              <a:srgbClr val="6B95E0"/>
            </a:solidFill>
            <a:ln cap="rnd">
              <a:noFill/>
              <a:prstDash val="solid"/>
              <a:round/>
            </a:ln>
          </p:spPr>
        </p:sp>
        <p:sp>
          <p:nvSpPr>
            <p:cNvPr name="TextBox 4" id="4"/>
            <p:cNvSpPr txBox="true"/>
            <p:nvPr/>
          </p:nvSpPr>
          <p:spPr>
            <a:xfrm>
              <a:off x="0" y="-47625"/>
              <a:ext cx="4983916" cy="286584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89494" y="357961"/>
            <a:ext cx="17274085" cy="9571077"/>
            <a:chOff x="0" y="0"/>
            <a:chExt cx="4549553" cy="2520778"/>
          </a:xfrm>
        </p:grpSpPr>
        <p:sp>
          <p:nvSpPr>
            <p:cNvPr name="Freeform 6" id="6"/>
            <p:cNvSpPr/>
            <p:nvPr/>
          </p:nvSpPr>
          <p:spPr>
            <a:xfrm flipH="false" flipV="false" rot="0">
              <a:off x="0" y="0"/>
              <a:ext cx="4549553" cy="2520778"/>
            </a:xfrm>
            <a:custGeom>
              <a:avLst/>
              <a:gdLst/>
              <a:ahLst/>
              <a:cxnLst/>
              <a:rect r="r" b="b" t="t" l="l"/>
              <a:pathLst>
                <a:path h="2520778" w="4549553">
                  <a:moveTo>
                    <a:pt x="44818" y="0"/>
                  </a:moveTo>
                  <a:lnTo>
                    <a:pt x="4504735" y="0"/>
                  </a:lnTo>
                  <a:cubicBezTo>
                    <a:pt x="4516622" y="0"/>
                    <a:pt x="4528021" y="4722"/>
                    <a:pt x="4536426" y="13127"/>
                  </a:cubicBezTo>
                  <a:cubicBezTo>
                    <a:pt x="4544832" y="21532"/>
                    <a:pt x="4549553" y="32932"/>
                    <a:pt x="4549553" y="44818"/>
                  </a:cubicBezTo>
                  <a:lnTo>
                    <a:pt x="4549553" y="2475959"/>
                  </a:lnTo>
                  <a:cubicBezTo>
                    <a:pt x="4549553" y="2487846"/>
                    <a:pt x="4544832" y="2499246"/>
                    <a:pt x="4536426" y="2507651"/>
                  </a:cubicBezTo>
                  <a:cubicBezTo>
                    <a:pt x="4528021" y="2516056"/>
                    <a:pt x="4516622" y="2520778"/>
                    <a:pt x="4504735" y="2520778"/>
                  </a:cubicBezTo>
                  <a:lnTo>
                    <a:pt x="44818" y="2520778"/>
                  </a:lnTo>
                  <a:cubicBezTo>
                    <a:pt x="32932" y="2520778"/>
                    <a:pt x="21532" y="2516056"/>
                    <a:pt x="13127" y="2507651"/>
                  </a:cubicBezTo>
                  <a:cubicBezTo>
                    <a:pt x="4722" y="2499246"/>
                    <a:pt x="0" y="2487846"/>
                    <a:pt x="0" y="2475959"/>
                  </a:cubicBezTo>
                  <a:lnTo>
                    <a:pt x="0" y="44818"/>
                  </a:lnTo>
                  <a:cubicBezTo>
                    <a:pt x="0" y="32932"/>
                    <a:pt x="4722" y="21532"/>
                    <a:pt x="13127" y="13127"/>
                  </a:cubicBezTo>
                  <a:cubicBezTo>
                    <a:pt x="21532" y="4722"/>
                    <a:pt x="32932" y="0"/>
                    <a:pt x="44818" y="0"/>
                  </a:cubicBezTo>
                  <a:close/>
                </a:path>
              </a:pathLst>
            </a:custGeom>
            <a:solidFill>
              <a:srgbClr val="FFFFFE"/>
            </a:solidFill>
            <a:ln cap="rnd">
              <a:noFill/>
              <a:prstDash val="solid"/>
              <a:round/>
            </a:ln>
          </p:spPr>
        </p:sp>
        <p:sp>
          <p:nvSpPr>
            <p:cNvPr name="TextBox 7" id="7"/>
            <p:cNvSpPr txBox="true"/>
            <p:nvPr/>
          </p:nvSpPr>
          <p:spPr>
            <a:xfrm>
              <a:off x="0" y="-47625"/>
              <a:ext cx="4549553" cy="2568403"/>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275761" y="6669178"/>
            <a:ext cx="6592875" cy="2949723"/>
            <a:chOff x="0" y="0"/>
            <a:chExt cx="8790500" cy="3932964"/>
          </a:xfrm>
        </p:grpSpPr>
        <p:grpSp>
          <p:nvGrpSpPr>
            <p:cNvPr name="Group 9" id="9"/>
            <p:cNvGrpSpPr/>
            <p:nvPr/>
          </p:nvGrpSpPr>
          <p:grpSpPr>
            <a:xfrm rot="0">
              <a:off x="0" y="0"/>
              <a:ext cx="8790500" cy="3932964"/>
              <a:chOff x="0" y="0"/>
              <a:chExt cx="1736395" cy="776882"/>
            </a:xfrm>
          </p:grpSpPr>
          <p:sp>
            <p:nvSpPr>
              <p:cNvPr name="Freeform 10" id="10"/>
              <p:cNvSpPr/>
              <p:nvPr/>
            </p:nvSpPr>
            <p:spPr>
              <a:xfrm flipH="false" flipV="false" rot="0">
                <a:off x="0" y="0"/>
                <a:ext cx="1736395" cy="776882"/>
              </a:xfrm>
              <a:custGeom>
                <a:avLst/>
                <a:gdLst/>
                <a:ahLst/>
                <a:cxnLst/>
                <a:rect r="r" b="b" t="t" l="l"/>
                <a:pathLst>
                  <a:path h="776882" w="1736395">
                    <a:moveTo>
                      <a:pt x="58714" y="0"/>
                    </a:moveTo>
                    <a:lnTo>
                      <a:pt x="1677681" y="0"/>
                    </a:lnTo>
                    <a:cubicBezTo>
                      <a:pt x="1693253" y="0"/>
                      <a:pt x="1708187" y="6186"/>
                      <a:pt x="1719198" y="17197"/>
                    </a:cubicBezTo>
                    <a:cubicBezTo>
                      <a:pt x="1730209" y="28208"/>
                      <a:pt x="1736395" y="43142"/>
                      <a:pt x="1736395" y="58714"/>
                    </a:cubicBezTo>
                    <a:lnTo>
                      <a:pt x="1736395" y="718167"/>
                    </a:lnTo>
                    <a:cubicBezTo>
                      <a:pt x="1736395" y="733739"/>
                      <a:pt x="1730209" y="748674"/>
                      <a:pt x="1719198" y="759685"/>
                    </a:cubicBezTo>
                    <a:cubicBezTo>
                      <a:pt x="1708187" y="770696"/>
                      <a:pt x="1693253" y="776882"/>
                      <a:pt x="1677681" y="776882"/>
                    </a:cubicBezTo>
                    <a:lnTo>
                      <a:pt x="58714" y="776882"/>
                    </a:lnTo>
                    <a:cubicBezTo>
                      <a:pt x="43142" y="776882"/>
                      <a:pt x="28208" y="770696"/>
                      <a:pt x="17197" y="759685"/>
                    </a:cubicBezTo>
                    <a:cubicBezTo>
                      <a:pt x="6186" y="748674"/>
                      <a:pt x="0" y="733739"/>
                      <a:pt x="0" y="718167"/>
                    </a:cubicBezTo>
                    <a:lnTo>
                      <a:pt x="0" y="58714"/>
                    </a:lnTo>
                    <a:cubicBezTo>
                      <a:pt x="0" y="43142"/>
                      <a:pt x="6186" y="28208"/>
                      <a:pt x="17197" y="17197"/>
                    </a:cubicBezTo>
                    <a:cubicBezTo>
                      <a:pt x="28208" y="6186"/>
                      <a:pt x="43142" y="0"/>
                      <a:pt x="58714" y="0"/>
                    </a:cubicBezTo>
                    <a:close/>
                  </a:path>
                </a:pathLst>
              </a:custGeom>
              <a:solidFill>
                <a:srgbClr val="B6FCB8"/>
              </a:solidFill>
            </p:spPr>
          </p:sp>
          <p:sp>
            <p:nvSpPr>
              <p:cNvPr name="TextBox 11" id="11"/>
              <p:cNvSpPr txBox="true"/>
              <p:nvPr/>
            </p:nvSpPr>
            <p:spPr>
              <a:xfrm>
                <a:off x="0" y="-47625"/>
                <a:ext cx="1736395" cy="824507"/>
              </a:xfrm>
              <a:prstGeom prst="rect">
                <a:avLst/>
              </a:prstGeom>
            </p:spPr>
            <p:txBody>
              <a:bodyPr anchor="ctr" rtlCol="false" tIns="50800" lIns="50800" bIns="50800" rIns="50800"/>
              <a:lstStyle/>
              <a:p>
                <a:pPr algn="ctr">
                  <a:lnSpc>
                    <a:spcPts val="2105"/>
                  </a:lnSpc>
                </a:pPr>
              </a:p>
            </p:txBody>
          </p:sp>
        </p:grpSp>
        <p:sp>
          <p:nvSpPr>
            <p:cNvPr name="Freeform 12" id="12"/>
            <p:cNvSpPr/>
            <p:nvPr/>
          </p:nvSpPr>
          <p:spPr>
            <a:xfrm flipH="false" flipV="false" rot="0">
              <a:off x="304441" y="1771092"/>
              <a:ext cx="2442463" cy="1331269"/>
            </a:xfrm>
            <a:custGeom>
              <a:avLst/>
              <a:gdLst/>
              <a:ahLst/>
              <a:cxnLst/>
              <a:rect r="r" b="b" t="t" l="l"/>
              <a:pathLst>
                <a:path h="1331269" w="2442463">
                  <a:moveTo>
                    <a:pt x="0" y="0"/>
                  </a:moveTo>
                  <a:lnTo>
                    <a:pt x="2442463" y="0"/>
                  </a:lnTo>
                  <a:lnTo>
                    <a:pt x="2442463" y="1331269"/>
                  </a:lnTo>
                  <a:lnTo>
                    <a:pt x="0" y="1331269"/>
                  </a:lnTo>
                  <a:lnTo>
                    <a:pt x="0" y="0"/>
                  </a:lnTo>
                  <a:close/>
                </a:path>
              </a:pathLst>
            </a:custGeom>
            <a:blipFill>
              <a:blip r:embed="rId2"/>
              <a:stretch>
                <a:fillRect l="0" t="0" r="0" b="0"/>
              </a:stretch>
            </a:blipFill>
            <a:ln cap="sq">
              <a:noFill/>
              <a:prstDash val="solid"/>
              <a:miter/>
            </a:ln>
          </p:spPr>
        </p:sp>
        <p:sp>
          <p:nvSpPr>
            <p:cNvPr name="TextBox 13" id="13"/>
            <p:cNvSpPr txBox="true"/>
            <p:nvPr/>
          </p:nvSpPr>
          <p:spPr>
            <a:xfrm rot="0">
              <a:off x="707193" y="2826136"/>
              <a:ext cx="1636960" cy="1071566"/>
            </a:xfrm>
            <a:prstGeom prst="rect">
              <a:avLst/>
            </a:prstGeom>
          </p:spPr>
          <p:txBody>
            <a:bodyPr anchor="t" rtlCol="false" tIns="0" lIns="0" bIns="0" rIns="0">
              <a:spAutoFit/>
            </a:bodyPr>
            <a:lstStyle/>
            <a:p>
              <a:pPr algn="ctr">
                <a:lnSpc>
                  <a:spcPts val="2105"/>
                </a:lnSpc>
              </a:pPr>
              <a:r>
                <a:rPr lang="en-US" sz="1543" b="true">
                  <a:solidFill>
                    <a:srgbClr val="000000"/>
                  </a:solidFill>
                  <a:latin typeface="Arial Bold"/>
                  <a:ea typeface="Arial Bold"/>
                  <a:cs typeface="Arial Bold"/>
                  <a:sym typeface="Arial Bold"/>
                </a:rPr>
                <a:t>--Next-js</a:t>
              </a:r>
            </a:p>
            <a:p>
              <a:pPr algn="ctr">
                <a:lnSpc>
                  <a:spcPts val="2105"/>
                </a:lnSpc>
                <a:spcBef>
                  <a:spcPct val="0"/>
                </a:spcBef>
              </a:pPr>
              <a:r>
                <a:rPr lang="en-US" b="true" sz="1543">
                  <a:solidFill>
                    <a:srgbClr val="000000"/>
                  </a:solidFill>
                  <a:latin typeface="Arial Bold"/>
                  <a:ea typeface="Arial Bold"/>
                  <a:cs typeface="Arial Bold"/>
                  <a:sym typeface="Arial Bold"/>
                </a:rPr>
                <a:t>UI and Server</a:t>
              </a:r>
            </a:p>
          </p:txBody>
        </p:sp>
        <p:sp>
          <p:nvSpPr>
            <p:cNvPr name="Freeform 14" id="14"/>
            <p:cNvSpPr/>
            <p:nvPr/>
          </p:nvSpPr>
          <p:spPr>
            <a:xfrm flipH="false" flipV="false" rot="0">
              <a:off x="6544603" y="1814215"/>
              <a:ext cx="1129815" cy="691070"/>
            </a:xfrm>
            <a:custGeom>
              <a:avLst/>
              <a:gdLst/>
              <a:ahLst/>
              <a:cxnLst/>
              <a:rect r="r" b="b" t="t" l="l"/>
              <a:pathLst>
                <a:path h="691070" w="1129815">
                  <a:moveTo>
                    <a:pt x="0" y="0"/>
                  </a:moveTo>
                  <a:lnTo>
                    <a:pt x="1129815" y="0"/>
                  </a:lnTo>
                  <a:lnTo>
                    <a:pt x="1129815" y="691070"/>
                  </a:lnTo>
                  <a:lnTo>
                    <a:pt x="0" y="691070"/>
                  </a:lnTo>
                  <a:lnTo>
                    <a:pt x="0" y="0"/>
                  </a:lnTo>
                  <a:close/>
                </a:path>
              </a:pathLst>
            </a:custGeom>
            <a:blipFill>
              <a:blip r:embed="rId3"/>
              <a:stretch>
                <a:fillRect l="0" t="0" r="0" b="0"/>
              </a:stretch>
            </a:blipFill>
          </p:spPr>
        </p:sp>
        <p:sp>
          <p:nvSpPr>
            <p:cNvPr name="TextBox 15" id="15"/>
            <p:cNvSpPr txBox="true"/>
            <p:nvPr/>
          </p:nvSpPr>
          <p:spPr>
            <a:xfrm rot="0">
              <a:off x="6144654" y="2738777"/>
              <a:ext cx="2019302" cy="762609"/>
            </a:xfrm>
            <a:prstGeom prst="rect">
              <a:avLst/>
            </a:prstGeom>
          </p:spPr>
          <p:txBody>
            <a:bodyPr anchor="t" rtlCol="false" tIns="0" lIns="0" bIns="0" rIns="0">
              <a:spAutoFit/>
            </a:bodyPr>
            <a:lstStyle/>
            <a:p>
              <a:pPr algn="ctr">
                <a:lnSpc>
                  <a:spcPts val="2309"/>
                </a:lnSpc>
              </a:pPr>
              <a:r>
                <a:rPr lang="en-US" sz="1693" b="true">
                  <a:solidFill>
                    <a:srgbClr val="000000"/>
                  </a:solidFill>
                  <a:latin typeface="Arial Bold"/>
                  <a:ea typeface="Arial Bold"/>
                  <a:cs typeface="Arial Bold"/>
                  <a:sym typeface="Arial Bold"/>
                </a:rPr>
                <a:t>--Tailwind CSS</a:t>
              </a:r>
            </a:p>
            <a:p>
              <a:pPr algn="ctr">
                <a:lnSpc>
                  <a:spcPts val="2309"/>
                </a:lnSpc>
                <a:spcBef>
                  <a:spcPct val="0"/>
                </a:spcBef>
              </a:pPr>
              <a:r>
                <a:rPr lang="en-US" b="true" sz="1693">
                  <a:solidFill>
                    <a:srgbClr val="000000"/>
                  </a:solidFill>
                  <a:latin typeface="Arial Bold"/>
                  <a:ea typeface="Arial Bold"/>
                  <a:cs typeface="Arial Bold"/>
                  <a:sym typeface="Arial Bold"/>
                </a:rPr>
                <a:t>Design</a:t>
              </a:r>
            </a:p>
          </p:txBody>
        </p:sp>
        <p:sp>
          <p:nvSpPr>
            <p:cNvPr name="Freeform 16" id="16"/>
            <p:cNvSpPr/>
            <p:nvPr/>
          </p:nvSpPr>
          <p:spPr>
            <a:xfrm flipH="false" flipV="false" rot="0">
              <a:off x="3886735" y="1872692"/>
              <a:ext cx="820100" cy="632592"/>
            </a:xfrm>
            <a:custGeom>
              <a:avLst/>
              <a:gdLst/>
              <a:ahLst/>
              <a:cxnLst/>
              <a:rect r="r" b="b" t="t" l="l"/>
              <a:pathLst>
                <a:path h="632592" w="820100">
                  <a:moveTo>
                    <a:pt x="0" y="0"/>
                  </a:moveTo>
                  <a:lnTo>
                    <a:pt x="820101" y="0"/>
                  </a:lnTo>
                  <a:lnTo>
                    <a:pt x="820101" y="632593"/>
                  </a:lnTo>
                  <a:lnTo>
                    <a:pt x="0" y="632593"/>
                  </a:lnTo>
                  <a:lnTo>
                    <a:pt x="0" y="0"/>
                  </a:lnTo>
                  <a:close/>
                </a:path>
              </a:pathLst>
            </a:custGeom>
            <a:blipFill>
              <a:blip r:embed="rId4"/>
              <a:stretch>
                <a:fillRect l="0" t="-29641" r="0" b="0"/>
              </a:stretch>
            </a:blipFill>
          </p:spPr>
        </p:sp>
        <p:sp>
          <p:nvSpPr>
            <p:cNvPr name="TextBox 17" id="17"/>
            <p:cNvSpPr txBox="true"/>
            <p:nvPr/>
          </p:nvSpPr>
          <p:spPr>
            <a:xfrm rot="0">
              <a:off x="3386477" y="2544630"/>
              <a:ext cx="1695265" cy="1143609"/>
            </a:xfrm>
            <a:prstGeom prst="rect">
              <a:avLst/>
            </a:prstGeom>
          </p:spPr>
          <p:txBody>
            <a:bodyPr anchor="t" rtlCol="false" tIns="0" lIns="0" bIns="0" rIns="0">
              <a:spAutoFit/>
            </a:bodyPr>
            <a:lstStyle/>
            <a:p>
              <a:pPr algn="ctr">
                <a:lnSpc>
                  <a:spcPts val="2309"/>
                </a:lnSpc>
              </a:pPr>
              <a:r>
                <a:rPr lang="en-US" sz="1693" b="true">
                  <a:solidFill>
                    <a:srgbClr val="000000"/>
                  </a:solidFill>
                  <a:latin typeface="Arial Bold"/>
                  <a:ea typeface="Arial Bold"/>
                  <a:cs typeface="Arial Bold"/>
                  <a:sym typeface="Arial Bold"/>
                </a:rPr>
                <a:t>--Typescript</a:t>
              </a:r>
            </a:p>
            <a:p>
              <a:pPr algn="ctr">
                <a:lnSpc>
                  <a:spcPts val="2309"/>
                </a:lnSpc>
                <a:spcBef>
                  <a:spcPct val="0"/>
                </a:spcBef>
              </a:pPr>
              <a:r>
                <a:rPr lang="en-US" b="true" sz="1693">
                  <a:solidFill>
                    <a:srgbClr val="000000"/>
                  </a:solidFill>
                  <a:latin typeface="Arial Bold"/>
                  <a:ea typeface="Arial Bold"/>
                  <a:cs typeface="Arial Bold"/>
                  <a:sym typeface="Arial Bold"/>
                </a:rPr>
                <a:t>Api connection</a:t>
              </a:r>
            </a:p>
          </p:txBody>
        </p:sp>
        <p:grpSp>
          <p:nvGrpSpPr>
            <p:cNvPr name="Group 18" id="18"/>
            <p:cNvGrpSpPr/>
            <p:nvPr/>
          </p:nvGrpSpPr>
          <p:grpSpPr>
            <a:xfrm rot="0">
              <a:off x="1072679" y="421812"/>
              <a:ext cx="6601739" cy="928676"/>
              <a:chOff x="0" y="0"/>
              <a:chExt cx="1304047" cy="183442"/>
            </a:xfrm>
          </p:grpSpPr>
          <p:sp>
            <p:nvSpPr>
              <p:cNvPr name="Freeform 19" id="19"/>
              <p:cNvSpPr/>
              <p:nvPr/>
            </p:nvSpPr>
            <p:spPr>
              <a:xfrm flipH="false" flipV="false" rot="0">
                <a:off x="0" y="0"/>
                <a:ext cx="1304047" cy="183442"/>
              </a:xfrm>
              <a:custGeom>
                <a:avLst/>
                <a:gdLst/>
                <a:ahLst/>
                <a:cxnLst/>
                <a:rect r="r" b="b" t="t" l="l"/>
                <a:pathLst>
                  <a:path h="183442" w="1304047">
                    <a:moveTo>
                      <a:pt x="45345" y="0"/>
                    </a:moveTo>
                    <a:lnTo>
                      <a:pt x="1258702" y="0"/>
                    </a:lnTo>
                    <a:cubicBezTo>
                      <a:pt x="1270729" y="0"/>
                      <a:pt x="1282262" y="4777"/>
                      <a:pt x="1290766" y="13281"/>
                    </a:cubicBezTo>
                    <a:cubicBezTo>
                      <a:pt x="1299270" y="21785"/>
                      <a:pt x="1304047" y="33319"/>
                      <a:pt x="1304047" y="45345"/>
                    </a:cubicBezTo>
                    <a:lnTo>
                      <a:pt x="1304047" y="138097"/>
                    </a:lnTo>
                    <a:cubicBezTo>
                      <a:pt x="1304047" y="163141"/>
                      <a:pt x="1283746" y="183442"/>
                      <a:pt x="1258702" y="183442"/>
                    </a:cubicBezTo>
                    <a:lnTo>
                      <a:pt x="45345" y="183442"/>
                    </a:lnTo>
                    <a:cubicBezTo>
                      <a:pt x="20302" y="183442"/>
                      <a:pt x="0" y="163141"/>
                      <a:pt x="0" y="138097"/>
                    </a:cubicBezTo>
                    <a:lnTo>
                      <a:pt x="0" y="45345"/>
                    </a:lnTo>
                    <a:cubicBezTo>
                      <a:pt x="0" y="20302"/>
                      <a:pt x="20302" y="0"/>
                      <a:pt x="45345" y="0"/>
                    </a:cubicBezTo>
                    <a:close/>
                  </a:path>
                </a:pathLst>
              </a:custGeom>
              <a:solidFill>
                <a:srgbClr val="95CCDA"/>
              </a:solidFill>
            </p:spPr>
          </p:sp>
          <p:sp>
            <p:nvSpPr>
              <p:cNvPr name="TextBox 20" id="20"/>
              <p:cNvSpPr txBox="true"/>
              <p:nvPr/>
            </p:nvSpPr>
            <p:spPr>
              <a:xfrm>
                <a:off x="0" y="-47625"/>
                <a:ext cx="1304047" cy="231067"/>
              </a:xfrm>
              <a:prstGeom prst="rect">
                <a:avLst/>
              </a:prstGeom>
            </p:spPr>
            <p:txBody>
              <a:bodyPr anchor="ctr" rtlCol="false" tIns="50800" lIns="50800" bIns="50800" rIns="50800"/>
              <a:lstStyle/>
              <a:p>
                <a:pPr algn="ctr">
                  <a:lnSpc>
                    <a:spcPts val="2105"/>
                  </a:lnSpc>
                </a:pPr>
              </a:p>
            </p:txBody>
          </p:sp>
        </p:grpSp>
        <p:sp>
          <p:nvSpPr>
            <p:cNvPr name="TextBox 21" id="21"/>
            <p:cNvSpPr txBox="true"/>
            <p:nvPr/>
          </p:nvSpPr>
          <p:spPr>
            <a:xfrm rot="0">
              <a:off x="1257988" y="529762"/>
              <a:ext cx="6274524" cy="622723"/>
            </a:xfrm>
            <a:prstGeom prst="rect">
              <a:avLst/>
            </a:prstGeom>
          </p:spPr>
          <p:txBody>
            <a:bodyPr anchor="t" rtlCol="false" tIns="0" lIns="0" bIns="0" rIns="0">
              <a:spAutoFit/>
            </a:bodyPr>
            <a:lstStyle/>
            <a:p>
              <a:pPr algn="ctr">
                <a:lnSpc>
                  <a:spcPts val="3919"/>
                </a:lnSpc>
              </a:pPr>
              <a:r>
                <a:rPr lang="en-US" sz="2799" b="true">
                  <a:solidFill>
                    <a:srgbClr val="000000"/>
                  </a:solidFill>
                  <a:latin typeface="Canva Sans Bold"/>
                  <a:ea typeface="Canva Sans Bold"/>
                  <a:cs typeface="Canva Sans Bold"/>
                  <a:sym typeface="Canva Sans Bold"/>
                </a:rPr>
                <a:t>Fronten</a:t>
              </a:r>
              <a:r>
                <a:rPr lang="en-US" b="true" sz="2799">
                  <a:solidFill>
                    <a:srgbClr val="000000"/>
                  </a:solidFill>
                  <a:latin typeface="Canva Sans Bold"/>
                  <a:ea typeface="Canva Sans Bold"/>
                  <a:cs typeface="Canva Sans Bold"/>
                  <a:sym typeface="Canva Sans Bold"/>
                </a:rPr>
                <a:t>d &amp; Visualization</a:t>
              </a:r>
            </a:p>
          </p:txBody>
        </p:sp>
      </p:grpSp>
      <p:grpSp>
        <p:nvGrpSpPr>
          <p:cNvPr name="Group 22" id="22"/>
          <p:cNvGrpSpPr/>
          <p:nvPr/>
        </p:nvGrpSpPr>
        <p:grpSpPr>
          <a:xfrm rot="0">
            <a:off x="9144000" y="1652619"/>
            <a:ext cx="7552859" cy="3235088"/>
            <a:chOff x="0" y="0"/>
            <a:chExt cx="10070479" cy="4313451"/>
          </a:xfrm>
        </p:grpSpPr>
        <p:sp>
          <p:nvSpPr>
            <p:cNvPr name="Freeform 23" id="23"/>
            <p:cNvSpPr/>
            <p:nvPr/>
          </p:nvSpPr>
          <p:spPr>
            <a:xfrm flipH="false" flipV="false" rot="0">
              <a:off x="1803613" y="570043"/>
              <a:ext cx="3842805" cy="698692"/>
            </a:xfrm>
            <a:custGeom>
              <a:avLst/>
              <a:gdLst/>
              <a:ahLst/>
              <a:cxnLst/>
              <a:rect r="r" b="b" t="t" l="l"/>
              <a:pathLst>
                <a:path h="698692" w="3842805">
                  <a:moveTo>
                    <a:pt x="0" y="0"/>
                  </a:moveTo>
                  <a:lnTo>
                    <a:pt x="3842805" y="0"/>
                  </a:lnTo>
                  <a:lnTo>
                    <a:pt x="3842805" y="698692"/>
                  </a:lnTo>
                  <a:lnTo>
                    <a:pt x="0" y="6986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4" id="24"/>
            <p:cNvSpPr/>
            <p:nvPr/>
          </p:nvSpPr>
          <p:spPr>
            <a:xfrm flipH="false" flipV="false" rot="0">
              <a:off x="5201227" y="570043"/>
              <a:ext cx="3842805" cy="698692"/>
            </a:xfrm>
            <a:custGeom>
              <a:avLst/>
              <a:gdLst/>
              <a:ahLst/>
              <a:cxnLst/>
              <a:rect r="r" b="b" t="t" l="l"/>
              <a:pathLst>
                <a:path h="698692" w="3842805">
                  <a:moveTo>
                    <a:pt x="0" y="0"/>
                  </a:moveTo>
                  <a:lnTo>
                    <a:pt x="3842805" y="0"/>
                  </a:lnTo>
                  <a:lnTo>
                    <a:pt x="3842805" y="698692"/>
                  </a:lnTo>
                  <a:lnTo>
                    <a:pt x="0" y="6986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5" id="25"/>
            <p:cNvGrpSpPr/>
            <p:nvPr/>
          </p:nvGrpSpPr>
          <p:grpSpPr>
            <a:xfrm rot="0">
              <a:off x="0" y="0"/>
              <a:ext cx="10070479" cy="4313451"/>
              <a:chOff x="0" y="0"/>
              <a:chExt cx="1989201" cy="852040"/>
            </a:xfrm>
          </p:grpSpPr>
          <p:sp>
            <p:nvSpPr>
              <p:cNvPr name="Freeform 26" id="26"/>
              <p:cNvSpPr/>
              <p:nvPr/>
            </p:nvSpPr>
            <p:spPr>
              <a:xfrm flipH="false" flipV="false" rot="0">
                <a:off x="0" y="0"/>
                <a:ext cx="1989201" cy="852040"/>
              </a:xfrm>
              <a:custGeom>
                <a:avLst/>
                <a:gdLst/>
                <a:ahLst/>
                <a:cxnLst/>
                <a:rect r="r" b="b" t="t" l="l"/>
                <a:pathLst>
                  <a:path h="852040" w="1989201">
                    <a:moveTo>
                      <a:pt x="1989201" y="41001"/>
                    </a:moveTo>
                    <a:lnTo>
                      <a:pt x="1989201" y="811038"/>
                    </a:lnTo>
                    <a:cubicBezTo>
                      <a:pt x="1989201" y="821913"/>
                      <a:pt x="1984881" y="832341"/>
                      <a:pt x="1977192" y="840031"/>
                    </a:cubicBezTo>
                    <a:cubicBezTo>
                      <a:pt x="1969503" y="847720"/>
                      <a:pt x="1959074" y="852040"/>
                      <a:pt x="1948200" y="852040"/>
                    </a:cubicBezTo>
                    <a:lnTo>
                      <a:pt x="41001" y="852040"/>
                    </a:lnTo>
                    <a:cubicBezTo>
                      <a:pt x="18357" y="852040"/>
                      <a:pt x="0" y="833683"/>
                      <a:pt x="0" y="811038"/>
                    </a:cubicBezTo>
                    <a:lnTo>
                      <a:pt x="0" y="41001"/>
                    </a:lnTo>
                    <a:cubicBezTo>
                      <a:pt x="0" y="18357"/>
                      <a:pt x="18357" y="0"/>
                      <a:pt x="41001" y="0"/>
                    </a:cubicBezTo>
                    <a:lnTo>
                      <a:pt x="1948200" y="0"/>
                    </a:lnTo>
                    <a:cubicBezTo>
                      <a:pt x="1970844" y="0"/>
                      <a:pt x="1989201" y="18357"/>
                      <a:pt x="1989201" y="41001"/>
                    </a:cubicBezTo>
                    <a:close/>
                  </a:path>
                </a:pathLst>
              </a:custGeom>
              <a:solidFill>
                <a:srgbClr val="FFAE02">
                  <a:alpha val="26667"/>
                </a:srgbClr>
              </a:solidFill>
            </p:spPr>
          </p:sp>
          <p:sp>
            <p:nvSpPr>
              <p:cNvPr name="TextBox 27" id="27"/>
              <p:cNvSpPr txBox="true"/>
              <p:nvPr/>
            </p:nvSpPr>
            <p:spPr>
              <a:xfrm>
                <a:off x="0" y="-47625"/>
                <a:ext cx="1989201" cy="899665"/>
              </a:xfrm>
              <a:prstGeom prst="rect">
                <a:avLst/>
              </a:prstGeom>
            </p:spPr>
            <p:txBody>
              <a:bodyPr anchor="ctr" rtlCol="false" tIns="50800" lIns="50800" bIns="50800" rIns="50800"/>
              <a:lstStyle/>
              <a:p>
                <a:pPr algn="ctr">
                  <a:lnSpc>
                    <a:spcPts val="2309"/>
                  </a:lnSpc>
                </a:pPr>
              </a:p>
            </p:txBody>
          </p:sp>
        </p:grpSp>
        <p:sp>
          <p:nvSpPr>
            <p:cNvPr name="Freeform 28" id="28"/>
            <p:cNvSpPr/>
            <p:nvPr/>
          </p:nvSpPr>
          <p:spPr>
            <a:xfrm flipH="false" flipV="false" rot="0">
              <a:off x="1950907" y="1826059"/>
              <a:ext cx="1235434" cy="1497217"/>
            </a:xfrm>
            <a:custGeom>
              <a:avLst/>
              <a:gdLst/>
              <a:ahLst/>
              <a:cxnLst/>
              <a:rect r="r" b="b" t="t" l="l"/>
              <a:pathLst>
                <a:path h="1497217" w="1235434">
                  <a:moveTo>
                    <a:pt x="0" y="0"/>
                  </a:moveTo>
                  <a:lnTo>
                    <a:pt x="1235434" y="0"/>
                  </a:lnTo>
                  <a:lnTo>
                    <a:pt x="1235434" y="1497217"/>
                  </a:lnTo>
                  <a:lnTo>
                    <a:pt x="0" y="1497217"/>
                  </a:lnTo>
                  <a:lnTo>
                    <a:pt x="0" y="0"/>
                  </a:lnTo>
                  <a:close/>
                </a:path>
              </a:pathLst>
            </a:custGeom>
            <a:blipFill>
              <a:blip r:embed="rId7"/>
              <a:stretch>
                <a:fillRect l="0" t="0" r="0" b="0"/>
              </a:stretch>
            </a:blipFill>
          </p:spPr>
        </p:sp>
        <p:sp>
          <p:nvSpPr>
            <p:cNvPr name="TextBox 29" id="29"/>
            <p:cNvSpPr txBox="true"/>
            <p:nvPr/>
          </p:nvSpPr>
          <p:spPr>
            <a:xfrm rot="0">
              <a:off x="2013617" y="3113400"/>
              <a:ext cx="1266898" cy="338073"/>
            </a:xfrm>
            <a:prstGeom prst="rect">
              <a:avLst/>
            </a:prstGeom>
          </p:spPr>
          <p:txBody>
            <a:bodyPr anchor="t" rtlCol="false" tIns="0" lIns="0" bIns="0" rIns="0">
              <a:spAutoFit/>
            </a:bodyPr>
            <a:lstStyle/>
            <a:p>
              <a:pPr algn="ctr">
                <a:lnSpc>
                  <a:spcPts val="2057"/>
                </a:lnSpc>
                <a:spcBef>
                  <a:spcPct val="0"/>
                </a:spcBef>
              </a:pPr>
              <a:r>
                <a:rPr lang="en-US" sz="1508">
                  <a:solidFill>
                    <a:srgbClr val="000000"/>
                  </a:solidFill>
                  <a:latin typeface="Arial"/>
                  <a:ea typeface="Arial"/>
                  <a:cs typeface="Arial"/>
                  <a:sym typeface="Arial"/>
                </a:rPr>
                <a:t>Python</a:t>
              </a:r>
            </a:p>
          </p:txBody>
        </p:sp>
        <p:sp>
          <p:nvSpPr>
            <p:cNvPr name="Freeform 30" id="30"/>
            <p:cNvSpPr/>
            <p:nvPr/>
          </p:nvSpPr>
          <p:spPr>
            <a:xfrm flipH="false" flipV="false" rot="0">
              <a:off x="3725015" y="1826059"/>
              <a:ext cx="1310224" cy="1310224"/>
            </a:xfrm>
            <a:custGeom>
              <a:avLst/>
              <a:gdLst/>
              <a:ahLst/>
              <a:cxnLst/>
              <a:rect r="r" b="b" t="t" l="l"/>
              <a:pathLst>
                <a:path h="1310224" w="1310224">
                  <a:moveTo>
                    <a:pt x="0" y="0"/>
                  </a:moveTo>
                  <a:lnTo>
                    <a:pt x="1310225" y="0"/>
                  </a:lnTo>
                  <a:lnTo>
                    <a:pt x="1310225" y="1310224"/>
                  </a:lnTo>
                  <a:lnTo>
                    <a:pt x="0" y="1310224"/>
                  </a:lnTo>
                  <a:lnTo>
                    <a:pt x="0" y="0"/>
                  </a:lnTo>
                  <a:close/>
                </a:path>
              </a:pathLst>
            </a:custGeom>
            <a:blipFill>
              <a:blip r:embed="rId8"/>
              <a:stretch>
                <a:fillRect l="0" t="0" r="0" b="0"/>
              </a:stretch>
            </a:blipFill>
          </p:spPr>
        </p:sp>
        <p:sp>
          <p:nvSpPr>
            <p:cNvPr name="TextBox 31" id="31"/>
            <p:cNvSpPr txBox="true"/>
            <p:nvPr/>
          </p:nvSpPr>
          <p:spPr>
            <a:xfrm rot="0">
              <a:off x="3977125" y="3224911"/>
              <a:ext cx="806004" cy="332121"/>
            </a:xfrm>
            <a:prstGeom prst="rect">
              <a:avLst/>
            </a:prstGeom>
          </p:spPr>
          <p:txBody>
            <a:bodyPr anchor="t" rtlCol="false" tIns="0" lIns="0" bIns="0" rIns="0">
              <a:spAutoFit/>
            </a:bodyPr>
            <a:lstStyle/>
            <a:p>
              <a:pPr algn="ctr">
                <a:lnSpc>
                  <a:spcPts val="1914"/>
                </a:lnSpc>
                <a:spcBef>
                  <a:spcPct val="0"/>
                </a:spcBef>
              </a:pPr>
              <a:r>
                <a:rPr lang="en-US" sz="1403">
                  <a:solidFill>
                    <a:srgbClr val="000000"/>
                  </a:solidFill>
                  <a:latin typeface="Arial"/>
                  <a:ea typeface="Arial"/>
                  <a:cs typeface="Arial"/>
                  <a:sym typeface="Arial"/>
                </a:rPr>
                <a:t>Pandas</a:t>
              </a:r>
            </a:p>
          </p:txBody>
        </p:sp>
        <p:sp>
          <p:nvSpPr>
            <p:cNvPr name="Freeform 32" id="32"/>
            <p:cNvSpPr/>
            <p:nvPr/>
          </p:nvSpPr>
          <p:spPr>
            <a:xfrm flipH="false" flipV="false" rot="0">
              <a:off x="5543019" y="1869497"/>
              <a:ext cx="1297839" cy="1205136"/>
            </a:xfrm>
            <a:custGeom>
              <a:avLst/>
              <a:gdLst/>
              <a:ahLst/>
              <a:cxnLst/>
              <a:rect r="r" b="b" t="t" l="l"/>
              <a:pathLst>
                <a:path h="1205136" w="1297839">
                  <a:moveTo>
                    <a:pt x="0" y="0"/>
                  </a:moveTo>
                  <a:lnTo>
                    <a:pt x="1297838" y="0"/>
                  </a:lnTo>
                  <a:lnTo>
                    <a:pt x="1297838" y="1205135"/>
                  </a:lnTo>
                  <a:lnTo>
                    <a:pt x="0" y="1205135"/>
                  </a:lnTo>
                  <a:lnTo>
                    <a:pt x="0" y="0"/>
                  </a:lnTo>
                  <a:close/>
                </a:path>
              </a:pathLst>
            </a:custGeom>
            <a:blipFill>
              <a:blip r:embed="rId9"/>
              <a:stretch>
                <a:fillRect l="0" t="0" r="0" b="0"/>
              </a:stretch>
            </a:blipFill>
          </p:spPr>
        </p:sp>
        <p:sp>
          <p:nvSpPr>
            <p:cNvPr name="TextBox 33" id="33"/>
            <p:cNvSpPr txBox="true"/>
            <p:nvPr/>
          </p:nvSpPr>
          <p:spPr>
            <a:xfrm rot="0">
              <a:off x="5770341" y="3036532"/>
              <a:ext cx="843194" cy="356778"/>
            </a:xfrm>
            <a:prstGeom prst="rect">
              <a:avLst/>
            </a:prstGeom>
          </p:spPr>
          <p:txBody>
            <a:bodyPr anchor="t" rtlCol="false" tIns="0" lIns="0" bIns="0" rIns="0">
              <a:spAutoFit/>
            </a:bodyPr>
            <a:lstStyle/>
            <a:p>
              <a:pPr algn="ctr">
                <a:lnSpc>
                  <a:spcPts val="2145"/>
                </a:lnSpc>
                <a:spcBef>
                  <a:spcPct val="0"/>
                </a:spcBef>
              </a:pPr>
              <a:r>
                <a:rPr lang="en-US" sz="1572">
                  <a:solidFill>
                    <a:srgbClr val="000000"/>
                  </a:solidFill>
                  <a:latin typeface="Arial"/>
                  <a:ea typeface="Arial"/>
                  <a:cs typeface="Arial"/>
                  <a:sym typeface="Arial"/>
                </a:rPr>
                <a:t>Numpy</a:t>
              </a:r>
            </a:p>
          </p:txBody>
        </p:sp>
        <p:sp>
          <p:nvSpPr>
            <p:cNvPr name="Freeform 34" id="34"/>
            <p:cNvSpPr/>
            <p:nvPr/>
          </p:nvSpPr>
          <p:spPr>
            <a:xfrm flipH="false" flipV="false" rot="0">
              <a:off x="7588257" y="1905029"/>
              <a:ext cx="1152286" cy="1152286"/>
            </a:xfrm>
            <a:custGeom>
              <a:avLst/>
              <a:gdLst/>
              <a:ahLst/>
              <a:cxnLst/>
              <a:rect r="r" b="b" t="t" l="l"/>
              <a:pathLst>
                <a:path h="1152286" w="1152286">
                  <a:moveTo>
                    <a:pt x="0" y="0"/>
                  </a:moveTo>
                  <a:lnTo>
                    <a:pt x="1152286" y="0"/>
                  </a:lnTo>
                  <a:lnTo>
                    <a:pt x="1152286" y="1152285"/>
                  </a:lnTo>
                  <a:lnTo>
                    <a:pt x="0" y="1152285"/>
                  </a:lnTo>
                  <a:lnTo>
                    <a:pt x="0" y="0"/>
                  </a:lnTo>
                  <a:close/>
                </a:path>
              </a:pathLst>
            </a:custGeom>
            <a:blipFill>
              <a:blip r:embed="rId10"/>
              <a:stretch>
                <a:fillRect l="0" t="0" r="0" b="0"/>
              </a:stretch>
            </a:blipFill>
          </p:spPr>
        </p:sp>
        <p:sp>
          <p:nvSpPr>
            <p:cNvPr name="TextBox 35" id="35"/>
            <p:cNvSpPr txBox="true"/>
            <p:nvPr/>
          </p:nvSpPr>
          <p:spPr>
            <a:xfrm rot="0">
              <a:off x="2448096" y="592200"/>
              <a:ext cx="5506262" cy="578178"/>
            </a:xfrm>
            <a:prstGeom prst="rect">
              <a:avLst/>
            </a:prstGeom>
          </p:spPr>
          <p:txBody>
            <a:bodyPr anchor="t" rtlCol="false" tIns="0" lIns="0" bIns="0" rIns="0">
              <a:spAutoFit/>
            </a:bodyPr>
            <a:lstStyle/>
            <a:p>
              <a:pPr algn="ctr">
                <a:lnSpc>
                  <a:spcPts val="3500"/>
                </a:lnSpc>
                <a:spcBef>
                  <a:spcPct val="0"/>
                </a:spcBef>
              </a:pPr>
              <a:r>
                <a:rPr lang="en-US" b="true" sz="2500" u="sng">
                  <a:solidFill>
                    <a:srgbClr val="000000"/>
                  </a:solidFill>
                  <a:latin typeface="Poppins Bold"/>
                  <a:ea typeface="Poppins Bold"/>
                  <a:cs typeface="Poppins Bold"/>
                  <a:sym typeface="Poppins Bold"/>
                </a:rPr>
                <a:t>Data Engineering</a:t>
              </a:r>
            </a:p>
          </p:txBody>
        </p:sp>
        <p:sp>
          <p:nvSpPr>
            <p:cNvPr name="TextBox 36" id="36"/>
            <p:cNvSpPr txBox="true"/>
            <p:nvPr/>
          </p:nvSpPr>
          <p:spPr>
            <a:xfrm rot="0">
              <a:off x="7284767" y="3265888"/>
              <a:ext cx="1759265" cy="235795"/>
            </a:xfrm>
            <a:prstGeom prst="rect">
              <a:avLst/>
            </a:prstGeom>
          </p:spPr>
          <p:txBody>
            <a:bodyPr anchor="t" rtlCol="false" tIns="0" lIns="0" bIns="0" rIns="0">
              <a:spAutoFit/>
            </a:bodyPr>
            <a:lstStyle/>
            <a:p>
              <a:pPr algn="ctr">
                <a:lnSpc>
                  <a:spcPts val="1540"/>
                </a:lnSpc>
              </a:pPr>
              <a:r>
                <a:rPr lang="en-US" sz="1100" b="true">
                  <a:solidFill>
                    <a:srgbClr val="000000"/>
                  </a:solidFill>
                  <a:latin typeface="Canva Sans Bold"/>
                  <a:ea typeface="Canva Sans Bold"/>
                  <a:cs typeface="Canva Sans Bold"/>
                  <a:sym typeface="Canva Sans Bold"/>
                </a:rPr>
                <a:t>NASA POWER API</a:t>
              </a:r>
            </a:p>
          </p:txBody>
        </p:sp>
      </p:grpSp>
      <p:grpSp>
        <p:nvGrpSpPr>
          <p:cNvPr name="Group 37" id="37"/>
          <p:cNvGrpSpPr/>
          <p:nvPr/>
        </p:nvGrpSpPr>
        <p:grpSpPr>
          <a:xfrm rot="0">
            <a:off x="9144000" y="5511626"/>
            <a:ext cx="7552859" cy="3086100"/>
            <a:chOff x="0" y="0"/>
            <a:chExt cx="10070479" cy="4114800"/>
          </a:xfrm>
        </p:grpSpPr>
        <p:grpSp>
          <p:nvGrpSpPr>
            <p:cNvPr name="Group 38" id="38"/>
            <p:cNvGrpSpPr/>
            <p:nvPr/>
          </p:nvGrpSpPr>
          <p:grpSpPr>
            <a:xfrm rot="0">
              <a:off x="0" y="0"/>
              <a:ext cx="10070479" cy="4114800"/>
              <a:chOff x="0" y="0"/>
              <a:chExt cx="1989230" cy="812800"/>
            </a:xfrm>
          </p:grpSpPr>
          <p:sp>
            <p:nvSpPr>
              <p:cNvPr name="Freeform 39" id="39"/>
              <p:cNvSpPr/>
              <p:nvPr/>
            </p:nvSpPr>
            <p:spPr>
              <a:xfrm flipH="false" flipV="false" rot="0">
                <a:off x="0" y="0"/>
                <a:ext cx="1989231" cy="812800"/>
              </a:xfrm>
              <a:custGeom>
                <a:avLst/>
                <a:gdLst/>
                <a:ahLst/>
                <a:cxnLst/>
                <a:rect r="r" b="b" t="t" l="l"/>
                <a:pathLst>
                  <a:path h="812800" w="1989231">
                    <a:moveTo>
                      <a:pt x="42026" y="0"/>
                    </a:moveTo>
                    <a:lnTo>
                      <a:pt x="1947204" y="0"/>
                    </a:lnTo>
                    <a:cubicBezTo>
                      <a:pt x="1958350" y="0"/>
                      <a:pt x="1969040" y="4428"/>
                      <a:pt x="1976921" y="12309"/>
                    </a:cubicBezTo>
                    <a:cubicBezTo>
                      <a:pt x="1984803" y="20191"/>
                      <a:pt x="1989231" y="30880"/>
                      <a:pt x="1989231" y="42026"/>
                    </a:cubicBezTo>
                    <a:lnTo>
                      <a:pt x="1989231" y="770774"/>
                    </a:lnTo>
                    <a:cubicBezTo>
                      <a:pt x="1989231" y="781920"/>
                      <a:pt x="1984803" y="792609"/>
                      <a:pt x="1976921" y="800491"/>
                    </a:cubicBezTo>
                    <a:cubicBezTo>
                      <a:pt x="1969040" y="808372"/>
                      <a:pt x="1958350" y="812800"/>
                      <a:pt x="1947204" y="812800"/>
                    </a:cubicBezTo>
                    <a:lnTo>
                      <a:pt x="42026" y="812800"/>
                    </a:lnTo>
                    <a:cubicBezTo>
                      <a:pt x="30880" y="812800"/>
                      <a:pt x="20191" y="808372"/>
                      <a:pt x="12309" y="800491"/>
                    </a:cubicBezTo>
                    <a:cubicBezTo>
                      <a:pt x="4428" y="792609"/>
                      <a:pt x="0" y="781920"/>
                      <a:pt x="0" y="770774"/>
                    </a:cubicBezTo>
                    <a:lnTo>
                      <a:pt x="0" y="42026"/>
                    </a:lnTo>
                    <a:cubicBezTo>
                      <a:pt x="0" y="30880"/>
                      <a:pt x="4428" y="20191"/>
                      <a:pt x="12309" y="12309"/>
                    </a:cubicBezTo>
                    <a:cubicBezTo>
                      <a:pt x="20191" y="4428"/>
                      <a:pt x="30880" y="0"/>
                      <a:pt x="42026" y="0"/>
                    </a:cubicBezTo>
                    <a:close/>
                  </a:path>
                </a:pathLst>
              </a:custGeom>
              <a:solidFill>
                <a:srgbClr val="F57171"/>
              </a:solidFill>
            </p:spPr>
          </p:sp>
          <p:sp>
            <p:nvSpPr>
              <p:cNvPr name="TextBox 40" id="40"/>
              <p:cNvSpPr txBox="true"/>
              <p:nvPr/>
            </p:nvSpPr>
            <p:spPr>
              <a:xfrm>
                <a:off x="0" y="-47625"/>
                <a:ext cx="1989230" cy="860425"/>
              </a:xfrm>
              <a:prstGeom prst="rect">
                <a:avLst/>
              </a:prstGeom>
            </p:spPr>
            <p:txBody>
              <a:bodyPr anchor="ctr" rtlCol="false" tIns="50800" lIns="50800" bIns="50800" rIns="50800"/>
              <a:lstStyle/>
              <a:p>
                <a:pPr algn="ctr">
                  <a:lnSpc>
                    <a:spcPts val="2105"/>
                  </a:lnSpc>
                </a:pPr>
              </a:p>
            </p:txBody>
          </p:sp>
        </p:grpSp>
        <p:grpSp>
          <p:nvGrpSpPr>
            <p:cNvPr name="Group 41" id="41"/>
            <p:cNvGrpSpPr/>
            <p:nvPr/>
          </p:nvGrpSpPr>
          <p:grpSpPr>
            <a:xfrm rot="0">
              <a:off x="1865441" y="299742"/>
              <a:ext cx="6881061" cy="935797"/>
              <a:chOff x="0" y="0"/>
              <a:chExt cx="1359222" cy="184849"/>
            </a:xfrm>
          </p:grpSpPr>
          <p:sp>
            <p:nvSpPr>
              <p:cNvPr name="Freeform 42" id="42"/>
              <p:cNvSpPr/>
              <p:nvPr/>
            </p:nvSpPr>
            <p:spPr>
              <a:xfrm flipH="false" flipV="false" rot="0">
                <a:off x="0" y="0"/>
                <a:ext cx="1359222" cy="184849"/>
              </a:xfrm>
              <a:custGeom>
                <a:avLst/>
                <a:gdLst/>
                <a:ahLst/>
                <a:cxnLst/>
                <a:rect r="r" b="b" t="t" l="l"/>
                <a:pathLst>
                  <a:path h="184849" w="1359222">
                    <a:moveTo>
                      <a:pt x="61506" y="0"/>
                    </a:moveTo>
                    <a:lnTo>
                      <a:pt x="1297716" y="0"/>
                    </a:lnTo>
                    <a:cubicBezTo>
                      <a:pt x="1314029" y="0"/>
                      <a:pt x="1329673" y="6480"/>
                      <a:pt x="1341207" y="18015"/>
                    </a:cubicBezTo>
                    <a:cubicBezTo>
                      <a:pt x="1352742" y="29549"/>
                      <a:pt x="1359222" y="45193"/>
                      <a:pt x="1359222" y="61506"/>
                    </a:cubicBezTo>
                    <a:lnTo>
                      <a:pt x="1359222" y="123343"/>
                    </a:lnTo>
                    <a:cubicBezTo>
                      <a:pt x="1359222" y="139655"/>
                      <a:pt x="1352742" y="155300"/>
                      <a:pt x="1341207" y="166834"/>
                    </a:cubicBezTo>
                    <a:cubicBezTo>
                      <a:pt x="1329673" y="178369"/>
                      <a:pt x="1314029" y="184849"/>
                      <a:pt x="1297716" y="184849"/>
                    </a:cubicBezTo>
                    <a:lnTo>
                      <a:pt x="61506" y="184849"/>
                    </a:lnTo>
                    <a:cubicBezTo>
                      <a:pt x="27537" y="184849"/>
                      <a:pt x="0" y="157312"/>
                      <a:pt x="0" y="123343"/>
                    </a:cubicBezTo>
                    <a:lnTo>
                      <a:pt x="0" y="61506"/>
                    </a:lnTo>
                    <a:cubicBezTo>
                      <a:pt x="0" y="45193"/>
                      <a:pt x="6480" y="29549"/>
                      <a:pt x="18015" y="18015"/>
                    </a:cubicBezTo>
                    <a:cubicBezTo>
                      <a:pt x="29549" y="6480"/>
                      <a:pt x="45193" y="0"/>
                      <a:pt x="61506" y="0"/>
                    </a:cubicBezTo>
                    <a:close/>
                  </a:path>
                </a:pathLst>
              </a:custGeom>
              <a:solidFill>
                <a:srgbClr val="D9EDF2"/>
              </a:solidFill>
            </p:spPr>
          </p:sp>
          <p:sp>
            <p:nvSpPr>
              <p:cNvPr name="TextBox 43" id="43"/>
              <p:cNvSpPr txBox="true"/>
              <p:nvPr/>
            </p:nvSpPr>
            <p:spPr>
              <a:xfrm>
                <a:off x="0" y="-47625"/>
                <a:ext cx="1359222" cy="232474"/>
              </a:xfrm>
              <a:prstGeom prst="rect">
                <a:avLst/>
              </a:prstGeom>
            </p:spPr>
            <p:txBody>
              <a:bodyPr anchor="ctr" rtlCol="false" tIns="50800" lIns="50800" bIns="50800" rIns="50800"/>
              <a:lstStyle/>
              <a:p>
                <a:pPr algn="ctr">
                  <a:lnSpc>
                    <a:spcPts val="2105"/>
                  </a:lnSpc>
                </a:pPr>
              </a:p>
            </p:txBody>
          </p:sp>
        </p:grpSp>
        <p:sp>
          <p:nvSpPr>
            <p:cNvPr name="TextBox 44" id="44"/>
            <p:cNvSpPr txBox="true"/>
            <p:nvPr/>
          </p:nvSpPr>
          <p:spPr>
            <a:xfrm rot="0">
              <a:off x="2532290" y="416697"/>
              <a:ext cx="5547363" cy="644736"/>
            </a:xfrm>
            <a:prstGeom prst="rect">
              <a:avLst/>
            </a:prstGeom>
          </p:spPr>
          <p:txBody>
            <a:bodyPr anchor="t" rtlCol="false" tIns="0" lIns="0" bIns="0" rIns="0">
              <a:spAutoFit/>
            </a:bodyPr>
            <a:lstStyle/>
            <a:p>
              <a:pPr algn="ctr">
                <a:lnSpc>
                  <a:spcPts val="4060"/>
                </a:lnSpc>
              </a:pPr>
              <a:r>
                <a:rPr lang="en-US" b="true" sz="2900" u="sng">
                  <a:solidFill>
                    <a:srgbClr val="000000"/>
                  </a:solidFill>
                  <a:latin typeface="Canva Sans Bold"/>
                  <a:ea typeface="Canva Sans Bold"/>
                  <a:cs typeface="Canva Sans Bold"/>
                  <a:sym typeface="Canva Sans Bold"/>
                </a:rPr>
                <a:t>ML-DL Framework</a:t>
              </a:r>
            </a:p>
          </p:txBody>
        </p:sp>
        <p:sp>
          <p:nvSpPr>
            <p:cNvPr name="Freeform 45" id="45"/>
            <p:cNvSpPr/>
            <p:nvPr/>
          </p:nvSpPr>
          <p:spPr>
            <a:xfrm flipH="false" flipV="false" rot="0">
              <a:off x="1506083" y="1975969"/>
              <a:ext cx="2053515" cy="780279"/>
            </a:xfrm>
            <a:custGeom>
              <a:avLst/>
              <a:gdLst/>
              <a:ahLst/>
              <a:cxnLst/>
              <a:rect r="r" b="b" t="t" l="l"/>
              <a:pathLst>
                <a:path h="780279" w="2053515">
                  <a:moveTo>
                    <a:pt x="0" y="0"/>
                  </a:moveTo>
                  <a:lnTo>
                    <a:pt x="2053515" y="0"/>
                  </a:lnTo>
                  <a:lnTo>
                    <a:pt x="2053515" y="780279"/>
                  </a:lnTo>
                  <a:lnTo>
                    <a:pt x="0" y="780279"/>
                  </a:lnTo>
                  <a:lnTo>
                    <a:pt x="0" y="0"/>
                  </a:lnTo>
                  <a:close/>
                </a:path>
              </a:pathLst>
            </a:custGeom>
            <a:blipFill>
              <a:blip r:embed="rId11"/>
              <a:stretch>
                <a:fillRect l="0" t="0" r="0" b="0"/>
              </a:stretch>
            </a:blipFill>
          </p:spPr>
        </p:sp>
        <p:sp>
          <p:nvSpPr>
            <p:cNvPr name="TextBox 46" id="46"/>
            <p:cNvSpPr txBox="true"/>
            <p:nvPr/>
          </p:nvSpPr>
          <p:spPr>
            <a:xfrm rot="0">
              <a:off x="2204097" y="2930878"/>
              <a:ext cx="1109304" cy="311362"/>
            </a:xfrm>
            <a:prstGeom prst="rect">
              <a:avLst/>
            </a:prstGeom>
          </p:spPr>
          <p:txBody>
            <a:bodyPr anchor="t" rtlCol="false" tIns="0" lIns="0" bIns="0" rIns="0">
              <a:spAutoFit/>
            </a:bodyPr>
            <a:lstStyle/>
            <a:p>
              <a:pPr algn="ctr">
                <a:lnSpc>
                  <a:spcPts val="1959"/>
                </a:lnSpc>
              </a:pPr>
              <a:r>
                <a:rPr lang="en-US" sz="1399" b="true">
                  <a:solidFill>
                    <a:srgbClr val="000000"/>
                  </a:solidFill>
                  <a:latin typeface="Canva Sans Bold"/>
                  <a:ea typeface="Canva Sans Bold"/>
                  <a:cs typeface="Canva Sans Bold"/>
                  <a:sym typeface="Canva Sans Bold"/>
                </a:rPr>
                <a:t>PyTorc</a:t>
              </a:r>
              <a:r>
                <a:rPr lang="en-US" sz="1399">
                  <a:solidFill>
                    <a:srgbClr val="000000"/>
                  </a:solidFill>
                  <a:latin typeface="Canva Sans"/>
                  <a:ea typeface="Canva Sans"/>
                  <a:cs typeface="Canva Sans"/>
                  <a:sym typeface="Canva Sans"/>
                </a:rPr>
                <a:t>h</a:t>
              </a:r>
            </a:p>
          </p:txBody>
        </p:sp>
        <p:sp>
          <p:nvSpPr>
            <p:cNvPr name="Freeform 47" id="47"/>
            <p:cNvSpPr/>
            <p:nvPr/>
          </p:nvSpPr>
          <p:spPr>
            <a:xfrm flipH="false" flipV="false" rot="0">
              <a:off x="4283495" y="1794339"/>
              <a:ext cx="1240405" cy="1357793"/>
            </a:xfrm>
            <a:custGeom>
              <a:avLst/>
              <a:gdLst/>
              <a:ahLst/>
              <a:cxnLst/>
              <a:rect r="r" b="b" t="t" l="l"/>
              <a:pathLst>
                <a:path h="1357793" w="1240405">
                  <a:moveTo>
                    <a:pt x="0" y="0"/>
                  </a:moveTo>
                  <a:lnTo>
                    <a:pt x="1240405" y="0"/>
                  </a:lnTo>
                  <a:lnTo>
                    <a:pt x="1240405" y="1357793"/>
                  </a:lnTo>
                  <a:lnTo>
                    <a:pt x="0" y="1357793"/>
                  </a:lnTo>
                  <a:lnTo>
                    <a:pt x="0" y="0"/>
                  </a:lnTo>
                  <a:close/>
                </a:path>
              </a:pathLst>
            </a:custGeom>
            <a:blipFill>
              <a:blip r:embed="rId12"/>
              <a:stretch>
                <a:fillRect l="0" t="0" r="0" b="0"/>
              </a:stretch>
            </a:blipFill>
          </p:spPr>
        </p:sp>
        <p:sp>
          <p:nvSpPr>
            <p:cNvPr name="TextBox 48" id="48"/>
            <p:cNvSpPr txBox="true"/>
            <p:nvPr/>
          </p:nvSpPr>
          <p:spPr>
            <a:xfrm rot="0">
              <a:off x="4167397" y="3244418"/>
              <a:ext cx="1506083" cy="298872"/>
            </a:xfrm>
            <a:prstGeom prst="rect">
              <a:avLst/>
            </a:prstGeom>
          </p:spPr>
          <p:txBody>
            <a:bodyPr anchor="t" rtlCol="false" tIns="0" lIns="0" bIns="0" rIns="0">
              <a:spAutoFit/>
            </a:bodyPr>
            <a:lstStyle/>
            <a:p>
              <a:pPr algn="ctr">
                <a:lnSpc>
                  <a:spcPts val="1820"/>
                </a:lnSpc>
              </a:pPr>
              <a:r>
                <a:rPr lang="en-US" sz="1300" b="true">
                  <a:solidFill>
                    <a:srgbClr val="000000"/>
                  </a:solidFill>
                  <a:latin typeface="Canva Sans Bold"/>
                  <a:ea typeface="Canva Sans Bold"/>
                  <a:cs typeface="Canva Sans Bold"/>
                  <a:sym typeface="Canva Sans Bold"/>
                </a:rPr>
                <a:t>TensorFlow</a:t>
              </a:r>
            </a:p>
          </p:txBody>
        </p:sp>
        <p:sp>
          <p:nvSpPr>
            <p:cNvPr name="Freeform 49" id="49"/>
            <p:cNvSpPr/>
            <p:nvPr/>
          </p:nvSpPr>
          <p:spPr>
            <a:xfrm flipH="false" flipV="false" rot="0">
              <a:off x="6370320" y="1896202"/>
              <a:ext cx="1935792" cy="1059679"/>
            </a:xfrm>
            <a:custGeom>
              <a:avLst/>
              <a:gdLst/>
              <a:ahLst/>
              <a:cxnLst/>
              <a:rect r="r" b="b" t="t" l="l"/>
              <a:pathLst>
                <a:path h="1059679" w="1935792">
                  <a:moveTo>
                    <a:pt x="0" y="0"/>
                  </a:moveTo>
                  <a:lnTo>
                    <a:pt x="1935793" y="0"/>
                  </a:lnTo>
                  <a:lnTo>
                    <a:pt x="1935793" y="1059679"/>
                  </a:lnTo>
                  <a:lnTo>
                    <a:pt x="0" y="1059679"/>
                  </a:lnTo>
                  <a:lnTo>
                    <a:pt x="0" y="0"/>
                  </a:lnTo>
                  <a:close/>
                </a:path>
              </a:pathLst>
            </a:custGeom>
            <a:blipFill>
              <a:blip r:embed="rId13"/>
              <a:stretch>
                <a:fillRect l="0" t="0" r="0" b="0"/>
              </a:stretch>
            </a:blipFill>
          </p:spPr>
        </p:sp>
        <p:sp>
          <p:nvSpPr>
            <p:cNvPr name="TextBox 50" id="50"/>
            <p:cNvSpPr txBox="true"/>
            <p:nvPr/>
          </p:nvSpPr>
          <p:spPr>
            <a:xfrm rot="0">
              <a:off x="6404290" y="3114032"/>
              <a:ext cx="2318181" cy="298872"/>
            </a:xfrm>
            <a:prstGeom prst="rect">
              <a:avLst/>
            </a:prstGeom>
          </p:spPr>
          <p:txBody>
            <a:bodyPr anchor="t" rtlCol="false" tIns="0" lIns="0" bIns="0" rIns="0">
              <a:spAutoFit/>
            </a:bodyPr>
            <a:lstStyle/>
            <a:p>
              <a:pPr algn="ctr">
                <a:lnSpc>
                  <a:spcPts val="1820"/>
                </a:lnSpc>
              </a:pPr>
              <a:r>
                <a:rPr lang="en-US" sz="1300" b="true">
                  <a:solidFill>
                    <a:srgbClr val="000000"/>
                  </a:solidFill>
                  <a:latin typeface="Canva Sans Bold"/>
                  <a:ea typeface="Canva Sans Bold"/>
                  <a:cs typeface="Canva Sans Bold"/>
                  <a:sym typeface="Canva Sans Bold"/>
                </a:rPr>
                <a:t>Sc</a:t>
              </a:r>
              <a:r>
                <a:rPr lang="en-US" b="true" sz="1300">
                  <a:solidFill>
                    <a:srgbClr val="000000"/>
                  </a:solidFill>
                  <a:latin typeface="Canva Sans Bold"/>
                  <a:ea typeface="Canva Sans Bold"/>
                  <a:cs typeface="Canva Sans Bold"/>
                  <a:sym typeface="Canva Sans Bold"/>
                </a:rPr>
                <a:t>ikit-Learn</a:t>
              </a:r>
            </a:p>
          </p:txBody>
        </p:sp>
      </p:grpSp>
      <p:grpSp>
        <p:nvGrpSpPr>
          <p:cNvPr name="Group 51" id="51"/>
          <p:cNvGrpSpPr/>
          <p:nvPr/>
        </p:nvGrpSpPr>
        <p:grpSpPr>
          <a:xfrm rot="0">
            <a:off x="-1060216" y="1261579"/>
            <a:ext cx="10766657" cy="2550392"/>
            <a:chOff x="0" y="0"/>
            <a:chExt cx="14355543" cy="3400522"/>
          </a:xfrm>
        </p:grpSpPr>
        <p:grpSp>
          <p:nvGrpSpPr>
            <p:cNvPr name="Group 52" id="52"/>
            <p:cNvGrpSpPr/>
            <p:nvPr/>
          </p:nvGrpSpPr>
          <p:grpSpPr>
            <a:xfrm rot="0">
              <a:off x="3594473" y="0"/>
              <a:ext cx="7207694" cy="3400522"/>
              <a:chOff x="0" y="0"/>
              <a:chExt cx="1805943" cy="852040"/>
            </a:xfrm>
          </p:grpSpPr>
          <p:sp>
            <p:nvSpPr>
              <p:cNvPr name="Freeform 53" id="53"/>
              <p:cNvSpPr/>
              <p:nvPr/>
            </p:nvSpPr>
            <p:spPr>
              <a:xfrm flipH="false" flipV="false" rot="0">
                <a:off x="0" y="0"/>
                <a:ext cx="1805943" cy="852040"/>
              </a:xfrm>
              <a:custGeom>
                <a:avLst/>
                <a:gdLst/>
                <a:ahLst/>
                <a:cxnLst/>
                <a:rect r="r" b="b" t="t" l="l"/>
                <a:pathLst>
                  <a:path h="852040" w="1805943">
                    <a:moveTo>
                      <a:pt x="1805943" y="57391"/>
                    </a:moveTo>
                    <a:lnTo>
                      <a:pt x="1805943" y="794648"/>
                    </a:lnTo>
                    <a:cubicBezTo>
                      <a:pt x="1805943" y="809869"/>
                      <a:pt x="1799897" y="824467"/>
                      <a:pt x="1789134" y="835230"/>
                    </a:cubicBezTo>
                    <a:cubicBezTo>
                      <a:pt x="1778371" y="845993"/>
                      <a:pt x="1763773" y="852040"/>
                      <a:pt x="1748552" y="852040"/>
                    </a:cubicBezTo>
                    <a:lnTo>
                      <a:pt x="57391" y="852040"/>
                    </a:lnTo>
                    <a:cubicBezTo>
                      <a:pt x="42170" y="852040"/>
                      <a:pt x="27573" y="845993"/>
                      <a:pt x="16810" y="835230"/>
                    </a:cubicBezTo>
                    <a:cubicBezTo>
                      <a:pt x="6047" y="824467"/>
                      <a:pt x="0" y="809869"/>
                      <a:pt x="0" y="794648"/>
                    </a:cubicBezTo>
                    <a:lnTo>
                      <a:pt x="0" y="57391"/>
                    </a:lnTo>
                    <a:cubicBezTo>
                      <a:pt x="0" y="42170"/>
                      <a:pt x="6047" y="27573"/>
                      <a:pt x="16810" y="16810"/>
                    </a:cubicBezTo>
                    <a:cubicBezTo>
                      <a:pt x="27573" y="6047"/>
                      <a:pt x="42170" y="0"/>
                      <a:pt x="57391" y="0"/>
                    </a:cubicBezTo>
                    <a:lnTo>
                      <a:pt x="1748552" y="0"/>
                    </a:lnTo>
                    <a:cubicBezTo>
                      <a:pt x="1763773" y="0"/>
                      <a:pt x="1778371" y="6047"/>
                      <a:pt x="1789134" y="16810"/>
                    </a:cubicBezTo>
                    <a:cubicBezTo>
                      <a:pt x="1799897" y="27573"/>
                      <a:pt x="1805943" y="42170"/>
                      <a:pt x="1805943" y="57391"/>
                    </a:cubicBezTo>
                    <a:close/>
                  </a:path>
                </a:pathLst>
              </a:custGeom>
              <a:solidFill>
                <a:srgbClr val="FFFA8A">
                  <a:alpha val="26667"/>
                </a:srgbClr>
              </a:solidFill>
            </p:spPr>
          </p:sp>
          <p:sp>
            <p:nvSpPr>
              <p:cNvPr name="TextBox 54" id="54"/>
              <p:cNvSpPr txBox="true"/>
              <p:nvPr/>
            </p:nvSpPr>
            <p:spPr>
              <a:xfrm>
                <a:off x="0" y="-47625"/>
                <a:ext cx="1805943" cy="899665"/>
              </a:xfrm>
              <a:prstGeom prst="rect">
                <a:avLst/>
              </a:prstGeom>
            </p:spPr>
            <p:txBody>
              <a:bodyPr anchor="ctr" rtlCol="false" tIns="50707" lIns="50707" bIns="50707" rIns="50707"/>
              <a:lstStyle/>
              <a:p>
                <a:pPr algn="ctr">
                  <a:lnSpc>
                    <a:spcPts val="2309"/>
                  </a:lnSpc>
                </a:pPr>
              </a:p>
            </p:txBody>
          </p:sp>
        </p:grpSp>
        <p:sp>
          <p:nvSpPr>
            <p:cNvPr name="Freeform 55" id="55"/>
            <p:cNvSpPr/>
            <p:nvPr/>
          </p:nvSpPr>
          <p:spPr>
            <a:xfrm flipH="false" flipV="false" rot="0">
              <a:off x="7875288" y="1996823"/>
              <a:ext cx="1555054" cy="901404"/>
            </a:xfrm>
            <a:custGeom>
              <a:avLst/>
              <a:gdLst/>
              <a:ahLst/>
              <a:cxnLst/>
              <a:rect r="r" b="b" t="t" l="l"/>
              <a:pathLst>
                <a:path h="901404" w="1555054">
                  <a:moveTo>
                    <a:pt x="0" y="0"/>
                  </a:moveTo>
                  <a:lnTo>
                    <a:pt x="1555054" y="0"/>
                  </a:lnTo>
                  <a:lnTo>
                    <a:pt x="1555054" y="901405"/>
                  </a:lnTo>
                  <a:lnTo>
                    <a:pt x="0" y="901405"/>
                  </a:lnTo>
                  <a:lnTo>
                    <a:pt x="0" y="0"/>
                  </a:lnTo>
                  <a:close/>
                </a:path>
              </a:pathLst>
            </a:custGeom>
            <a:blipFill>
              <a:blip r:embed="rId14"/>
              <a:stretch>
                <a:fillRect l="0" t="0" r="0" b="0"/>
              </a:stretch>
            </a:blipFill>
            <a:ln w="9525" cap="sq">
              <a:solidFill>
                <a:srgbClr val="000000"/>
              </a:solidFill>
              <a:prstDash val="solid"/>
              <a:miter/>
            </a:ln>
          </p:spPr>
        </p:sp>
        <p:sp>
          <p:nvSpPr>
            <p:cNvPr name="Freeform 56" id="56"/>
            <p:cNvSpPr/>
            <p:nvPr/>
          </p:nvSpPr>
          <p:spPr>
            <a:xfrm flipH="false" flipV="false" rot="0">
              <a:off x="5261703" y="2067623"/>
              <a:ext cx="1548064" cy="759805"/>
            </a:xfrm>
            <a:custGeom>
              <a:avLst/>
              <a:gdLst/>
              <a:ahLst/>
              <a:cxnLst/>
              <a:rect r="r" b="b" t="t" l="l"/>
              <a:pathLst>
                <a:path h="759805" w="1548064">
                  <a:moveTo>
                    <a:pt x="0" y="0"/>
                  </a:moveTo>
                  <a:lnTo>
                    <a:pt x="1548064" y="0"/>
                  </a:lnTo>
                  <a:lnTo>
                    <a:pt x="1548064" y="759805"/>
                  </a:lnTo>
                  <a:lnTo>
                    <a:pt x="0" y="759805"/>
                  </a:lnTo>
                  <a:lnTo>
                    <a:pt x="0" y="0"/>
                  </a:lnTo>
                  <a:close/>
                </a:path>
              </a:pathLst>
            </a:custGeom>
            <a:blipFill>
              <a:blip r:embed="rId15"/>
              <a:stretch>
                <a:fillRect l="0" t="-51013" r="0" b="-52730"/>
              </a:stretch>
            </a:blipFill>
          </p:spPr>
        </p:sp>
        <p:sp>
          <p:nvSpPr>
            <p:cNvPr name="Freeform 57" id="57"/>
            <p:cNvSpPr/>
            <p:nvPr/>
          </p:nvSpPr>
          <p:spPr>
            <a:xfrm flipH="false" flipV="false" rot="0">
              <a:off x="4971144" y="347490"/>
              <a:ext cx="4413255" cy="802410"/>
            </a:xfrm>
            <a:custGeom>
              <a:avLst/>
              <a:gdLst/>
              <a:ahLst/>
              <a:cxnLst/>
              <a:rect r="r" b="b" t="t" l="l"/>
              <a:pathLst>
                <a:path h="802410" w="4413255">
                  <a:moveTo>
                    <a:pt x="0" y="0"/>
                  </a:moveTo>
                  <a:lnTo>
                    <a:pt x="4413255" y="0"/>
                  </a:lnTo>
                  <a:lnTo>
                    <a:pt x="4413255" y="802410"/>
                  </a:lnTo>
                  <a:lnTo>
                    <a:pt x="0" y="80241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58" id="58"/>
            <p:cNvSpPr/>
            <p:nvPr/>
          </p:nvSpPr>
          <p:spPr>
            <a:xfrm flipH="false" flipV="false" rot="0">
              <a:off x="4961089" y="601963"/>
              <a:ext cx="4413255" cy="802410"/>
            </a:xfrm>
            <a:custGeom>
              <a:avLst/>
              <a:gdLst/>
              <a:ahLst/>
              <a:cxnLst/>
              <a:rect r="r" b="b" t="t" l="l"/>
              <a:pathLst>
                <a:path h="802410" w="4413255">
                  <a:moveTo>
                    <a:pt x="0" y="0"/>
                  </a:moveTo>
                  <a:lnTo>
                    <a:pt x="4413255" y="0"/>
                  </a:lnTo>
                  <a:lnTo>
                    <a:pt x="4413255" y="802409"/>
                  </a:lnTo>
                  <a:lnTo>
                    <a:pt x="0" y="80240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59" id="59"/>
            <p:cNvSpPr txBox="true"/>
            <p:nvPr/>
          </p:nvSpPr>
          <p:spPr>
            <a:xfrm rot="0">
              <a:off x="7039611" y="1542038"/>
              <a:ext cx="2702888" cy="454786"/>
            </a:xfrm>
            <a:prstGeom prst="rect">
              <a:avLst/>
            </a:prstGeom>
          </p:spPr>
          <p:txBody>
            <a:bodyPr anchor="t" rtlCol="false" tIns="0" lIns="0" bIns="0" rIns="0">
              <a:spAutoFit/>
            </a:bodyPr>
            <a:lstStyle/>
            <a:p>
              <a:pPr algn="ctr">
                <a:lnSpc>
                  <a:spcPts val="2904"/>
                </a:lnSpc>
                <a:spcBef>
                  <a:spcPct val="0"/>
                </a:spcBef>
              </a:pPr>
              <a:r>
                <a:rPr lang="en-US" sz="2074">
                  <a:solidFill>
                    <a:srgbClr val="090909"/>
                  </a:solidFill>
                  <a:latin typeface="Solway"/>
                  <a:ea typeface="Solway"/>
                  <a:cs typeface="Solway"/>
                  <a:sym typeface="Solway"/>
                </a:rPr>
                <a:t>--LangChain</a:t>
              </a:r>
            </a:p>
          </p:txBody>
        </p:sp>
        <p:sp>
          <p:nvSpPr>
            <p:cNvPr name="TextBox 60" id="60"/>
            <p:cNvSpPr txBox="true"/>
            <p:nvPr/>
          </p:nvSpPr>
          <p:spPr>
            <a:xfrm rot="0">
              <a:off x="4611258" y="1590450"/>
              <a:ext cx="2848955" cy="454609"/>
            </a:xfrm>
            <a:prstGeom prst="rect">
              <a:avLst/>
            </a:prstGeom>
          </p:spPr>
          <p:txBody>
            <a:bodyPr anchor="t" rtlCol="false" tIns="0" lIns="0" bIns="0" rIns="0">
              <a:spAutoFit/>
            </a:bodyPr>
            <a:lstStyle/>
            <a:p>
              <a:pPr algn="ctr">
                <a:lnSpc>
                  <a:spcPts val="2911"/>
                </a:lnSpc>
                <a:spcBef>
                  <a:spcPct val="0"/>
                </a:spcBef>
              </a:pPr>
              <a:r>
                <a:rPr lang="en-US" sz="2079">
                  <a:solidFill>
                    <a:srgbClr val="000000"/>
                  </a:solidFill>
                  <a:latin typeface="Solway"/>
                  <a:ea typeface="Solway"/>
                  <a:cs typeface="Solway"/>
                  <a:sym typeface="Solway"/>
                </a:rPr>
                <a:t>--LangGraph</a:t>
              </a:r>
            </a:p>
          </p:txBody>
        </p:sp>
        <p:sp>
          <p:nvSpPr>
            <p:cNvPr name="TextBox 61" id="61"/>
            <p:cNvSpPr txBox="true"/>
            <p:nvPr/>
          </p:nvSpPr>
          <p:spPr>
            <a:xfrm rot="0">
              <a:off x="0" y="290340"/>
              <a:ext cx="14355543" cy="908660"/>
            </a:xfrm>
            <a:prstGeom prst="rect">
              <a:avLst/>
            </a:prstGeom>
          </p:spPr>
          <p:txBody>
            <a:bodyPr anchor="t" rtlCol="false" tIns="0" lIns="0" bIns="0" rIns="0">
              <a:spAutoFit/>
            </a:bodyPr>
            <a:lstStyle/>
            <a:p>
              <a:pPr algn="ctr">
                <a:lnSpc>
                  <a:spcPts val="2738"/>
                </a:lnSpc>
              </a:pPr>
              <a:r>
                <a:rPr lang="en-US" b="true" sz="1955" u="sng">
                  <a:solidFill>
                    <a:srgbClr val="000000"/>
                  </a:solidFill>
                  <a:latin typeface="Poppins Bold"/>
                  <a:ea typeface="Poppins Bold"/>
                  <a:cs typeface="Poppins Bold"/>
                  <a:sym typeface="Poppins Bold"/>
                </a:rPr>
                <a:t>AGENTIC-AI </a:t>
              </a:r>
            </a:p>
            <a:p>
              <a:pPr algn="ctr">
                <a:lnSpc>
                  <a:spcPts val="2738"/>
                </a:lnSpc>
                <a:spcBef>
                  <a:spcPct val="0"/>
                </a:spcBef>
              </a:pPr>
              <a:r>
                <a:rPr lang="en-US" b="true" sz="1955" u="sng">
                  <a:solidFill>
                    <a:srgbClr val="000000"/>
                  </a:solidFill>
                  <a:latin typeface="Poppins Bold"/>
                  <a:ea typeface="Poppins Bold"/>
                  <a:cs typeface="Poppins Bold"/>
                  <a:sym typeface="Poppins Bold"/>
                </a:rPr>
                <a:t>FRAMEWORKS</a:t>
              </a:r>
            </a:p>
          </p:txBody>
        </p:sp>
      </p:grpSp>
      <p:sp>
        <p:nvSpPr>
          <p:cNvPr name="TextBox 62" id="62"/>
          <p:cNvSpPr txBox="true"/>
          <p:nvPr/>
        </p:nvSpPr>
        <p:spPr>
          <a:xfrm rot="0">
            <a:off x="7071507" y="241493"/>
            <a:ext cx="11216493" cy="791486"/>
          </a:xfrm>
          <a:prstGeom prst="rect">
            <a:avLst/>
          </a:prstGeom>
        </p:spPr>
        <p:txBody>
          <a:bodyPr anchor="t" rtlCol="false" tIns="0" lIns="0" bIns="0" rIns="0">
            <a:spAutoFit/>
          </a:bodyPr>
          <a:lstStyle/>
          <a:p>
            <a:pPr algn="l">
              <a:lnSpc>
                <a:spcPts val="6249"/>
              </a:lnSpc>
            </a:pPr>
            <a:r>
              <a:rPr lang="en-US" b="true" sz="4464" u="sng">
                <a:solidFill>
                  <a:srgbClr val="000000"/>
                </a:solidFill>
                <a:latin typeface="Times New Roman Bold"/>
                <a:ea typeface="Times New Roman Bold"/>
                <a:cs typeface="Times New Roman Bold"/>
                <a:sym typeface="Times New Roman Bold"/>
              </a:rPr>
              <a:t>Technology Stack</a:t>
            </a:r>
          </a:p>
        </p:txBody>
      </p:sp>
      <p:grpSp>
        <p:nvGrpSpPr>
          <p:cNvPr name="Group 63" id="63"/>
          <p:cNvGrpSpPr/>
          <p:nvPr/>
        </p:nvGrpSpPr>
        <p:grpSpPr>
          <a:xfrm rot="0">
            <a:off x="1416817" y="4040571"/>
            <a:ext cx="6592875" cy="2400007"/>
            <a:chOff x="0" y="0"/>
            <a:chExt cx="8790500" cy="3200010"/>
          </a:xfrm>
        </p:grpSpPr>
        <p:grpSp>
          <p:nvGrpSpPr>
            <p:cNvPr name="Group 64" id="64"/>
            <p:cNvGrpSpPr/>
            <p:nvPr/>
          </p:nvGrpSpPr>
          <p:grpSpPr>
            <a:xfrm rot="0">
              <a:off x="0" y="0"/>
              <a:ext cx="8790500" cy="3200010"/>
              <a:chOff x="0" y="0"/>
              <a:chExt cx="1736395" cy="632101"/>
            </a:xfrm>
          </p:grpSpPr>
          <p:sp>
            <p:nvSpPr>
              <p:cNvPr name="Freeform 65" id="65"/>
              <p:cNvSpPr/>
              <p:nvPr/>
            </p:nvSpPr>
            <p:spPr>
              <a:xfrm flipH="false" flipV="false" rot="0">
                <a:off x="0" y="0"/>
                <a:ext cx="1736395" cy="632101"/>
              </a:xfrm>
              <a:custGeom>
                <a:avLst/>
                <a:gdLst/>
                <a:ahLst/>
                <a:cxnLst/>
                <a:rect r="r" b="b" t="t" l="l"/>
                <a:pathLst>
                  <a:path h="632101" w="1736395">
                    <a:moveTo>
                      <a:pt x="59889" y="0"/>
                    </a:moveTo>
                    <a:lnTo>
                      <a:pt x="1676506" y="0"/>
                    </a:lnTo>
                    <a:cubicBezTo>
                      <a:pt x="1709582" y="0"/>
                      <a:pt x="1736395" y="26813"/>
                      <a:pt x="1736395" y="59889"/>
                    </a:cubicBezTo>
                    <a:lnTo>
                      <a:pt x="1736395" y="572212"/>
                    </a:lnTo>
                    <a:cubicBezTo>
                      <a:pt x="1736395" y="605288"/>
                      <a:pt x="1709582" y="632101"/>
                      <a:pt x="1676506" y="632101"/>
                    </a:cubicBezTo>
                    <a:lnTo>
                      <a:pt x="59889" y="632101"/>
                    </a:lnTo>
                    <a:cubicBezTo>
                      <a:pt x="44005" y="632101"/>
                      <a:pt x="28772" y="625791"/>
                      <a:pt x="17541" y="614560"/>
                    </a:cubicBezTo>
                    <a:cubicBezTo>
                      <a:pt x="6310" y="603328"/>
                      <a:pt x="0" y="588096"/>
                      <a:pt x="0" y="572212"/>
                    </a:cubicBezTo>
                    <a:lnTo>
                      <a:pt x="0" y="59889"/>
                    </a:lnTo>
                    <a:cubicBezTo>
                      <a:pt x="0" y="26813"/>
                      <a:pt x="26813" y="0"/>
                      <a:pt x="59889" y="0"/>
                    </a:cubicBezTo>
                    <a:close/>
                  </a:path>
                </a:pathLst>
              </a:custGeom>
              <a:solidFill>
                <a:srgbClr val="CBCDFA"/>
              </a:solidFill>
            </p:spPr>
          </p:sp>
          <p:sp>
            <p:nvSpPr>
              <p:cNvPr name="TextBox 66" id="66"/>
              <p:cNvSpPr txBox="true"/>
              <p:nvPr/>
            </p:nvSpPr>
            <p:spPr>
              <a:xfrm>
                <a:off x="0" y="-47625"/>
                <a:ext cx="1736395" cy="679726"/>
              </a:xfrm>
              <a:prstGeom prst="rect">
                <a:avLst/>
              </a:prstGeom>
            </p:spPr>
            <p:txBody>
              <a:bodyPr anchor="ctr" rtlCol="false" tIns="50800" lIns="50800" bIns="50800" rIns="50800"/>
              <a:lstStyle/>
              <a:p>
                <a:pPr algn="ctr">
                  <a:lnSpc>
                    <a:spcPts val="2105"/>
                  </a:lnSpc>
                </a:pPr>
              </a:p>
            </p:txBody>
          </p:sp>
        </p:grpSp>
        <p:grpSp>
          <p:nvGrpSpPr>
            <p:cNvPr name="Group 67" id="67"/>
            <p:cNvGrpSpPr/>
            <p:nvPr/>
          </p:nvGrpSpPr>
          <p:grpSpPr>
            <a:xfrm rot="0">
              <a:off x="359227" y="401929"/>
              <a:ext cx="8167202" cy="949566"/>
              <a:chOff x="0" y="0"/>
              <a:chExt cx="1613342" cy="187646"/>
            </a:xfrm>
          </p:grpSpPr>
          <p:sp>
            <p:nvSpPr>
              <p:cNvPr name="Freeform 68" id="68"/>
              <p:cNvSpPr/>
              <p:nvPr/>
            </p:nvSpPr>
            <p:spPr>
              <a:xfrm flipH="false" flipV="false" rot="0">
                <a:off x="0" y="0"/>
                <a:ext cx="1613342" cy="187646"/>
              </a:xfrm>
              <a:custGeom>
                <a:avLst/>
                <a:gdLst/>
                <a:ahLst/>
                <a:cxnLst/>
                <a:rect r="r" b="b" t="t" l="l"/>
                <a:pathLst>
                  <a:path h="187646" w="1613342">
                    <a:moveTo>
                      <a:pt x="1613342" y="44237"/>
                    </a:moveTo>
                    <a:lnTo>
                      <a:pt x="1613342" y="143409"/>
                    </a:lnTo>
                    <a:cubicBezTo>
                      <a:pt x="1613342" y="167840"/>
                      <a:pt x="1593536" y="187646"/>
                      <a:pt x="1569105" y="187646"/>
                    </a:cubicBezTo>
                    <a:lnTo>
                      <a:pt x="44237" y="187646"/>
                    </a:lnTo>
                    <a:cubicBezTo>
                      <a:pt x="32504" y="187646"/>
                      <a:pt x="21253" y="182985"/>
                      <a:pt x="12957" y="174689"/>
                    </a:cubicBezTo>
                    <a:cubicBezTo>
                      <a:pt x="4661" y="166393"/>
                      <a:pt x="0" y="155141"/>
                      <a:pt x="0" y="143409"/>
                    </a:cubicBezTo>
                    <a:lnTo>
                      <a:pt x="0" y="44237"/>
                    </a:lnTo>
                    <a:cubicBezTo>
                      <a:pt x="0" y="32504"/>
                      <a:pt x="4661" y="21253"/>
                      <a:pt x="12957" y="12957"/>
                    </a:cubicBezTo>
                    <a:cubicBezTo>
                      <a:pt x="21253" y="4661"/>
                      <a:pt x="32504" y="0"/>
                      <a:pt x="44237" y="0"/>
                    </a:cubicBezTo>
                    <a:lnTo>
                      <a:pt x="1569105" y="0"/>
                    </a:lnTo>
                    <a:cubicBezTo>
                      <a:pt x="1580837" y="0"/>
                      <a:pt x="1592089" y="4661"/>
                      <a:pt x="1600385" y="12957"/>
                    </a:cubicBezTo>
                    <a:cubicBezTo>
                      <a:pt x="1608681" y="21253"/>
                      <a:pt x="1613342" y="32504"/>
                      <a:pt x="1613342" y="44237"/>
                    </a:cubicBezTo>
                    <a:close/>
                  </a:path>
                </a:pathLst>
              </a:custGeom>
              <a:solidFill>
                <a:srgbClr val="090909"/>
              </a:solidFill>
            </p:spPr>
          </p:sp>
          <p:sp>
            <p:nvSpPr>
              <p:cNvPr name="TextBox 69" id="69"/>
              <p:cNvSpPr txBox="true"/>
              <p:nvPr/>
            </p:nvSpPr>
            <p:spPr>
              <a:xfrm>
                <a:off x="0" y="-47625"/>
                <a:ext cx="1613342" cy="235271"/>
              </a:xfrm>
              <a:prstGeom prst="rect">
                <a:avLst/>
              </a:prstGeom>
            </p:spPr>
            <p:txBody>
              <a:bodyPr anchor="ctr" rtlCol="false" tIns="50800" lIns="50800" bIns="50800" rIns="50800"/>
              <a:lstStyle/>
              <a:p>
                <a:pPr algn="ctr">
                  <a:lnSpc>
                    <a:spcPts val="2105"/>
                  </a:lnSpc>
                </a:pPr>
              </a:p>
            </p:txBody>
          </p:sp>
        </p:grpSp>
        <p:sp>
          <p:nvSpPr>
            <p:cNvPr name="Freeform 70" id="70"/>
            <p:cNvSpPr/>
            <p:nvPr/>
          </p:nvSpPr>
          <p:spPr>
            <a:xfrm flipH="false" flipV="false" rot="0">
              <a:off x="1041605" y="1757896"/>
              <a:ext cx="2216449" cy="538836"/>
            </a:xfrm>
            <a:custGeom>
              <a:avLst/>
              <a:gdLst/>
              <a:ahLst/>
              <a:cxnLst/>
              <a:rect r="r" b="b" t="t" l="l"/>
              <a:pathLst>
                <a:path h="538836" w="2216449">
                  <a:moveTo>
                    <a:pt x="0" y="0"/>
                  </a:moveTo>
                  <a:lnTo>
                    <a:pt x="2216449" y="0"/>
                  </a:lnTo>
                  <a:lnTo>
                    <a:pt x="2216449" y="538836"/>
                  </a:lnTo>
                  <a:lnTo>
                    <a:pt x="0" y="538836"/>
                  </a:lnTo>
                  <a:lnTo>
                    <a:pt x="0" y="0"/>
                  </a:lnTo>
                  <a:close/>
                </a:path>
              </a:pathLst>
            </a:custGeom>
            <a:blipFill>
              <a:blip r:embed="rId18"/>
              <a:stretch>
                <a:fillRect l="0" t="0" r="0" b="0"/>
              </a:stretch>
            </a:blipFill>
          </p:spPr>
        </p:sp>
        <p:sp>
          <p:nvSpPr>
            <p:cNvPr name="Freeform 71" id="71"/>
            <p:cNvSpPr/>
            <p:nvPr/>
          </p:nvSpPr>
          <p:spPr>
            <a:xfrm flipH="false" flipV="false" rot="0">
              <a:off x="4754365" y="1795996"/>
              <a:ext cx="2756974" cy="694030"/>
            </a:xfrm>
            <a:custGeom>
              <a:avLst/>
              <a:gdLst/>
              <a:ahLst/>
              <a:cxnLst/>
              <a:rect r="r" b="b" t="t" l="l"/>
              <a:pathLst>
                <a:path h="694030" w="2756974">
                  <a:moveTo>
                    <a:pt x="0" y="0"/>
                  </a:moveTo>
                  <a:lnTo>
                    <a:pt x="2756974" y="0"/>
                  </a:lnTo>
                  <a:lnTo>
                    <a:pt x="2756974" y="694030"/>
                  </a:lnTo>
                  <a:lnTo>
                    <a:pt x="0" y="694030"/>
                  </a:lnTo>
                  <a:lnTo>
                    <a:pt x="0" y="0"/>
                  </a:lnTo>
                  <a:close/>
                </a:path>
              </a:pathLst>
            </a:custGeom>
            <a:blipFill>
              <a:blip r:embed="rId19"/>
              <a:stretch>
                <a:fillRect l="0" t="0" r="0" b="0"/>
              </a:stretch>
            </a:blipFill>
          </p:spPr>
        </p:sp>
        <p:sp>
          <p:nvSpPr>
            <p:cNvPr name="TextBox 72" id="72"/>
            <p:cNvSpPr txBox="true"/>
            <p:nvPr/>
          </p:nvSpPr>
          <p:spPr>
            <a:xfrm rot="0">
              <a:off x="941002" y="467561"/>
              <a:ext cx="7003653" cy="751628"/>
            </a:xfrm>
            <a:prstGeom prst="rect">
              <a:avLst/>
            </a:prstGeom>
          </p:spPr>
          <p:txBody>
            <a:bodyPr anchor="t" rtlCol="false" tIns="0" lIns="0" bIns="0" rIns="0">
              <a:spAutoFit/>
            </a:bodyPr>
            <a:lstStyle/>
            <a:p>
              <a:pPr algn="ctr">
                <a:lnSpc>
                  <a:spcPts val="4759"/>
                </a:lnSpc>
              </a:pPr>
              <a:r>
                <a:rPr lang="en-US" sz="3399" b="true">
                  <a:solidFill>
                    <a:srgbClr val="26A688"/>
                  </a:solidFill>
                  <a:latin typeface="Canva Sans Bold"/>
                  <a:ea typeface="Canva Sans Bold"/>
                  <a:cs typeface="Canva Sans Bold"/>
                  <a:sym typeface="Canva Sans Bold"/>
                </a:rPr>
                <a:t>Backend &amp; Orchestration</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7F7"/>
        </a:solidFill>
      </p:bgPr>
    </p:bg>
    <p:spTree>
      <p:nvGrpSpPr>
        <p:cNvPr id="1" name=""/>
        <p:cNvGrpSpPr/>
        <p:nvPr/>
      </p:nvGrpSpPr>
      <p:grpSpPr>
        <a:xfrm>
          <a:off x="0" y="0"/>
          <a:ext cx="0" cy="0"/>
          <a:chOff x="0" y="0"/>
          <a:chExt cx="0" cy="0"/>
        </a:xfrm>
      </p:grpSpPr>
      <p:grpSp>
        <p:nvGrpSpPr>
          <p:cNvPr name="Group 2" id="2"/>
          <p:cNvGrpSpPr/>
          <p:nvPr/>
        </p:nvGrpSpPr>
        <p:grpSpPr>
          <a:xfrm rot="0">
            <a:off x="-317653" y="-170330"/>
            <a:ext cx="18923306" cy="10700437"/>
            <a:chOff x="0" y="0"/>
            <a:chExt cx="4983916" cy="2818222"/>
          </a:xfrm>
        </p:grpSpPr>
        <p:sp>
          <p:nvSpPr>
            <p:cNvPr name="Freeform 3" id="3"/>
            <p:cNvSpPr/>
            <p:nvPr/>
          </p:nvSpPr>
          <p:spPr>
            <a:xfrm flipH="false" flipV="false" rot="0">
              <a:off x="0" y="0"/>
              <a:ext cx="4983916" cy="2818222"/>
            </a:xfrm>
            <a:custGeom>
              <a:avLst/>
              <a:gdLst/>
              <a:ahLst/>
              <a:cxnLst/>
              <a:rect r="r" b="b" t="t" l="l"/>
              <a:pathLst>
                <a:path h="2818222" w="4983916">
                  <a:moveTo>
                    <a:pt x="40912" y="0"/>
                  </a:moveTo>
                  <a:lnTo>
                    <a:pt x="4943004" y="0"/>
                  </a:lnTo>
                  <a:cubicBezTo>
                    <a:pt x="4953855" y="0"/>
                    <a:pt x="4964261" y="4310"/>
                    <a:pt x="4971933" y="11983"/>
                  </a:cubicBezTo>
                  <a:cubicBezTo>
                    <a:pt x="4979606" y="19655"/>
                    <a:pt x="4983916" y="30062"/>
                    <a:pt x="4983916" y="40912"/>
                  </a:cubicBezTo>
                  <a:lnTo>
                    <a:pt x="4983916" y="2777310"/>
                  </a:lnTo>
                  <a:cubicBezTo>
                    <a:pt x="4983916" y="2788161"/>
                    <a:pt x="4979606" y="2798567"/>
                    <a:pt x="4971933" y="2806239"/>
                  </a:cubicBezTo>
                  <a:cubicBezTo>
                    <a:pt x="4964261" y="2813912"/>
                    <a:pt x="4953855" y="2818222"/>
                    <a:pt x="4943004" y="2818222"/>
                  </a:cubicBezTo>
                  <a:lnTo>
                    <a:pt x="40912" y="2818222"/>
                  </a:lnTo>
                  <a:cubicBezTo>
                    <a:pt x="30062" y="2818222"/>
                    <a:pt x="19655" y="2813912"/>
                    <a:pt x="11983" y="2806239"/>
                  </a:cubicBezTo>
                  <a:cubicBezTo>
                    <a:pt x="4310" y="2798567"/>
                    <a:pt x="0" y="2788161"/>
                    <a:pt x="0" y="2777310"/>
                  </a:cubicBezTo>
                  <a:lnTo>
                    <a:pt x="0" y="40912"/>
                  </a:lnTo>
                  <a:cubicBezTo>
                    <a:pt x="0" y="30062"/>
                    <a:pt x="4310" y="19655"/>
                    <a:pt x="11983" y="11983"/>
                  </a:cubicBezTo>
                  <a:cubicBezTo>
                    <a:pt x="19655" y="4310"/>
                    <a:pt x="30062" y="0"/>
                    <a:pt x="40912" y="0"/>
                  </a:cubicBezTo>
                  <a:close/>
                </a:path>
              </a:pathLst>
            </a:custGeom>
            <a:solidFill>
              <a:srgbClr val="6B95E0"/>
            </a:solidFill>
            <a:ln cap="rnd">
              <a:noFill/>
              <a:prstDash val="solid"/>
              <a:round/>
            </a:ln>
          </p:spPr>
        </p:sp>
        <p:sp>
          <p:nvSpPr>
            <p:cNvPr name="TextBox 4" id="4"/>
            <p:cNvSpPr txBox="true"/>
            <p:nvPr/>
          </p:nvSpPr>
          <p:spPr>
            <a:xfrm>
              <a:off x="0" y="-47625"/>
              <a:ext cx="4983916" cy="286584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09174" y="394350"/>
            <a:ext cx="17869653" cy="9571077"/>
            <a:chOff x="0" y="0"/>
            <a:chExt cx="4706411" cy="2520778"/>
          </a:xfrm>
        </p:grpSpPr>
        <p:sp>
          <p:nvSpPr>
            <p:cNvPr name="Freeform 6" id="6"/>
            <p:cNvSpPr/>
            <p:nvPr/>
          </p:nvSpPr>
          <p:spPr>
            <a:xfrm flipH="false" flipV="false" rot="0">
              <a:off x="0" y="0"/>
              <a:ext cx="4706410" cy="2520778"/>
            </a:xfrm>
            <a:custGeom>
              <a:avLst/>
              <a:gdLst/>
              <a:ahLst/>
              <a:cxnLst/>
              <a:rect r="r" b="b" t="t" l="l"/>
              <a:pathLst>
                <a:path h="2520778" w="4706410">
                  <a:moveTo>
                    <a:pt x="43324" y="0"/>
                  </a:moveTo>
                  <a:lnTo>
                    <a:pt x="4663086" y="0"/>
                  </a:lnTo>
                  <a:cubicBezTo>
                    <a:pt x="4687014" y="0"/>
                    <a:pt x="4706410" y="19397"/>
                    <a:pt x="4706410" y="43324"/>
                  </a:cubicBezTo>
                  <a:lnTo>
                    <a:pt x="4706410" y="2477453"/>
                  </a:lnTo>
                  <a:cubicBezTo>
                    <a:pt x="4706410" y="2501380"/>
                    <a:pt x="4687014" y="2520778"/>
                    <a:pt x="4663086" y="2520778"/>
                  </a:cubicBezTo>
                  <a:lnTo>
                    <a:pt x="43324" y="2520778"/>
                  </a:lnTo>
                  <a:cubicBezTo>
                    <a:pt x="19397" y="2520778"/>
                    <a:pt x="0" y="2501380"/>
                    <a:pt x="0" y="2477453"/>
                  </a:cubicBezTo>
                  <a:lnTo>
                    <a:pt x="0" y="43324"/>
                  </a:lnTo>
                  <a:cubicBezTo>
                    <a:pt x="0" y="19397"/>
                    <a:pt x="19397" y="0"/>
                    <a:pt x="43324" y="0"/>
                  </a:cubicBezTo>
                  <a:close/>
                </a:path>
              </a:pathLst>
            </a:custGeom>
            <a:solidFill>
              <a:srgbClr val="F8F8F6"/>
            </a:solidFill>
            <a:ln cap="rnd">
              <a:noFill/>
              <a:prstDash val="solid"/>
              <a:round/>
            </a:ln>
          </p:spPr>
        </p:sp>
        <p:sp>
          <p:nvSpPr>
            <p:cNvPr name="TextBox 7" id="7"/>
            <p:cNvSpPr txBox="true"/>
            <p:nvPr/>
          </p:nvSpPr>
          <p:spPr>
            <a:xfrm>
              <a:off x="0" y="-47625"/>
              <a:ext cx="4706411" cy="2568403"/>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00035" y="461095"/>
            <a:ext cx="16194358" cy="9504332"/>
          </a:xfrm>
          <a:custGeom>
            <a:avLst/>
            <a:gdLst/>
            <a:ahLst/>
            <a:cxnLst/>
            <a:rect r="r" b="b" t="t" l="l"/>
            <a:pathLst>
              <a:path h="9504332" w="16194358">
                <a:moveTo>
                  <a:pt x="0" y="0"/>
                </a:moveTo>
                <a:lnTo>
                  <a:pt x="16194358" y="0"/>
                </a:lnTo>
                <a:lnTo>
                  <a:pt x="16194358" y="9504333"/>
                </a:lnTo>
                <a:lnTo>
                  <a:pt x="0" y="9504333"/>
                </a:lnTo>
                <a:lnTo>
                  <a:pt x="0" y="0"/>
                </a:lnTo>
                <a:close/>
              </a:path>
            </a:pathLst>
          </a:custGeom>
          <a:blipFill>
            <a:blip r:embed="rId2"/>
            <a:stretch>
              <a:fillRect l="0" t="-2149" r="-291" b="-1545"/>
            </a:stretch>
          </a:blipFill>
        </p:spPr>
      </p:sp>
      <p:sp>
        <p:nvSpPr>
          <p:cNvPr name="TextBox 9" id="9"/>
          <p:cNvSpPr txBox="true"/>
          <p:nvPr/>
        </p:nvSpPr>
        <p:spPr>
          <a:xfrm rot="0">
            <a:off x="374269" y="470114"/>
            <a:ext cx="5141075" cy="398868"/>
          </a:xfrm>
          <a:prstGeom prst="rect">
            <a:avLst/>
          </a:prstGeom>
        </p:spPr>
        <p:txBody>
          <a:bodyPr anchor="t" rtlCol="false" tIns="0" lIns="0" bIns="0" rIns="0">
            <a:spAutoFit/>
          </a:bodyPr>
          <a:lstStyle/>
          <a:p>
            <a:pPr algn="ctr">
              <a:lnSpc>
                <a:spcPts val="3196"/>
              </a:lnSpc>
              <a:spcBef>
                <a:spcPct val="0"/>
              </a:spcBef>
            </a:pPr>
            <a:r>
              <a:rPr lang="en-US" b="true" sz="2343" u="sng">
                <a:solidFill>
                  <a:srgbClr val="000000"/>
                </a:solidFill>
                <a:latin typeface="Arial Bold"/>
                <a:ea typeface="Arial Bold"/>
                <a:cs typeface="Arial Bold"/>
                <a:sym typeface="Arial Bold"/>
              </a:rPr>
              <a:t>  DIGITAL TWIN ARCHITECTURE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7F7"/>
        </a:solidFill>
      </p:bgPr>
    </p:bg>
    <p:spTree>
      <p:nvGrpSpPr>
        <p:cNvPr id="1" name=""/>
        <p:cNvGrpSpPr/>
        <p:nvPr/>
      </p:nvGrpSpPr>
      <p:grpSpPr>
        <a:xfrm>
          <a:off x="0" y="0"/>
          <a:ext cx="0" cy="0"/>
          <a:chOff x="0" y="0"/>
          <a:chExt cx="0" cy="0"/>
        </a:xfrm>
      </p:grpSpPr>
      <p:grpSp>
        <p:nvGrpSpPr>
          <p:cNvPr name="Group 2" id="2"/>
          <p:cNvGrpSpPr/>
          <p:nvPr/>
        </p:nvGrpSpPr>
        <p:grpSpPr>
          <a:xfrm rot="0">
            <a:off x="-317653" y="-170330"/>
            <a:ext cx="18923306" cy="10700437"/>
            <a:chOff x="0" y="0"/>
            <a:chExt cx="4983916" cy="2818222"/>
          </a:xfrm>
        </p:grpSpPr>
        <p:sp>
          <p:nvSpPr>
            <p:cNvPr name="Freeform 3" id="3"/>
            <p:cNvSpPr/>
            <p:nvPr/>
          </p:nvSpPr>
          <p:spPr>
            <a:xfrm flipH="false" flipV="false" rot="0">
              <a:off x="0" y="0"/>
              <a:ext cx="4983916" cy="2818222"/>
            </a:xfrm>
            <a:custGeom>
              <a:avLst/>
              <a:gdLst/>
              <a:ahLst/>
              <a:cxnLst/>
              <a:rect r="r" b="b" t="t" l="l"/>
              <a:pathLst>
                <a:path h="2818222" w="4983916">
                  <a:moveTo>
                    <a:pt x="40912" y="0"/>
                  </a:moveTo>
                  <a:lnTo>
                    <a:pt x="4943004" y="0"/>
                  </a:lnTo>
                  <a:cubicBezTo>
                    <a:pt x="4953855" y="0"/>
                    <a:pt x="4964261" y="4310"/>
                    <a:pt x="4971933" y="11983"/>
                  </a:cubicBezTo>
                  <a:cubicBezTo>
                    <a:pt x="4979606" y="19655"/>
                    <a:pt x="4983916" y="30062"/>
                    <a:pt x="4983916" y="40912"/>
                  </a:cubicBezTo>
                  <a:lnTo>
                    <a:pt x="4983916" y="2777310"/>
                  </a:lnTo>
                  <a:cubicBezTo>
                    <a:pt x="4983916" y="2788161"/>
                    <a:pt x="4979606" y="2798567"/>
                    <a:pt x="4971933" y="2806239"/>
                  </a:cubicBezTo>
                  <a:cubicBezTo>
                    <a:pt x="4964261" y="2813912"/>
                    <a:pt x="4953855" y="2818222"/>
                    <a:pt x="4943004" y="2818222"/>
                  </a:cubicBezTo>
                  <a:lnTo>
                    <a:pt x="40912" y="2818222"/>
                  </a:lnTo>
                  <a:cubicBezTo>
                    <a:pt x="30062" y="2818222"/>
                    <a:pt x="19655" y="2813912"/>
                    <a:pt x="11983" y="2806239"/>
                  </a:cubicBezTo>
                  <a:cubicBezTo>
                    <a:pt x="4310" y="2798567"/>
                    <a:pt x="0" y="2788161"/>
                    <a:pt x="0" y="2777310"/>
                  </a:cubicBezTo>
                  <a:lnTo>
                    <a:pt x="0" y="40912"/>
                  </a:lnTo>
                  <a:cubicBezTo>
                    <a:pt x="0" y="30062"/>
                    <a:pt x="4310" y="19655"/>
                    <a:pt x="11983" y="11983"/>
                  </a:cubicBezTo>
                  <a:cubicBezTo>
                    <a:pt x="19655" y="4310"/>
                    <a:pt x="30062" y="0"/>
                    <a:pt x="40912" y="0"/>
                  </a:cubicBezTo>
                  <a:close/>
                </a:path>
              </a:pathLst>
            </a:custGeom>
            <a:solidFill>
              <a:srgbClr val="6B95E0"/>
            </a:solidFill>
            <a:ln cap="rnd">
              <a:noFill/>
              <a:prstDash val="solid"/>
              <a:round/>
            </a:ln>
          </p:spPr>
        </p:sp>
        <p:sp>
          <p:nvSpPr>
            <p:cNvPr name="TextBox 4" id="4"/>
            <p:cNvSpPr txBox="true"/>
            <p:nvPr/>
          </p:nvSpPr>
          <p:spPr>
            <a:xfrm>
              <a:off x="0" y="-47625"/>
              <a:ext cx="4983916" cy="286584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09174" y="190754"/>
            <a:ext cx="17911900" cy="9712133"/>
            <a:chOff x="0" y="0"/>
            <a:chExt cx="4717537" cy="2557928"/>
          </a:xfrm>
        </p:grpSpPr>
        <p:sp>
          <p:nvSpPr>
            <p:cNvPr name="Freeform 6" id="6"/>
            <p:cNvSpPr/>
            <p:nvPr/>
          </p:nvSpPr>
          <p:spPr>
            <a:xfrm flipH="false" flipV="false" rot="0">
              <a:off x="0" y="0"/>
              <a:ext cx="4717537" cy="2557928"/>
            </a:xfrm>
            <a:custGeom>
              <a:avLst/>
              <a:gdLst/>
              <a:ahLst/>
              <a:cxnLst/>
              <a:rect r="r" b="b" t="t" l="l"/>
              <a:pathLst>
                <a:path h="2557928" w="4717537">
                  <a:moveTo>
                    <a:pt x="43222" y="0"/>
                  </a:moveTo>
                  <a:lnTo>
                    <a:pt x="4674315" y="0"/>
                  </a:lnTo>
                  <a:cubicBezTo>
                    <a:pt x="4698186" y="0"/>
                    <a:pt x="4717537" y="19351"/>
                    <a:pt x="4717537" y="43222"/>
                  </a:cubicBezTo>
                  <a:lnTo>
                    <a:pt x="4717537" y="2514706"/>
                  </a:lnTo>
                  <a:cubicBezTo>
                    <a:pt x="4717537" y="2526169"/>
                    <a:pt x="4712984" y="2537163"/>
                    <a:pt x="4704878" y="2545268"/>
                  </a:cubicBezTo>
                  <a:cubicBezTo>
                    <a:pt x="4696772" y="2553374"/>
                    <a:pt x="4685778" y="2557928"/>
                    <a:pt x="4674315" y="2557928"/>
                  </a:cubicBezTo>
                  <a:lnTo>
                    <a:pt x="43222" y="2557928"/>
                  </a:lnTo>
                  <a:cubicBezTo>
                    <a:pt x="31759" y="2557928"/>
                    <a:pt x="20765" y="2553374"/>
                    <a:pt x="12659" y="2545268"/>
                  </a:cubicBezTo>
                  <a:cubicBezTo>
                    <a:pt x="4554" y="2537163"/>
                    <a:pt x="0" y="2526169"/>
                    <a:pt x="0" y="2514706"/>
                  </a:cubicBezTo>
                  <a:lnTo>
                    <a:pt x="0" y="43222"/>
                  </a:lnTo>
                  <a:cubicBezTo>
                    <a:pt x="0" y="31759"/>
                    <a:pt x="4554" y="20765"/>
                    <a:pt x="12659" y="12659"/>
                  </a:cubicBezTo>
                  <a:cubicBezTo>
                    <a:pt x="20765" y="4554"/>
                    <a:pt x="31759" y="0"/>
                    <a:pt x="43222" y="0"/>
                  </a:cubicBezTo>
                  <a:close/>
                </a:path>
              </a:pathLst>
            </a:custGeom>
            <a:solidFill>
              <a:srgbClr val="F6F6F4"/>
            </a:solidFill>
            <a:ln cap="rnd">
              <a:noFill/>
              <a:prstDash val="solid"/>
              <a:round/>
            </a:ln>
          </p:spPr>
        </p:sp>
        <p:sp>
          <p:nvSpPr>
            <p:cNvPr name="TextBox 7" id="7"/>
            <p:cNvSpPr txBox="true"/>
            <p:nvPr/>
          </p:nvSpPr>
          <p:spPr>
            <a:xfrm>
              <a:off x="0" y="-47625"/>
              <a:ext cx="4717537" cy="2605553"/>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674852" y="892822"/>
            <a:ext cx="17198961" cy="8869009"/>
          </a:xfrm>
          <a:custGeom>
            <a:avLst/>
            <a:gdLst/>
            <a:ahLst/>
            <a:cxnLst/>
            <a:rect r="r" b="b" t="t" l="l"/>
            <a:pathLst>
              <a:path h="8869009" w="17198961">
                <a:moveTo>
                  <a:pt x="0" y="0"/>
                </a:moveTo>
                <a:lnTo>
                  <a:pt x="17198961" y="0"/>
                </a:lnTo>
                <a:lnTo>
                  <a:pt x="17198961" y="8869009"/>
                </a:lnTo>
                <a:lnTo>
                  <a:pt x="0" y="8869009"/>
                </a:lnTo>
                <a:lnTo>
                  <a:pt x="0" y="0"/>
                </a:lnTo>
                <a:close/>
              </a:path>
            </a:pathLst>
          </a:custGeom>
          <a:blipFill>
            <a:blip r:embed="rId2"/>
            <a:stretch>
              <a:fillRect l="0" t="-5935" r="0" b="-5405"/>
            </a:stretch>
          </a:blipFill>
        </p:spPr>
      </p:sp>
      <p:sp>
        <p:nvSpPr>
          <p:cNvPr name="TextBox 9" id="9"/>
          <p:cNvSpPr txBox="true"/>
          <p:nvPr/>
        </p:nvSpPr>
        <p:spPr>
          <a:xfrm rot="0">
            <a:off x="408926" y="460019"/>
            <a:ext cx="3301901" cy="432803"/>
          </a:xfrm>
          <a:prstGeom prst="rect">
            <a:avLst/>
          </a:prstGeom>
        </p:spPr>
        <p:txBody>
          <a:bodyPr anchor="t" rtlCol="false" tIns="0" lIns="0" bIns="0" rIns="0">
            <a:spAutoFit/>
          </a:bodyPr>
          <a:lstStyle/>
          <a:p>
            <a:pPr algn="ctr">
              <a:lnSpc>
                <a:spcPts val="3469"/>
              </a:lnSpc>
              <a:spcBef>
                <a:spcPct val="0"/>
              </a:spcBef>
            </a:pPr>
            <a:r>
              <a:rPr lang="en-US" b="true" sz="2543" u="sng">
                <a:solidFill>
                  <a:srgbClr val="000000"/>
                </a:solidFill>
                <a:latin typeface="Arial Bold"/>
                <a:ea typeface="Arial Bold"/>
                <a:cs typeface="Arial Bold"/>
                <a:sym typeface="Arial Bold"/>
              </a:rPr>
              <a:t>USE-CASE DIAGRAM</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F7F7"/>
        </a:solidFill>
      </p:bgPr>
    </p:bg>
    <p:spTree>
      <p:nvGrpSpPr>
        <p:cNvPr id="1" name=""/>
        <p:cNvGrpSpPr/>
        <p:nvPr/>
      </p:nvGrpSpPr>
      <p:grpSpPr>
        <a:xfrm>
          <a:off x="0" y="0"/>
          <a:ext cx="0" cy="0"/>
          <a:chOff x="0" y="0"/>
          <a:chExt cx="0" cy="0"/>
        </a:xfrm>
      </p:grpSpPr>
      <p:grpSp>
        <p:nvGrpSpPr>
          <p:cNvPr name="Group 2" id="2"/>
          <p:cNvGrpSpPr/>
          <p:nvPr/>
        </p:nvGrpSpPr>
        <p:grpSpPr>
          <a:xfrm rot="0">
            <a:off x="-317653" y="-170330"/>
            <a:ext cx="18923306" cy="10700437"/>
            <a:chOff x="0" y="0"/>
            <a:chExt cx="4983916" cy="2818222"/>
          </a:xfrm>
        </p:grpSpPr>
        <p:sp>
          <p:nvSpPr>
            <p:cNvPr name="Freeform 3" id="3"/>
            <p:cNvSpPr/>
            <p:nvPr/>
          </p:nvSpPr>
          <p:spPr>
            <a:xfrm flipH="false" flipV="false" rot="0">
              <a:off x="0" y="0"/>
              <a:ext cx="4983916" cy="2818222"/>
            </a:xfrm>
            <a:custGeom>
              <a:avLst/>
              <a:gdLst/>
              <a:ahLst/>
              <a:cxnLst/>
              <a:rect r="r" b="b" t="t" l="l"/>
              <a:pathLst>
                <a:path h="2818222" w="4983916">
                  <a:moveTo>
                    <a:pt x="40912" y="0"/>
                  </a:moveTo>
                  <a:lnTo>
                    <a:pt x="4943004" y="0"/>
                  </a:lnTo>
                  <a:cubicBezTo>
                    <a:pt x="4953855" y="0"/>
                    <a:pt x="4964261" y="4310"/>
                    <a:pt x="4971933" y="11983"/>
                  </a:cubicBezTo>
                  <a:cubicBezTo>
                    <a:pt x="4979606" y="19655"/>
                    <a:pt x="4983916" y="30062"/>
                    <a:pt x="4983916" y="40912"/>
                  </a:cubicBezTo>
                  <a:lnTo>
                    <a:pt x="4983916" y="2777310"/>
                  </a:lnTo>
                  <a:cubicBezTo>
                    <a:pt x="4983916" y="2788161"/>
                    <a:pt x="4979606" y="2798567"/>
                    <a:pt x="4971933" y="2806239"/>
                  </a:cubicBezTo>
                  <a:cubicBezTo>
                    <a:pt x="4964261" y="2813912"/>
                    <a:pt x="4953855" y="2818222"/>
                    <a:pt x="4943004" y="2818222"/>
                  </a:cubicBezTo>
                  <a:lnTo>
                    <a:pt x="40912" y="2818222"/>
                  </a:lnTo>
                  <a:cubicBezTo>
                    <a:pt x="30062" y="2818222"/>
                    <a:pt x="19655" y="2813912"/>
                    <a:pt x="11983" y="2806239"/>
                  </a:cubicBezTo>
                  <a:cubicBezTo>
                    <a:pt x="4310" y="2798567"/>
                    <a:pt x="0" y="2788161"/>
                    <a:pt x="0" y="2777310"/>
                  </a:cubicBezTo>
                  <a:lnTo>
                    <a:pt x="0" y="40912"/>
                  </a:lnTo>
                  <a:cubicBezTo>
                    <a:pt x="0" y="30062"/>
                    <a:pt x="4310" y="19655"/>
                    <a:pt x="11983" y="11983"/>
                  </a:cubicBezTo>
                  <a:cubicBezTo>
                    <a:pt x="19655" y="4310"/>
                    <a:pt x="30062" y="0"/>
                    <a:pt x="40912" y="0"/>
                  </a:cubicBezTo>
                  <a:close/>
                </a:path>
              </a:pathLst>
            </a:custGeom>
            <a:solidFill>
              <a:srgbClr val="6B95E0"/>
            </a:solidFill>
            <a:ln cap="rnd">
              <a:noFill/>
              <a:prstDash val="solid"/>
              <a:round/>
            </a:ln>
          </p:spPr>
        </p:sp>
        <p:sp>
          <p:nvSpPr>
            <p:cNvPr name="TextBox 4" id="4"/>
            <p:cNvSpPr txBox="true"/>
            <p:nvPr/>
          </p:nvSpPr>
          <p:spPr>
            <a:xfrm>
              <a:off x="0" y="-47625"/>
              <a:ext cx="4983916" cy="286584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24679" y="190754"/>
            <a:ext cx="17996394" cy="9740298"/>
            <a:chOff x="0" y="0"/>
            <a:chExt cx="4739791" cy="2565346"/>
          </a:xfrm>
        </p:grpSpPr>
        <p:sp>
          <p:nvSpPr>
            <p:cNvPr name="Freeform 6" id="6"/>
            <p:cNvSpPr/>
            <p:nvPr/>
          </p:nvSpPr>
          <p:spPr>
            <a:xfrm flipH="false" flipV="false" rot="0">
              <a:off x="0" y="0"/>
              <a:ext cx="4739791" cy="2565346"/>
            </a:xfrm>
            <a:custGeom>
              <a:avLst/>
              <a:gdLst/>
              <a:ahLst/>
              <a:cxnLst/>
              <a:rect r="r" b="b" t="t" l="l"/>
              <a:pathLst>
                <a:path h="2565346" w="4739791">
                  <a:moveTo>
                    <a:pt x="43019" y="0"/>
                  </a:moveTo>
                  <a:lnTo>
                    <a:pt x="4696772" y="0"/>
                  </a:lnTo>
                  <a:cubicBezTo>
                    <a:pt x="4720531" y="0"/>
                    <a:pt x="4739791" y="19260"/>
                    <a:pt x="4739791" y="43019"/>
                  </a:cubicBezTo>
                  <a:lnTo>
                    <a:pt x="4739791" y="2522327"/>
                  </a:lnTo>
                  <a:cubicBezTo>
                    <a:pt x="4739791" y="2546085"/>
                    <a:pt x="4720531" y="2565346"/>
                    <a:pt x="4696772" y="2565346"/>
                  </a:cubicBezTo>
                  <a:lnTo>
                    <a:pt x="43019" y="2565346"/>
                  </a:lnTo>
                  <a:cubicBezTo>
                    <a:pt x="19260" y="2565346"/>
                    <a:pt x="0" y="2546085"/>
                    <a:pt x="0" y="2522327"/>
                  </a:cubicBezTo>
                  <a:lnTo>
                    <a:pt x="0" y="43019"/>
                  </a:lnTo>
                  <a:cubicBezTo>
                    <a:pt x="0" y="19260"/>
                    <a:pt x="19260" y="0"/>
                    <a:pt x="43019" y="0"/>
                  </a:cubicBezTo>
                  <a:close/>
                </a:path>
              </a:pathLst>
            </a:custGeom>
            <a:solidFill>
              <a:srgbClr val="F6F6F4"/>
            </a:solidFill>
            <a:ln cap="rnd">
              <a:noFill/>
              <a:prstDash val="solid"/>
              <a:round/>
            </a:ln>
          </p:spPr>
        </p:sp>
        <p:sp>
          <p:nvSpPr>
            <p:cNvPr name="TextBox 7" id="7"/>
            <p:cNvSpPr txBox="true"/>
            <p:nvPr/>
          </p:nvSpPr>
          <p:spPr>
            <a:xfrm>
              <a:off x="0" y="-47625"/>
              <a:ext cx="4739791" cy="2612971"/>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24679" y="1465418"/>
            <a:ext cx="17964709" cy="8072641"/>
          </a:xfrm>
          <a:custGeom>
            <a:avLst/>
            <a:gdLst/>
            <a:ahLst/>
            <a:cxnLst/>
            <a:rect r="r" b="b" t="t" l="l"/>
            <a:pathLst>
              <a:path h="8072641" w="17964709">
                <a:moveTo>
                  <a:pt x="0" y="0"/>
                </a:moveTo>
                <a:lnTo>
                  <a:pt x="17964709" y="0"/>
                </a:lnTo>
                <a:lnTo>
                  <a:pt x="17964709" y="8072641"/>
                </a:lnTo>
                <a:lnTo>
                  <a:pt x="0" y="8072641"/>
                </a:lnTo>
                <a:lnTo>
                  <a:pt x="0" y="0"/>
                </a:lnTo>
                <a:close/>
              </a:path>
            </a:pathLst>
          </a:custGeom>
          <a:blipFill>
            <a:blip r:embed="rId2"/>
            <a:stretch>
              <a:fillRect l="-2645" t="0" r="-2468" b="0"/>
            </a:stretch>
          </a:blipFill>
        </p:spPr>
      </p:sp>
      <p:sp>
        <p:nvSpPr>
          <p:cNvPr name="TextBox 9" id="9"/>
          <p:cNvSpPr txBox="true"/>
          <p:nvPr/>
        </p:nvSpPr>
        <p:spPr>
          <a:xfrm rot="0">
            <a:off x="935491" y="685338"/>
            <a:ext cx="2727573" cy="432803"/>
          </a:xfrm>
          <a:prstGeom prst="rect">
            <a:avLst/>
          </a:prstGeom>
        </p:spPr>
        <p:txBody>
          <a:bodyPr anchor="t" rtlCol="false" tIns="0" lIns="0" bIns="0" rIns="0">
            <a:spAutoFit/>
          </a:bodyPr>
          <a:lstStyle/>
          <a:p>
            <a:pPr algn="ctr">
              <a:lnSpc>
                <a:spcPts val="3469"/>
              </a:lnSpc>
              <a:spcBef>
                <a:spcPct val="0"/>
              </a:spcBef>
            </a:pPr>
            <a:r>
              <a:rPr lang="en-US" b="true" sz="2543" u="sng">
                <a:solidFill>
                  <a:srgbClr val="000000"/>
                </a:solidFill>
                <a:latin typeface="Arial Bold"/>
                <a:ea typeface="Arial Bold"/>
                <a:cs typeface="Arial Bold"/>
                <a:sym typeface="Arial Bold"/>
              </a:rPr>
              <a:t>CLASS DIAGRAM</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09431" y="-416205"/>
            <a:ext cx="18923306" cy="10700437"/>
            <a:chOff x="0" y="0"/>
            <a:chExt cx="4983916" cy="2818222"/>
          </a:xfrm>
        </p:grpSpPr>
        <p:sp>
          <p:nvSpPr>
            <p:cNvPr name="Freeform 3" id="3"/>
            <p:cNvSpPr/>
            <p:nvPr/>
          </p:nvSpPr>
          <p:spPr>
            <a:xfrm flipH="false" flipV="false" rot="0">
              <a:off x="0" y="0"/>
              <a:ext cx="4983916" cy="2818222"/>
            </a:xfrm>
            <a:custGeom>
              <a:avLst/>
              <a:gdLst/>
              <a:ahLst/>
              <a:cxnLst/>
              <a:rect r="r" b="b" t="t" l="l"/>
              <a:pathLst>
                <a:path h="2818222" w="4983916">
                  <a:moveTo>
                    <a:pt x="40912" y="0"/>
                  </a:moveTo>
                  <a:lnTo>
                    <a:pt x="4943004" y="0"/>
                  </a:lnTo>
                  <a:cubicBezTo>
                    <a:pt x="4953855" y="0"/>
                    <a:pt x="4964261" y="4310"/>
                    <a:pt x="4971933" y="11983"/>
                  </a:cubicBezTo>
                  <a:cubicBezTo>
                    <a:pt x="4979606" y="19655"/>
                    <a:pt x="4983916" y="30062"/>
                    <a:pt x="4983916" y="40912"/>
                  </a:cubicBezTo>
                  <a:lnTo>
                    <a:pt x="4983916" y="2777310"/>
                  </a:lnTo>
                  <a:cubicBezTo>
                    <a:pt x="4983916" y="2788161"/>
                    <a:pt x="4979606" y="2798567"/>
                    <a:pt x="4971933" y="2806239"/>
                  </a:cubicBezTo>
                  <a:cubicBezTo>
                    <a:pt x="4964261" y="2813912"/>
                    <a:pt x="4953855" y="2818222"/>
                    <a:pt x="4943004" y="2818222"/>
                  </a:cubicBezTo>
                  <a:lnTo>
                    <a:pt x="40912" y="2818222"/>
                  </a:lnTo>
                  <a:cubicBezTo>
                    <a:pt x="30062" y="2818222"/>
                    <a:pt x="19655" y="2813912"/>
                    <a:pt x="11983" y="2806239"/>
                  </a:cubicBezTo>
                  <a:cubicBezTo>
                    <a:pt x="4310" y="2798567"/>
                    <a:pt x="0" y="2788161"/>
                    <a:pt x="0" y="2777310"/>
                  </a:cubicBezTo>
                  <a:lnTo>
                    <a:pt x="0" y="40912"/>
                  </a:lnTo>
                  <a:cubicBezTo>
                    <a:pt x="0" y="30062"/>
                    <a:pt x="4310" y="19655"/>
                    <a:pt x="11983" y="11983"/>
                  </a:cubicBezTo>
                  <a:cubicBezTo>
                    <a:pt x="19655" y="4310"/>
                    <a:pt x="30062" y="0"/>
                    <a:pt x="40912" y="0"/>
                  </a:cubicBezTo>
                  <a:close/>
                </a:path>
              </a:pathLst>
            </a:custGeom>
            <a:solidFill>
              <a:srgbClr val="6B95E0"/>
            </a:solidFill>
            <a:ln cap="rnd">
              <a:noFill/>
              <a:prstDash val="solid"/>
              <a:round/>
            </a:ln>
          </p:spPr>
        </p:sp>
        <p:sp>
          <p:nvSpPr>
            <p:cNvPr name="TextBox 4" id="4"/>
            <p:cNvSpPr txBox="true"/>
            <p:nvPr/>
          </p:nvSpPr>
          <p:spPr>
            <a:xfrm>
              <a:off x="0" y="-47625"/>
              <a:ext cx="4983916" cy="286584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28593" y="357961"/>
            <a:ext cx="17485536" cy="9545044"/>
            <a:chOff x="0" y="0"/>
            <a:chExt cx="4605244" cy="2513921"/>
          </a:xfrm>
        </p:grpSpPr>
        <p:sp>
          <p:nvSpPr>
            <p:cNvPr name="Freeform 6" id="6"/>
            <p:cNvSpPr/>
            <p:nvPr/>
          </p:nvSpPr>
          <p:spPr>
            <a:xfrm flipH="false" flipV="false" rot="0">
              <a:off x="0" y="0"/>
              <a:ext cx="4605244" cy="2513921"/>
            </a:xfrm>
            <a:custGeom>
              <a:avLst/>
              <a:gdLst/>
              <a:ahLst/>
              <a:cxnLst/>
              <a:rect r="r" b="b" t="t" l="l"/>
              <a:pathLst>
                <a:path h="2513921" w="4605244">
                  <a:moveTo>
                    <a:pt x="44276" y="0"/>
                  </a:moveTo>
                  <a:lnTo>
                    <a:pt x="4560968" y="0"/>
                  </a:lnTo>
                  <a:cubicBezTo>
                    <a:pt x="4585421" y="0"/>
                    <a:pt x="4605244" y="19823"/>
                    <a:pt x="4605244" y="44276"/>
                  </a:cubicBezTo>
                  <a:lnTo>
                    <a:pt x="4605244" y="2469645"/>
                  </a:lnTo>
                  <a:cubicBezTo>
                    <a:pt x="4605244" y="2494098"/>
                    <a:pt x="4585421" y="2513921"/>
                    <a:pt x="4560968" y="2513921"/>
                  </a:cubicBezTo>
                  <a:lnTo>
                    <a:pt x="44276" y="2513921"/>
                  </a:lnTo>
                  <a:cubicBezTo>
                    <a:pt x="19823" y="2513921"/>
                    <a:pt x="0" y="2494098"/>
                    <a:pt x="0" y="2469645"/>
                  </a:cubicBezTo>
                  <a:lnTo>
                    <a:pt x="0" y="44276"/>
                  </a:lnTo>
                  <a:cubicBezTo>
                    <a:pt x="0" y="19823"/>
                    <a:pt x="19823" y="0"/>
                    <a:pt x="44276" y="0"/>
                  </a:cubicBezTo>
                  <a:close/>
                </a:path>
              </a:pathLst>
            </a:custGeom>
            <a:solidFill>
              <a:srgbClr val="FFFFFE"/>
            </a:solidFill>
            <a:ln cap="rnd">
              <a:noFill/>
              <a:prstDash val="solid"/>
              <a:round/>
            </a:ln>
          </p:spPr>
        </p:sp>
        <p:sp>
          <p:nvSpPr>
            <p:cNvPr name="TextBox 7" id="7"/>
            <p:cNvSpPr txBox="true"/>
            <p:nvPr/>
          </p:nvSpPr>
          <p:spPr>
            <a:xfrm>
              <a:off x="0" y="-47625"/>
              <a:ext cx="4605244" cy="2561546"/>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099143" y="583383"/>
            <a:ext cx="2521595" cy="662902"/>
          </a:xfrm>
          <a:prstGeom prst="rect">
            <a:avLst/>
          </a:prstGeom>
        </p:spPr>
        <p:txBody>
          <a:bodyPr anchor="t" rtlCol="false" tIns="0" lIns="0" bIns="0" rIns="0">
            <a:spAutoFit/>
          </a:bodyPr>
          <a:lstStyle/>
          <a:p>
            <a:pPr algn="ctr">
              <a:lnSpc>
                <a:spcPts val="5242"/>
              </a:lnSpc>
              <a:spcBef>
                <a:spcPct val="0"/>
              </a:spcBef>
            </a:pPr>
            <a:r>
              <a:rPr lang="en-US" b="true" sz="3843" u="sng">
                <a:solidFill>
                  <a:srgbClr val="000000"/>
                </a:solidFill>
                <a:latin typeface="Arimo Bold"/>
                <a:ea typeface="Arimo Bold"/>
                <a:cs typeface="Arimo Bold"/>
                <a:sym typeface="Arimo Bold"/>
              </a:rPr>
              <a:t>ROADMAP</a:t>
            </a:r>
          </a:p>
        </p:txBody>
      </p:sp>
      <p:grpSp>
        <p:nvGrpSpPr>
          <p:cNvPr name="Group 9" id="9"/>
          <p:cNvGrpSpPr/>
          <p:nvPr/>
        </p:nvGrpSpPr>
        <p:grpSpPr>
          <a:xfrm rot="0">
            <a:off x="2359940" y="1500289"/>
            <a:ext cx="5990765" cy="3433724"/>
            <a:chOff x="0" y="0"/>
            <a:chExt cx="7987687" cy="4578298"/>
          </a:xfrm>
        </p:grpSpPr>
        <p:grpSp>
          <p:nvGrpSpPr>
            <p:cNvPr name="Group 10" id="10"/>
            <p:cNvGrpSpPr/>
            <p:nvPr/>
          </p:nvGrpSpPr>
          <p:grpSpPr>
            <a:xfrm rot="0">
              <a:off x="0" y="0"/>
              <a:ext cx="7987687" cy="4578298"/>
              <a:chOff x="0" y="0"/>
              <a:chExt cx="1436102" cy="823130"/>
            </a:xfrm>
          </p:grpSpPr>
          <p:sp>
            <p:nvSpPr>
              <p:cNvPr name="Freeform 11" id="11"/>
              <p:cNvSpPr/>
              <p:nvPr/>
            </p:nvSpPr>
            <p:spPr>
              <a:xfrm flipH="false" flipV="false" rot="0">
                <a:off x="0" y="0"/>
                <a:ext cx="1436102" cy="823130"/>
              </a:xfrm>
              <a:custGeom>
                <a:avLst/>
                <a:gdLst/>
                <a:ahLst/>
                <a:cxnLst/>
                <a:rect r="r" b="b" t="t" l="l"/>
                <a:pathLst>
                  <a:path h="823130" w="1436102">
                    <a:moveTo>
                      <a:pt x="53954" y="0"/>
                    </a:moveTo>
                    <a:lnTo>
                      <a:pt x="1382148" y="0"/>
                    </a:lnTo>
                    <a:cubicBezTo>
                      <a:pt x="1396458" y="0"/>
                      <a:pt x="1410181" y="5684"/>
                      <a:pt x="1420299" y="15803"/>
                    </a:cubicBezTo>
                    <a:cubicBezTo>
                      <a:pt x="1430417" y="25921"/>
                      <a:pt x="1436102" y="39644"/>
                      <a:pt x="1436102" y="53954"/>
                    </a:cubicBezTo>
                    <a:lnTo>
                      <a:pt x="1436102" y="769176"/>
                    </a:lnTo>
                    <a:cubicBezTo>
                      <a:pt x="1436102" y="798974"/>
                      <a:pt x="1411946" y="823130"/>
                      <a:pt x="1382148" y="823130"/>
                    </a:cubicBezTo>
                    <a:lnTo>
                      <a:pt x="53954" y="823130"/>
                    </a:lnTo>
                    <a:cubicBezTo>
                      <a:pt x="39644" y="823130"/>
                      <a:pt x="25921" y="817445"/>
                      <a:pt x="15803" y="807327"/>
                    </a:cubicBezTo>
                    <a:cubicBezTo>
                      <a:pt x="5684" y="797209"/>
                      <a:pt x="0" y="783485"/>
                      <a:pt x="0" y="769176"/>
                    </a:cubicBezTo>
                    <a:lnTo>
                      <a:pt x="0" y="53954"/>
                    </a:lnTo>
                    <a:cubicBezTo>
                      <a:pt x="0" y="39644"/>
                      <a:pt x="5684" y="25921"/>
                      <a:pt x="15803" y="15803"/>
                    </a:cubicBezTo>
                    <a:cubicBezTo>
                      <a:pt x="25921" y="5684"/>
                      <a:pt x="39644" y="0"/>
                      <a:pt x="53954" y="0"/>
                    </a:cubicBezTo>
                    <a:close/>
                  </a:path>
                </a:pathLst>
              </a:custGeom>
              <a:solidFill>
                <a:srgbClr val="FFFDDA"/>
              </a:solidFill>
            </p:spPr>
          </p:sp>
          <p:sp>
            <p:nvSpPr>
              <p:cNvPr name="TextBox 12" id="12"/>
              <p:cNvSpPr txBox="true"/>
              <p:nvPr/>
            </p:nvSpPr>
            <p:spPr>
              <a:xfrm>
                <a:off x="0" y="-47625"/>
                <a:ext cx="1436102" cy="870755"/>
              </a:xfrm>
              <a:prstGeom prst="rect">
                <a:avLst/>
              </a:prstGeom>
            </p:spPr>
            <p:txBody>
              <a:bodyPr anchor="ctr" rtlCol="false" tIns="50800" lIns="50800" bIns="50800" rIns="50800"/>
              <a:lstStyle/>
              <a:p>
                <a:pPr algn="ctr">
                  <a:lnSpc>
                    <a:spcPts val="2105"/>
                  </a:lnSpc>
                </a:pPr>
              </a:p>
            </p:txBody>
          </p:sp>
        </p:grpSp>
        <p:sp>
          <p:nvSpPr>
            <p:cNvPr name="TextBox 13" id="13"/>
            <p:cNvSpPr txBox="true"/>
            <p:nvPr/>
          </p:nvSpPr>
          <p:spPr>
            <a:xfrm rot="0">
              <a:off x="0" y="1843733"/>
              <a:ext cx="7987687" cy="2734566"/>
            </a:xfrm>
            <a:prstGeom prst="rect">
              <a:avLst/>
            </a:prstGeom>
          </p:spPr>
          <p:txBody>
            <a:bodyPr anchor="t" rtlCol="false" tIns="0" lIns="0" bIns="0" rIns="0">
              <a:spAutoFit/>
            </a:bodyPr>
            <a:lstStyle/>
            <a:p>
              <a:pPr algn="l" marL="372322" indent="-186161" lvl="1">
                <a:lnSpc>
                  <a:spcPts val="2352"/>
                </a:lnSpc>
                <a:spcBef>
                  <a:spcPct val="0"/>
                </a:spcBef>
                <a:buFont typeface="Arial"/>
                <a:buChar char="•"/>
              </a:pPr>
              <a:r>
                <a:rPr lang="en-US" b="true" sz="1724">
                  <a:solidFill>
                    <a:srgbClr val="000000"/>
                  </a:solidFill>
                  <a:latin typeface="Arial Bold"/>
                  <a:ea typeface="Arial Bold"/>
                  <a:cs typeface="Arial Bold"/>
                  <a:sym typeface="Arial Bold"/>
                </a:rPr>
                <a:t>Data Harmonization: </a:t>
              </a:r>
              <a:r>
                <a:rPr lang="en-US" sz="1724">
                  <a:solidFill>
                    <a:srgbClr val="000000"/>
                  </a:solidFill>
                  <a:latin typeface="Arial"/>
                  <a:ea typeface="Arial"/>
                  <a:cs typeface="Arial"/>
                  <a:sym typeface="Arial"/>
                </a:rPr>
                <a:t>Cleaned and interpolated 20 years </a:t>
              </a:r>
            </a:p>
            <a:p>
              <a:pPr algn="l">
                <a:lnSpc>
                  <a:spcPts val="2352"/>
                </a:lnSpc>
                <a:spcBef>
                  <a:spcPct val="0"/>
                </a:spcBef>
              </a:pPr>
              <a:r>
                <a:rPr lang="en-US" sz="1724">
                  <a:solidFill>
                    <a:srgbClr val="000000"/>
                  </a:solidFill>
                  <a:latin typeface="Arial"/>
                  <a:ea typeface="Arial"/>
                  <a:cs typeface="Arial"/>
                  <a:sym typeface="Arial"/>
                </a:rPr>
                <a:t>       </a:t>
              </a:r>
              <a:r>
                <a:rPr lang="en-US" sz="1724">
                  <a:solidFill>
                    <a:srgbClr val="000000"/>
                  </a:solidFill>
                  <a:latin typeface="Arial"/>
                  <a:ea typeface="Arial"/>
                  <a:cs typeface="Arial"/>
                  <a:sym typeface="Arial"/>
                </a:rPr>
                <a:t>of historical yield data.</a:t>
              </a:r>
            </a:p>
            <a:p>
              <a:pPr algn="l" marL="372322" indent="-186161" lvl="1">
                <a:lnSpc>
                  <a:spcPts val="2352"/>
                </a:lnSpc>
                <a:spcBef>
                  <a:spcPct val="0"/>
                </a:spcBef>
                <a:buFont typeface="Arial"/>
                <a:buChar char="•"/>
              </a:pPr>
              <a:r>
                <a:rPr lang="en-US" b="true" sz="1724">
                  <a:solidFill>
                    <a:srgbClr val="000000"/>
                  </a:solidFill>
                  <a:latin typeface="Arial Bold"/>
                  <a:ea typeface="Arial Bold"/>
                  <a:cs typeface="Arial Bold"/>
                  <a:sym typeface="Arial Bold"/>
                </a:rPr>
                <a:t>Thresholding: </a:t>
              </a:r>
              <a:r>
                <a:rPr lang="en-US" sz="1724">
                  <a:solidFill>
                    <a:srgbClr val="000000"/>
                  </a:solidFill>
                  <a:latin typeface="Arial"/>
                  <a:ea typeface="Arial"/>
                  <a:cs typeface="Arial"/>
                  <a:sym typeface="Arial"/>
                </a:rPr>
                <a:t>Established Q</a:t>
              </a:r>
              <a:r>
                <a:rPr lang="en-US" sz="1724">
                  <a:solidFill>
                    <a:srgbClr val="000000"/>
                  </a:solidFill>
                  <a:latin typeface="Arial"/>
                  <a:ea typeface="Arial"/>
                  <a:cs typeface="Arial"/>
                  <a:sym typeface="Arial"/>
                </a:rPr>
                <a:t>1</a:t>
              </a:r>
              <a:r>
                <a:rPr lang="en-US" sz="1724">
                  <a:solidFill>
                    <a:srgbClr val="000000"/>
                  </a:solidFill>
                  <a:latin typeface="Arial"/>
                  <a:ea typeface="Arial"/>
                  <a:cs typeface="Arial"/>
                  <a:sym typeface="Arial"/>
                </a:rPr>
                <a:t>​ logic for defining binary  "Failure Anomalies".</a:t>
              </a:r>
            </a:p>
            <a:p>
              <a:pPr algn="l" marL="372322" indent="-186161" lvl="1">
                <a:lnSpc>
                  <a:spcPts val="2352"/>
                </a:lnSpc>
                <a:spcBef>
                  <a:spcPct val="0"/>
                </a:spcBef>
                <a:buFont typeface="Arial"/>
                <a:buChar char="•"/>
              </a:pPr>
              <a:r>
                <a:rPr lang="en-US" b="true" sz="1724">
                  <a:solidFill>
                    <a:srgbClr val="000000"/>
                  </a:solidFill>
                  <a:latin typeface="Arial Bold"/>
                  <a:ea typeface="Arial Bold"/>
                  <a:cs typeface="Arial Bold"/>
                  <a:sym typeface="Arial Bold"/>
                </a:rPr>
                <a:t>Architecture Validation:</a:t>
              </a:r>
              <a:r>
                <a:rPr lang="en-US" sz="1724">
                  <a:solidFill>
                    <a:srgbClr val="000000"/>
                  </a:solidFill>
                  <a:latin typeface="Arial"/>
                  <a:ea typeface="Arial"/>
                  <a:cs typeface="Arial"/>
                  <a:sym typeface="Arial"/>
                </a:rPr>
                <a:t> Finalized the Architecture bridging the Physical Layer </a:t>
              </a:r>
              <a:r>
                <a:rPr lang="en-US" sz="1724">
                  <a:solidFill>
                    <a:srgbClr val="000000"/>
                  </a:solidFill>
                  <a:latin typeface="Arial"/>
                  <a:ea typeface="Arial"/>
                  <a:cs typeface="Arial"/>
                  <a:sym typeface="Arial"/>
                </a:rPr>
                <a:t>to </a:t>
              </a:r>
              <a:r>
                <a:rPr lang="en-US" sz="1724">
                  <a:solidFill>
                    <a:srgbClr val="000000"/>
                  </a:solidFill>
                  <a:latin typeface="Arial"/>
                  <a:ea typeface="Arial"/>
                  <a:cs typeface="Arial"/>
                  <a:sym typeface="Arial"/>
                </a:rPr>
                <a:t>the DSS.</a:t>
              </a:r>
            </a:p>
            <a:p>
              <a:pPr algn="l">
                <a:lnSpc>
                  <a:spcPts val="2352"/>
                </a:lnSpc>
                <a:spcBef>
                  <a:spcPct val="0"/>
                </a:spcBef>
              </a:pPr>
            </a:p>
          </p:txBody>
        </p:sp>
        <p:sp>
          <p:nvSpPr>
            <p:cNvPr name="TextBox 14" id="14"/>
            <p:cNvSpPr txBox="true"/>
            <p:nvPr/>
          </p:nvSpPr>
          <p:spPr>
            <a:xfrm rot="0">
              <a:off x="299946" y="342014"/>
              <a:ext cx="7431850" cy="781917"/>
            </a:xfrm>
            <a:prstGeom prst="rect">
              <a:avLst/>
            </a:prstGeom>
          </p:spPr>
          <p:txBody>
            <a:bodyPr anchor="t" rtlCol="false" tIns="0" lIns="0" bIns="0" rIns="0">
              <a:spAutoFit/>
            </a:bodyPr>
            <a:lstStyle/>
            <a:p>
              <a:pPr algn="ctr">
                <a:lnSpc>
                  <a:spcPts val="2312"/>
                </a:lnSpc>
                <a:spcBef>
                  <a:spcPct val="0"/>
                </a:spcBef>
              </a:pPr>
              <a:r>
                <a:rPr lang="en-US" b="true" sz="1695">
                  <a:solidFill>
                    <a:srgbClr val="000000"/>
                  </a:solidFill>
                  <a:latin typeface="Arial Bold"/>
                  <a:ea typeface="Arial Bold"/>
                  <a:cs typeface="Arial Bold"/>
                  <a:sym typeface="Arial Bold"/>
                </a:rPr>
                <a:t>Phase</a:t>
              </a:r>
              <a:r>
                <a:rPr lang="en-US" b="true" sz="1695">
                  <a:solidFill>
                    <a:srgbClr val="000000"/>
                  </a:solidFill>
                  <a:latin typeface="Arial Bold"/>
                  <a:ea typeface="Arial Bold"/>
                  <a:cs typeface="Arial Bold"/>
                  <a:sym typeface="Arial Bold"/>
                </a:rPr>
                <a:t> 1: Data Engineering &amp; System Design </a:t>
              </a:r>
              <a:r>
                <a:rPr lang="en-US" b="true" sz="1695">
                  <a:solidFill>
                    <a:srgbClr val="FF5400"/>
                  </a:solidFill>
                  <a:latin typeface="Arial Bold"/>
                  <a:ea typeface="Arial Bold"/>
                  <a:cs typeface="Arial Bold"/>
                  <a:sym typeface="Arial Bold"/>
                </a:rPr>
                <a:t>(Completed)</a:t>
              </a:r>
            </a:p>
          </p:txBody>
        </p:sp>
      </p:grpSp>
      <p:grpSp>
        <p:nvGrpSpPr>
          <p:cNvPr name="Group 15" id="15"/>
          <p:cNvGrpSpPr/>
          <p:nvPr/>
        </p:nvGrpSpPr>
        <p:grpSpPr>
          <a:xfrm rot="0">
            <a:off x="8909037" y="1417770"/>
            <a:ext cx="6687549" cy="3598763"/>
            <a:chOff x="0" y="0"/>
            <a:chExt cx="8916732" cy="4798351"/>
          </a:xfrm>
        </p:grpSpPr>
        <p:grpSp>
          <p:nvGrpSpPr>
            <p:cNvPr name="Group 16" id="16"/>
            <p:cNvGrpSpPr/>
            <p:nvPr/>
          </p:nvGrpSpPr>
          <p:grpSpPr>
            <a:xfrm rot="0">
              <a:off x="0" y="0"/>
              <a:ext cx="8916732" cy="4798351"/>
              <a:chOff x="0" y="0"/>
              <a:chExt cx="1514273" cy="814874"/>
            </a:xfrm>
          </p:grpSpPr>
          <p:sp>
            <p:nvSpPr>
              <p:cNvPr name="Freeform 17" id="17"/>
              <p:cNvSpPr/>
              <p:nvPr/>
            </p:nvSpPr>
            <p:spPr>
              <a:xfrm flipH="false" flipV="false" rot="0">
                <a:off x="0" y="0"/>
                <a:ext cx="1514273" cy="814874"/>
              </a:xfrm>
              <a:custGeom>
                <a:avLst/>
                <a:gdLst/>
                <a:ahLst/>
                <a:cxnLst/>
                <a:rect r="r" b="b" t="t" l="l"/>
                <a:pathLst>
                  <a:path h="814874" w="1514273">
                    <a:moveTo>
                      <a:pt x="51168" y="0"/>
                    </a:moveTo>
                    <a:lnTo>
                      <a:pt x="1463105" y="0"/>
                    </a:lnTo>
                    <a:cubicBezTo>
                      <a:pt x="1491364" y="0"/>
                      <a:pt x="1514273" y="22909"/>
                      <a:pt x="1514273" y="51168"/>
                    </a:cubicBezTo>
                    <a:lnTo>
                      <a:pt x="1514273" y="763706"/>
                    </a:lnTo>
                    <a:cubicBezTo>
                      <a:pt x="1514273" y="791965"/>
                      <a:pt x="1491364" y="814874"/>
                      <a:pt x="1463105" y="814874"/>
                    </a:cubicBezTo>
                    <a:lnTo>
                      <a:pt x="51168" y="814874"/>
                    </a:lnTo>
                    <a:cubicBezTo>
                      <a:pt x="22909" y="814874"/>
                      <a:pt x="0" y="791965"/>
                      <a:pt x="0" y="763706"/>
                    </a:cubicBezTo>
                    <a:lnTo>
                      <a:pt x="0" y="51168"/>
                    </a:lnTo>
                    <a:cubicBezTo>
                      <a:pt x="0" y="22909"/>
                      <a:pt x="22909" y="0"/>
                      <a:pt x="51168" y="0"/>
                    </a:cubicBezTo>
                    <a:close/>
                  </a:path>
                </a:pathLst>
              </a:custGeom>
              <a:solidFill>
                <a:srgbClr val="FFFDDA"/>
              </a:solidFill>
            </p:spPr>
          </p:sp>
          <p:sp>
            <p:nvSpPr>
              <p:cNvPr name="TextBox 18" id="18"/>
              <p:cNvSpPr txBox="true"/>
              <p:nvPr/>
            </p:nvSpPr>
            <p:spPr>
              <a:xfrm>
                <a:off x="0" y="-47625"/>
                <a:ext cx="1514273" cy="862499"/>
              </a:xfrm>
              <a:prstGeom prst="rect">
                <a:avLst/>
              </a:prstGeom>
            </p:spPr>
            <p:txBody>
              <a:bodyPr anchor="ctr" rtlCol="false" tIns="50800" lIns="50800" bIns="50800" rIns="50800"/>
              <a:lstStyle/>
              <a:p>
                <a:pPr algn="ctr">
                  <a:lnSpc>
                    <a:spcPts val="2105"/>
                  </a:lnSpc>
                </a:pPr>
              </a:p>
            </p:txBody>
          </p:sp>
        </p:grpSp>
        <p:sp>
          <p:nvSpPr>
            <p:cNvPr name="TextBox 19" id="19"/>
            <p:cNvSpPr txBox="true"/>
            <p:nvPr/>
          </p:nvSpPr>
          <p:spPr>
            <a:xfrm rot="0">
              <a:off x="0" y="1687350"/>
              <a:ext cx="8916732" cy="2478625"/>
            </a:xfrm>
            <a:prstGeom prst="rect">
              <a:avLst/>
            </a:prstGeom>
          </p:spPr>
          <p:txBody>
            <a:bodyPr anchor="t" rtlCol="false" tIns="0" lIns="0" bIns="0" rIns="0">
              <a:spAutoFit/>
            </a:bodyPr>
            <a:lstStyle/>
            <a:p>
              <a:pPr algn="l" marL="394171" indent="-197085" lvl="1">
                <a:lnSpc>
                  <a:spcPts val="2490"/>
                </a:lnSpc>
                <a:spcBef>
                  <a:spcPct val="0"/>
                </a:spcBef>
                <a:buFont typeface="Arial"/>
                <a:buChar char="•"/>
              </a:pPr>
              <a:r>
                <a:rPr lang="en-US" b="true" sz="1825">
                  <a:solidFill>
                    <a:srgbClr val="000000"/>
                  </a:solidFill>
                  <a:latin typeface="Arial Bold"/>
                  <a:ea typeface="Arial Bold"/>
                  <a:cs typeface="Arial Bold"/>
                  <a:sym typeface="Arial Bold"/>
                </a:rPr>
                <a:t>Tr</a:t>
              </a:r>
              <a:r>
                <a:rPr lang="en-US" b="true" sz="1825">
                  <a:solidFill>
                    <a:srgbClr val="000000"/>
                  </a:solidFill>
                  <a:latin typeface="Arial Bold"/>
                  <a:ea typeface="Arial Bold"/>
                  <a:cs typeface="Arial Bold"/>
                  <a:sym typeface="Arial Bold"/>
                </a:rPr>
                <a:t>ack A Deployment: </a:t>
              </a:r>
              <a:r>
                <a:rPr lang="en-US" sz="1825">
                  <a:solidFill>
                    <a:srgbClr val="000000"/>
                  </a:solidFill>
                  <a:latin typeface="Arial"/>
                  <a:ea typeface="Arial"/>
                  <a:cs typeface="Arial"/>
                  <a:sym typeface="Arial"/>
                </a:rPr>
                <a:t>Train the Scikit-Learn Ensemble methods for baseline tabular yield forecasting.</a:t>
              </a:r>
            </a:p>
            <a:p>
              <a:pPr algn="l" marL="394171" indent="-197085" lvl="1">
                <a:lnSpc>
                  <a:spcPts val="2490"/>
                </a:lnSpc>
                <a:spcBef>
                  <a:spcPct val="0"/>
                </a:spcBef>
                <a:buFont typeface="Arial"/>
                <a:buChar char="•"/>
              </a:pPr>
              <a:r>
                <a:rPr lang="en-US" b="true" sz="1825">
                  <a:solidFill>
                    <a:srgbClr val="000000"/>
                  </a:solidFill>
                  <a:latin typeface="Arial Bold"/>
                  <a:ea typeface="Arial Bold"/>
                  <a:cs typeface="Arial Bold"/>
                  <a:sym typeface="Arial Bold"/>
                </a:rPr>
                <a:t>Track B Deployment: </a:t>
              </a:r>
              <a:r>
                <a:rPr lang="en-US" sz="1825">
                  <a:solidFill>
                    <a:srgbClr val="000000"/>
                  </a:solidFill>
                  <a:latin typeface="Arial"/>
                  <a:ea typeface="Arial"/>
                  <a:cs typeface="Arial"/>
                  <a:sym typeface="Arial"/>
                </a:rPr>
                <a:t>Construct and train the PyTorch LSTM-Attention model using 12-week temporal 3D tensors.</a:t>
              </a:r>
            </a:p>
            <a:p>
              <a:pPr algn="l" marL="394171" indent="-197085" lvl="1">
                <a:lnSpc>
                  <a:spcPts val="2490"/>
                </a:lnSpc>
                <a:spcBef>
                  <a:spcPct val="0"/>
                </a:spcBef>
                <a:buFont typeface="Arial"/>
                <a:buChar char="•"/>
              </a:pPr>
              <a:r>
                <a:rPr lang="en-US" b="true" sz="1825">
                  <a:solidFill>
                    <a:srgbClr val="000000"/>
                  </a:solidFill>
                  <a:latin typeface="Arial Bold"/>
                  <a:ea typeface="Arial Bold"/>
                  <a:cs typeface="Arial Bold"/>
                  <a:sym typeface="Arial Bold"/>
                </a:rPr>
                <a:t>Validation: </a:t>
              </a:r>
              <a:r>
                <a:rPr lang="en-US" sz="1825">
                  <a:solidFill>
                    <a:srgbClr val="000000"/>
                  </a:solidFill>
                  <a:latin typeface="Arial"/>
                  <a:ea typeface="Arial"/>
                  <a:cs typeface="Arial"/>
                  <a:sym typeface="Arial"/>
                </a:rPr>
                <a:t>Test both models against historical disaster years </a:t>
              </a:r>
              <a:r>
                <a:rPr lang="en-US" sz="1825">
                  <a:solidFill>
                    <a:srgbClr val="000000"/>
                  </a:solidFill>
                  <a:latin typeface="Arial"/>
                  <a:ea typeface="Arial"/>
                  <a:cs typeface="Arial"/>
                  <a:sym typeface="Arial"/>
                </a:rPr>
                <a:t>to valida</a:t>
              </a:r>
              <a:r>
                <a:rPr lang="en-US" sz="1825">
                  <a:solidFill>
                    <a:srgbClr val="000000"/>
                  </a:solidFill>
                  <a:latin typeface="Arial"/>
                  <a:ea typeface="Arial"/>
                  <a:cs typeface="Arial"/>
                  <a:sym typeface="Arial"/>
                </a:rPr>
                <a:t>te failure classification accuracy.</a:t>
              </a:r>
            </a:p>
          </p:txBody>
        </p:sp>
        <p:sp>
          <p:nvSpPr>
            <p:cNvPr name="TextBox 20" id="20"/>
            <p:cNvSpPr txBox="true"/>
            <p:nvPr/>
          </p:nvSpPr>
          <p:spPr>
            <a:xfrm rot="0">
              <a:off x="334833" y="364879"/>
              <a:ext cx="8296246" cy="825007"/>
            </a:xfrm>
            <a:prstGeom prst="rect">
              <a:avLst/>
            </a:prstGeom>
          </p:spPr>
          <p:txBody>
            <a:bodyPr anchor="t" rtlCol="false" tIns="0" lIns="0" bIns="0" rIns="0">
              <a:spAutoFit/>
            </a:bodyPr>
            <a:lstStyle/>
            <a:p>
              <a:pPr algn="ctr">
                <a:lnSpc>
                  <a:spcPts val="2448"/>
                </a:lnSpc>
                <a:spcBef>
                  <a:spcPct val="0"/>
                </a:spcBef>
              </a:pPr>
              <a:r>
                <a:rPr lang="en-US" b="true" sz="1795">
                  <a:solidFill>
                    <a:srgbClr val="000000"/>
                  </a:solidFill>
                  <a:latin typeface="Arial Bold"/>
                  <a:ea typeface="Arial Bold"/>
                  <a:cs typeface="Arial Bold"/>
                  <a:sym typeface="Arial Bold"/>
                </a:rPr>
                <a:t>Phase</a:t>
              </a:r>
              <a:r>
                <a:rPr lang="en-US" b="true" sz="1795">
                  <a:solidFill>
                    <a:srgbClr val="000000"/>
                  </a:solidFill>
                  <a:latin typeface="Arial Bold"/>
                  <a:ea typeface="Arial Bold"/>
                  <a:cs typeface="Arial Bold"/>
                  <a:sym typeface="Arial Bold"/>
                </a:rPr>
                <a:t> 2: Core Model Development &amp; Training </a:t>
              </a:r>
            </a:p>
            <a:p>
              <a:pPr algn="ctr">
                <a:lnSpc>
                  <a:spcPts val="2448"/>
                </a:lnSpc>
                <a:spcBef>
                  <a:spcPct val="0"/>
                </a:spcBef>
              </a:pPr>
              <a:r>
                <a:rPr lang="en-US" b="true" sz="1795">
                  <a:solidFill>
                    <a:srgbClr val="26A688"/>
                  </a:solidFill>
                  <a:latin typeface="Arial Bold"/>
                  <a:ea typeface="Arial Bold"/>
                  <a:cs typeface="Arial Bold"/>
                  <a:sym typeface="Arial Bold"/>
                </a:rPr>
                <a:t>(Current)</a:t>
              </a:r>
            </a:p>
          </p:txBody>
        </p:sp>
      </p:grpSp>
      <p:grpSp>
        <p:nvGrpSpPr>
          <p:cNvPr name="Group 21" id="21"/>
          <p:cNvGrpSpPr/>
          <p:nvPr/>
        </p:nvGrpSpPr>
        <p:grpSpPr>
          <a:xfrm rot="0">
            <a:off x="8909037" y="5143500"/>
            <a:ext cx="6687549" cy="3926937"/>
            <a:chOff x="0" y="0"/>
            <a:chExt cx="8916732" cy="5235916"/>
          </a:xfrm>
        </p:grpSpPr>
        <p:grpSp>
          <p:nvGrpSpPr>
            <p:cNvPr name="Group 22" id="22"/>
            <p:cNvGrpSpPr/>
            <p:nvPr/>
          </p:nvGrpSpPr>
          <p:grpSpPr>
            <a:xfrm rot="0">
              <a:off x="0" y="0"/>
              <a:ext cx="8916732" cy="5235916"/>
              <a:chOff x="0" y="0"/>
              <a:chExt cx="1514273" cy="889183"/>
            </a:xfrm>
          </p:grpSpPr>
          <p:sp>
            <p:nvSpPr>
              <p:cNvPr name="Freeform 23" id="23"/>
              <p:cNvSpPr/>
              <p:nvPr/>
            </p:nvSpPr>
            <p:spPr>
              <a:xfrm flipH="false" flipV="false" rot="0">
                <a:off x="0" y="0"/>
                <a:ext cx="1514273" cy="889183"/>
              </a:xfrm>
              <a:custGeom>
                <a:avLst/>
                <a:gdLst/>
                <a:ahLst/>
                <a:cxnLst/>
                <a:rect r="r" b="b" t="t" l="l"/>
                <a:pathLst>
                  <a:path h="889183" w="1514273">
                    <a:moveTo>
                      <a:pt x="51168" y="0"/>
                    </a:moveTo>
                    <a:lnTo>
                      <a:pt x="1463105" y="0"/>
                    </a:lnTo>
                    <a:cubicBezTo>
                      <a:pt x="1491364" y="0"/>
                      <a:pt x="1514273" y="22909"/>
                      <a:pt x="1514273" y="51168"/>
                    </a:cubicBezTo>
                    <a:lnTo>
                      <a:pt x="1514273" y="838015"/>
                    </a:lnTo>
                    <a:cubicBezTo>
                      <a:pt x="1514273" y="851585"/>
                      <a:pt x="1508882" y="864600"/>
                      <a:pt x="1499286" y="874196"/>
                    </a:cubicBezTo>
                    <a:cubicBezTo>
                      <a:pt x="1489690" y="883792"/>
                      <a:pt x="1476675" y="889183"/>
                      <a:pt x="1463105" y="889183"/>
                    </a:cubicBezTo>
                    <a:lnTo>
                      <a:pt x="51168" y="889183"/>
                    </a:lnTo>
                    <a:cubicBezTo>
                      <a:pt x="22909" y="889183"/>
                      <a:pt x="0" y="866274"/>
                      <a:pt x="0" y="838015"/>
                    </a:cubicBezTo>
                    <a:lnTo>
                      <a:pt x="0" y="51168"/>
                    </a:lnTo>
                    <a:cubicBezTo>
                      <a:pt x="0" y="22909"/>
                      <a:pt x="22909" y="0"/>
                      <a:pt x="51168" y="0"/>
                    </a:cubicBezTo>
                    <a:close/>
                  </a:path>
                </a:pathLst>
              </a:custGeom>
              <a:solidFill>
                <a:srgbClr val="DDFFDA"/>
              </a:solidFill>
            </p:spPr>
          </p:sp>
          <p:sp>
            <p:nvSpPr>
              <p:cNvPr name="TextBox 24" id="24"/>
              <p:cNvSpPr txBox="true"/>
              <p:nvPr/>
            </p:nvSpPr>
            <p:spPr>
              <a:xfrm>
                <a:off x="0" y="-47625"/>
                <a:ext cx="1514273" cy="936808"/>
              </a:xfrm>
              <a:prstGeom prst="rect">
                <a:avLst/>
              </a:prstGeom>
            </p:spPr>
            <p:txBody>
              <a:bodyPr anchor="ctr" rtlCol="false" tIns="50800" lIns="50800" bIns="50800" rIns="50800"/>
              <a:lstStyle/>
              <a:p>
                <a:pPr algn="ctr">
                  <a:lnSpc>
                    <a:spcPts val="2105"/>
                  </a:lnSpc>
                </a:pPr>
              </a:p>
            </p:txBody>
          </p:sp>
        </p:grpSp>
        <p:sp>
          <p:nvSpPr>
            <p:cNvPr name="TextBox 25" id="25"/>
            <p:cNvSpPr txBox="true"/>
            <p:nvPr/>
          </p:nvSpPr>
          <p:spPr>
            <a:xfrm rot="0">
              <a:off x="0" y="1672916"/>
              <a:ext cx="8916732" cy="2930624"/>
            </a:xfrm>
            <a:prstGeom prst="rect">
              <a:avLst/>
            </a:prstGeom>
          </p:spPr>
          <p:txBody>
            <a:bodyPr anchor="t" rtlCol="false" tIns="0" lIns="0" bIns="0" rIns="0">
              <a:spAutoFit/>
            </a:bodyPr>
            <a:lstStyle/>
            <a:p>
              <a:pPr algn="l" marL="394171" indent="-197085" lvl="1">
                <a:lnSpc>
                  <a:spcPts val="2490"/>
                </a:lnSpc>
                <a:spcBef>
                  <a:spcPct val="0"/>
                </a:spcBef>
                <a:buFont typeface="Arial"/>
                <a:buChar char="•"/>
              </a:pPr>
              <a:r>
                <a:rPr lang="en-US" b="true" sz="1825">
                  <a:solidFill>
                    <a:srgbClr val="000000"/>
                  </a:solidFill>
                  <a:latin typeface="Arial Bold"/>
                  <a:ea typeface="Arial Bold"/>
                  <a:cs typeface="Arial Bold"/>
                  <a:sym typeface="Arial Bold"/>
                </a:rPr>
                <a:t>UI Constru</a:t>
              </a:r>
              <a:r>
                <a:rPr lang="en-US" b="true" sz="1825">
                  <a:solidFill>
                    <a:srgbClr val="000000"/>
                  </a:solidFill>
                  <a:latin typeface="Arial Bold"/>
                  <a:ea typeface="Arial Bold"/>
                  <a:cs typeface="Arial Bold"/>
                  <a:sym typeface="Arial Bold"/>
                </a:rPr>
                <a:t>ction: </a:t>
              </a:r>
              <a:r>
                <a:rPr lang="en-US" sz="1825">
                  <a:solidFill>
                    <a:srgbClr val="000000"/>
                  </a:solidFill>
                  <a:latin typeface="Arial"/>
                  <a:ea typeface="Arial"/>
                  <a:cs typeface="Arial"/>
                  <a:sym typeface="Arial"/>
                </a:rPr>
                <a:t>Build and deploy the React/Vite dashboard featuring interactive Leaflet GIS maps and metric trend cards</a:t>
              </a:r>
              <a:r>
                <a:rPr lang="en-US" b="true" sz="1825">
                  <a:solidFill>
                    <a:srgbClr val="000000"/>
                  </a:solidFill>
                  <a:latin typeface="Arial Bold"/>
                  <a:ea typeface="Arial Bold"/>
                  <a:cs typeface="Arial Bold"/>
                  <a:sym typeface="Arial Bold"/>
                </a:rPr>
                <a:t>.</a:t>
              </a:r>
            </a:p>
            <a:p>
              <a:pPr algn="l" marL="394171" indent="-197085" lvl="1">
                <a:lnSpc>
                  <a:spcPts val="2490"/>
                </a:lnSpc>
                <a:spcBef>
                  <a:spcPct val="0"/>
                </a:spcBef>
                <a:buFont typeface="Arial"/>
                <a:buChar char="•"/>
              </a:pPr>
              <a:r>
                <a:rPr lang="en-US" b="true" sz="1825">
                  <a:solidFill>
                    <a:srgbClr val="000000"/>
                  </a:solidFill>
                  <a:latin typeface="Arial Bold"/>
                  <a:ea typeface="Arial Bold"/>
                  <a:cs typeface="Arial Bold"/>
                  <a:sym typeface="Arial Bold"/>
                </a:rPr>
                <a:t>Simu</a:t>
              </a:r>
              <a:r>
                <a:rPr lang="en-US" b="true" sz="1825">
                  <a:solidFill>
                    <a:srgbClr val="000000"/>
                  </a:solidFill>
                  <a:latin typeface="Arial Bold"/>
                  <a:ea typeface="Arial Bold"/>
                  <a:cs typeface="Arial Bold"/>
                  <a:sym typeface="Arial Bold"/>
                </a:rPr>
                <a:t>lation Engine:</a:t>
              </a:r>
              <a:r>
                <a:rPr lang="en-US" sz="1825">
                  <a:solidFill>
                    <a:srgbClr val="000000"/>
                  </a:solidFill>
                  <a:latin typeface="Arial"/>
                  <a:ea typeface="Arial"/>
                  <a:cs typeface="Arial"/>
                  <a:sym typeface="Arial"/>
                </a:rPr>
                <a:t> Finalize the UI sliders to allow users to manipulate weather variables for "What-If" simulations.</a:t>
              </a:r>
            </a:p>
            <a:p>
              <a:pPr algn="l" marL="394171" indent="-197085" lvl="1">
                <a:lnSpc>
                  <a:spcPts val="2490"/>
                </a:lnSpc>
                <a:spcBef>
                  <a:spcPct val="0"/>
                </a:spcBef>
                <a:buFont typeface="Arial"/>
                <a:buChar char="•"/>
              </a:pPr>
              <a:r>
                <a:rPr lang="en-US" b="true" sz="1825">
                  <a:solidFill>
                    <a:srgbClr val="000000"/>
                  </a:solidFill>
                  <a:latin typeface="Arial Bold"/>
                  <a:ea typeface="Arial Bold"/>
                  <a:cs typeface="Arial Bold"/>
                  <a:sym typeface="Arial Bold"/>
                </a:rPr>
                <a:t>User</a:t>
              </a:r>
              <a:r>
                <a:rPr lang="en-US" b="true" sz="1825">
                  <a:solidFill>
                    <a:srgbClr val="000000"/>
                  </a:solidFill>
                  <a:latin typeface="Arial Bold"/>
                  <a:ea typeface="Arial Bold"/>
                  <a:cs typeface="Arial Bold"/>
                  <a:sym typeface="Arial Bold"/>
                </a:rPr>
                <a:t> Testing: </a:t>
              </a:r>
              <a:r>
                <a:rPr lang="en-US" sz="1825">
                  <a:solidFill>
                    <a:srgbClr val="000000"/>
                  </a:solidFill>
                  <a:latin typeface="Arial"/>
                  <a:ea typeface="Arial"/>
                  <a:cs typeface="Arial"/>
                  <a:sym typeface="Arial"/>
                </a:rPr>
                <a:t>Conduct simulated User Acceptance Testing (UAT) utilizing Analys</a:t>
              </a:r>
              <a:r>
                <a:rPr lang="en-US" sz="1825">
                  <a:solidFill>
                    <a:srgbClr val="000000"/>
                  </a:solidFill>
                  <a:latin typeface="Arial"/>
                  <a:ea typeface="Arial"/>
                  <a:cs typeface="Arial"/>
                  <a:sym typeface="Arial"/>
                </a:rPr>
                <a:t>t and</a:t>
              </a:r>
              <a:r>
                <a:rPr lang="en-US" sz="1825">
                  <a:solidFill>
                    <a:srgbClr val="000000"/>
                  </a:solidFill>
                  <a:latin typeface="Arial"/>
                  <a:ea typeface="Arial"/>
                  <a:cs typeface="Arial"/>
                  <a:sym typeface="Arial"/>
                </a:rPr>
                <a:t> Farmer personas.</a:t>
              </a:r>
            </a:p>
          </p:txBody>
        </p:sp>
        <p:sp>
          <p:nvSpPr>
            <p:cNvPr name="TextBox 26" id="26"/>
            <p:cNvSpPr txBox="true"/>
            <p:nvPr/>
          </p:nvSpPr>
          <p:spPr>
            <a:xfrm rot="0">
              <a:off x="334833" y="364879"/>
              <a:ext cx="8296246" cy="810573"/>
            </a:xfrm>
            <a:prstGeom prst="rect">
              <a:avLst/>
            </a:prstGeom>
          </p:spPr>
          <p:txBody>
            <a:bodyPr anchor="t" rtlCol="false" tIns="0" lIns="0" bIns="0" rIns="0">
              <a:spAutoFit/>
            </a:bodyPr>
            <a:lstStyle/>
            <a:p>
              <a:pPr algn="ctr">
                <a:lnSpc>
                  <a:spcPts val="2448"/>
                </a:lnSpc>
                <a:spcBef>
                  <a:spcPct val="0"/>
                </a:spcBef>
              </a:pPr>
              <a:r>
                <a:rPr lang="en-US" b="true" sz="1795">
                  <a:solidFill>
                    <a:srgbClr val="000000"/>
                  </a:solidFill>
                  <a:latin typeface="Arial Bold"/>
                  <a:ea typeface="Arial Bold"/>
                  <a:cs typeface="Arial Bold"/>
                  <a:sym typeface="Arial Bold"/>
                </a:rPr>
                <a:t>Phase</a:t>
              </a:r>
              <a:r>
                <a:rPr lang="en-US" b="true" sz="1795">
                  <a:solidFill>
                    <a:srgbClr val="000000"/>
                  </a:solidFill>
                  <a:latin typeface="Arial Bold"/>
                  <a:ea typeface="Arial Bold"/>
                  <a:cs typeface="Arial Bold"/>
                  <a:sym typeface="Arial Bold"/>
                </a:rPr>
                <a:t> 4: Frontend GIS Dashboard &amp; Real-World Pilot </a:t>
              </a:r>
              <a:r>
                <a:rPr lang="en-US" b="true" sz="1795">
                  <a:solidFill>
                    <a:srgbClr val="0029FF"/>
                  </a:solidFill>
                  <a:latin typeface="Arial Bold"/>
                  <a:ea typeface="Arial Bold"/>
                  <a:cs typeface="Arial Bold"/>
                  <a:sym typeface="Arial Bold"/>
                </a:rPr>
                <a:t>(Future)</a:t>
              </a:r>
            </a:p>
          </p:txBody>
        </p:sp>
      </p:grpSp>
      <p:grpSp>
        <p:nvGrpSpPr>
          <p:cNvPr name="Group 27" id="27"/>
          <p:cNvGrpSpPr/>
          <p:nvPr/>
        </p:nvGrpSpPr>
        <p:grpSpPr>
          <a:xfrm rot="0">
            <a:off x="1663156" y="5332244"/>
            <a:ext cx="6687549" cy="3298287"/>
            <a:chOff x="0" y="0"/>
            <a:chExt cx="8916732" cy="4397716"/>
          </a:xfrm>
        </p:grpSpPr>
        <p:grpSp>
          <p:nvGrpSpPr>
            <p:cNvPr name="Group 28" id="28"/>
            <p:cNvGrpSpPr/>
            <p:nvPr/>
          </p:nvGrpSpPr>
          <p:grpSpPr>
            <a:xfrm rot="0">
              <a:off x="0" y="0"/>
              <a:ext cx="8916732" cy="4397716"/>
              <a:chOff x="0" y="0"/>
              <a:chExt cx="1514273" cy="746837"/>
            </a:xfrm>
          </p:grpSpPr>
          <p:sp>
            <p:nvSpPr>
              <p:cNvPr name="Freeform 29" id="29"/>
              <p:cNvSpPr/>
              <p:nvPr/>
            </p:nvSpPr>
            <p:spPr>
              <a:xfrm flipH="false" flipV="false" rot="0">
                <a:off x="0" y="0"/>
                <a:ext cx="1514273" cy="746837"/>
              </a:xfrm>
              <a:custGeom>
                <a:avLst/>
                <a:gdLst/>
                <a:ahLst/>
                <a:cxnLst/>
                <a:rect r="r" b="b" t="t" l="l"/>
                <a:pathLst>
                  <a:path h="746837" w="1514273">
                    <a:moveTo>
                      <a:pt x="51168" y="0"/>
                    </a:moveTo>
                    <a:lnTo>
                      <a:pt x="1463105" y="0"/>
                    </a:lnTo>
                    <a:cubicBezTo>
                      <a:pt x="1491364" y="0"/>
                      <a:pt x="1514273" y="22909"/>
                      <a:pt x="1514273" y="51168"/>
                    </a:cubicBezTo>
                    <a:lnTo>
                      <a:pt x="1514273" y="695668"/>
                    </a:lnTo>
                    <a:cubicBezTo>
                      <a:pt x="1514273" y="723928"/>
                      <a:pt x="1491364" y="746837"/>
                      <a:pt x="1463105" y="746837"/>
                    </a:cubicBezTo>
                    <a:lnTo>
                      <a:pt x="51168" y="746837"/>
                    </a:lnTo>
                    <a:cubicBezTo>
                      <a:pt x="22909" y="746837"/>
                      <a:pt x="0" y="723928"/>
                      <a:pt x="0" y="695668"/>
                    </a:cubicBezTo>
                    <a:lnTo>
                      <a:pt x="0" y="51168"/>
                    </a:lnTo>
                    <a:cubicBezTo>
                      <a:pt x="0" y="22909"/>
                      <a:pt x="22909" y="0"/>
                      <a:pt x="51168" y="0"/>
                    </a:cubicBezTo>
                    <a:close/>
                  </a:path>
                </a:pathLst>
              </a:custGeom>
              <a:solidFill>
                <a:srgbClr val="DDFFDA"/>
              </a:solidFill>
            </p:spPr>
          </p:sp>
          <p:sp>
            <p:nvSpPr>
              <p:cNvPr name="TextBox 30" id="30"/>
              <p:cNvSpPr txBox="true"/>
              <p:nvPr/>
            </p:nvSpPr>
            <p:spPr>
              <a:xfrm>
                <a:off x="0" y="-47625"/>
                <a:ext cx="1514273" cy="794462"/>
              </a:xfrm>
              <a:prstGeom prst="rect">
                <a:avLst/>
              </a:prstGeom>
            </p:spPr>
            <p:txBody>
              <a:bodyPr anchor="ctr" rtlCol="false" tIns="50800" lIns="50800" bIns="50800" rIns="50800"/>
              <a:lstStyle/>
              <a:p>
                <a:pPr algn="ctr">
                  <a:lnSpc>
                    <a:spcPts val="2105"/>
                  </a:lnSpc>
                </a:pPr>
              </a:p>
            </p:txBody>
          </p:sp>
        </p:grpSp>
        <p:sp>
          <p:nvSpPr>
            <p:cNvPr name="TextBox 31" id="31"/>
            <p:cNvSpPr txBox="true"/>
            <p:nvPr/>
          </p:nvSpPr>
          <p:spPr>
            <a:xfrm rot="0">
              <a:off x="0" y="1672916"/>
              <a:ext cx="8916732" cy="2092424"/>
            </a:xfrm>
            <a:prstGeom prst="rect">
              <a:avLst/>
            </a:prstGeom>
          </p:spPr>
          <p:txBody>
            <a:bodyPr anchor="t" rtlCol="false" tIns="0" lIns="0" bIns="0" rIns="0">
              <a:spAutoFit/>
            </a:bodyPr>
            <a:lstStyle/>
            <a:p>
              <a:pPr algn="l" marL="394171" indent="-197085" lvl="1">
                <a:lnSpc>
                  <a:spcPts val="2490"/>
                </a:lnSpc>
                <a:spcBef>
                  <a:spcPct val="0"/>
                </a:spcBef>
                <a:buFont typeface="Arial"/>
                <a:buChar char="•"/>
              </a:pPr>
              <a:r>
                <a:rPr lang="en-US" b="true" sz="1825">
                  <a:solidFill>
                    <a:srgbClr val="000000"/>
                  </a:solidFill>
                  <a:latin typeface="Arial Bold"/>
                  <a:ea typeface="Arial Bold"/>
                  <a:cs typeface="Arial Bold"/>
                  <a:sym typeface="Arial Bold"/>
                </a:rPr>
                <a:t>Trigger</a:t>
              </a:r>
              <a:r>
                <a:rPr lang="en-US" b="true" sz="1825">
                  <a:solidFill>
                    <a:srgbClr val="000000"/>
                  </a:solidFill>
                  <a:latin typeface="Arial Bold"/>
                  <a:ea typeface="Arial Bold"/>
                  <a:cs typeface="Arial Bold"/>
                  <a:sym typeface="Arial Bold"/>
                </a:rPr>
                <a:t> Mapping: </a:t>
              </a:r>
              <a:r>
                <a:rPr lang="en-US" sz="1825">
                  <a:solidFill>
                    <a:srgbClr val="000000"/>
                  </a:solidFill>
                  <a:latin typeface="Arial"/>
                  <a:ea typeface="Arial"/>
                  <a:cs typeface="Arial"/>
                  <a:sym typeface="Arial"/>
                </a:rPr>
                <a:t>Extra</a:t>
              </a:r>
              <a:r>
                <a:rPr lang="en-US" sz="1825">
                  <a:solidFill>
                    <a:srgbClr val="000000"/>
                  </a:solidFill>
                  <a:latin typeface="Arial"/>
                  <a:ea typeface="Arial"/>
                  <a:cs typeface="Arial"/>
                  <a:sym typeface="Arial"/>
                </a:rPr>
                <a:t>ct the temporal attention weights from the LSTM and mathematically map them to physical stress triggers.</a:t>
              </a:r>
            </a:p>
            <a:p>
              <a:pPr algn="l" marL="394171" indent="-197085" lvl="1">
                <a:lnSpc>
                  <a:spcPts val="2490"/>
                </a:lnSpc>
                <a:spcBef>
                  <a:spcPct val="0"/>
                </a:spcBef>
                <a:buFont typeface="Arial"/>
                <a:buChar char="•"/>
              </a:pPr>
              <a:r>
                <a:rPr lang="en-US" b="true" sz="1825">
                  <a:solidFill>
                    <a:srgbClr val="000000"/>
                  </a:solidFill>
                  <a:latin typeface="Arial Bold"/>
                  <a:ea typeface="Arial Bold"/>
                  <a:cs typeface="Arial Bold"/>
                  <a:sym typeface="Arial Bold"/>
                </a:rPr>
                <a:t>Ch</a:t>
              </a:r>
              <a:r>
                <a:rPr lang="en-US" b="true" sz="1825">
                  <a:solidFill>
                    <a:srgbClr val="000000"/>
                  </a:solidFill>
                  <a:latin typeface="Arial Bold"/>
                  <a:ea typeface="Arial Bold"/>
                  <a:cs typeface="Arial Bold"/>
                  <a:sym typeface="Arial Bold"/>
                </a:rPr>
                <a:t>atbot Deployment: </a:t>
              </a:r>
              <a:r>
                <a:rPr lang="en-US" sz="1825">
                  <a:solidFill>
                    <a:srgbClr val="000000"/>
                  </a:solidFill>
                  <a:latin typeface="Arial"/>
                  <a:ea typeface="Arial"/>
                  <a:cs typeface="Arial"/>
                  <a:sym typeface="Arial"/>
                </a:rPr>
                <a:t>Integrate the LangGraph Orchestrator to power the Natural Language Expert Advisory Chatbot.</a:t>
              </a:r>
            </a:p>
          </p:txBody>
        </p:sp>
        <p:sp>
          <p:nvSpPr>
            <p:cNvPr name="TextBox 32" id="32"/>
            <p:cNvSpPr txBox="true"/>
            <p:nvPr/>
          </p:nvSpPr>
          <p:spPr>
            <a:xfrm rot="0">
              <a:off x="334833" y="364879"/>
              <a:ext cx="8296246" cy="810573"/>
            </a:xfrm>
            <a:prstGeom prst="rect">
              <a:avLst/>
            </a:prstGeom>
          </p:spPr>
          <p:txBody>
            <a:bodyPr anchor="t" rtlCol="false" tIns="0" lIns="0" bIns="0" rIns="0">
              <a:spAutoFit/>
            </a:bodyPr>
            <a:lstStyle/>
            <a:p>
              <a:pPr algn="ctr">
                <a:lnSpc>
                  <a:spcPts val="2448"/>
                </a:lnSpc>
                <a:spcBef>
                  <a:spcPct val="0"/>
                </a:spcBef>
              </a:pPr>
              <a:r>
                <a:rPr lang="en-US" b="true" sz="1795">
                  <a:solidFill>
                    <a:srgbClr val="000000"/>
                  </a:solidFill>
                  <a:latin typeface="Arial Bold"/>
                  <a:ea typeface="Arial Bold"/>
                  <a:cs typeface="Arial Bold"/>
                  <a:sym typeface="Arial Bold"/>
                </a:rPr>
                <a:t>Phase</a:t>
              </a:r>
              <a:r>
                <a:rPr lang="en-US" b="true" sz="1795">
                  <a:solidFill>
                    <a:srgbClr val="000000"/>
                  </a:solidFill>
                  <a:latin typeface="Arial Bold"/>
                  <a:ea typeface="Arial Bold"/>
                  <a:cs typeface="Arial Bold"/>
                  <a:sym typeface="Arial Bold"/>
                </a:rPr>
                <a:t> 3:Model Interpretability &amp; LangGraph Integration  </a:t>
              </a:r>
              <a:r>
                <a:rPr lang="en-US" b="true" sz="1795">
                  <a:solidFill>
                    <a:srgbClr val="0029FF"/>
                  </a:solidFill>
                  <a:latin typeface="Arial Bold"/>
                  <a:ea typeface="Arial Bold"/>
                  <a:cs typeface="Arial Bold"/>
                  <a:sym typeface="Arial Bold"/>
                </a:rPr>
                <a:t>(Future)</a:t>
              </a:r>
            </a:p>
          </p:txBody>
        </p:sp>
      </p:gr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35117" y="-206719"/>
            <a:ext cx="18923306" cy="10700437"/>
            <a:chOff x="0" y="0"/>
            <a:chExt cx="4983916" cy="2818222"/>
          </a:xfrm>
        </p:grpSpPr>
        <p:sp>
          <p:nvSpPr>
            <p:cNvPr name="Freeform 3" id="3"/>
            <p:cNvSpPr/>
            <p:nvPr/>
          </p:nvSpPr>
          <p:spPr>
            <a:xfrm flipH="false" flipV="false" rot="0">
              <a:off x="0" y="0"/>
              <a:ext cx="4983916" cy="2818222"/>
            </a:xfrm>
            <a:custGeom>
              <a:avLst/>
              <a:gdLst/>
              <a:ahLst/>
              <a:cxnLst/>
              <a:rect r="r" b="b" t="t" l="l"/>
              <a:pathLst>
                <a:path h="2818222" w="4983916">
                  <a:moveTo>
                    <a:pt x="40912" y="0"/>
                  </a:moveTo>
                  <a:lnTo>
                    <a:pt x="4943004" y="0"/>
                  </a:lnTo>
                  <a:cubicBezTo>
                    <a:pt x="4953855" y="0"/>
                    <a:pt x="4964261" y="4310"/>
                    <a:pt x="4971933" y="11983"/>
                  </a:cubicBezTo>
                  <a:cubicBezTo>
                    <a:pt x="4979606" y="19655"/>
                    <a:pt x="4983916" y="30062"/>
                    <a:pt x="4983916" y="40912"/>
                  </a:cubicBezTo>
                  <a:lnTo>
                    <a:pt x="4983916" y="2777310"/>
                  </a:lnTo>
                  <a:cubicBezTo>
                    <a:pt x="4983916" y="2788161"/>
                    <a:pt x="4979606" y="2798567"/>
                    <a:pt x="4971933" y="2806239"/>
                  </a:cubicBezTo>
                  <a:cubicBezTo>
                    <a:pt x="4964261" y="2813912"/>
                    <a:pt x="4953855" y="2818222"/>
                    <a:pt x="4943004" y="2818222"/>
                  </a:cubicBezTo>
                  <a:lnTo>
                    <a:pt x="40912" y="2818222"/>
                  </a:lnTo>
                  <a:cubicBezTo>
                    <a:pt x="30062" y="2818222"/>
                    <a:pt x="19655" y="2813912"/>
                    <a:pt x="11983" y="2806239"/>
                  </a:cubicBezTo>
                  <a:cubicBezTo>
                    <a:pt x="4310" y="2798567"/>
                    <a:pt x="0" y="2788161"/>
                    <a:pt x="0" y="2777310"/>
                  </a:cubicBezTo>
                  <a:lnTo>
                    <a:pt x="0" y="40912"/>
                  </a:lnTo>
                  <a:cubicBezTo>
                    <a:pt x="0" y="30062"/>
                    <a:pt x="4310" y="19655"/>
                    <a:pt x="11983" y="11983"/>
                  </a:cubicBezTo>
                  <a:cubicBezTo>
                    <a:pt x="19655" y="4310"/>
                    <a:pt x="30062" y="0"/>
                    <a:pt x="40912" y="0"/>
                  </a:cubicBezTo>
                  <a:close/>
                </a:path>
              </a:pathLst>
            </a:custGeom>
            <a:solidFill>
              <a:srgbClr val="6B95E0"/>
            </a:solidFill>
            <a:ln cap="rnd">
              <a:noFill/>
              <a:prstDash val="solid"/>
              <a:round/>
            </a:ln>
          </p:spPr>
        </p:sp>
        <p:sp>
          <p:nvSpPr>
            <p:cNvPr name="TextBox 4" id="4"/>
            <p:cNvSpPr txBox="true"/>
            <p:nvPr/>
          </p:nvSpPr>
          <p:spPr>
            <a:xfrm>
              <a:off x="0" y="-47625"/>
              <a:ext cx="4983916" cy="286584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1710" y="357961"/>
            <a:ext cx="17869653" cy="9571077"/>
            <a:chOff x="0" y="0"/>
            <a:chExt cx="4706411" cy="2520778"/>
          </a:xfrm>
        </p:grpSpPr>
        <p:sp>
          <p:nvSpPr>
            <p:cNvPr name="Freeform 6" id="6"/>
            <p:cNvSpPr/>
            <p:nvPr/>
          </p:nvSpPr>
          <p:spPr>
            <a:xfrm flipH="false" flipV="false" rot="0">
              <a:off x="0" y="0"/>
              <a:ext cx="4706410" cy="2520778"/>
            </a:xfrm>
            <a:custGeom>
              <a:avLst/>
              <a:gdLst/>
              <a:ahLst/>
              <a:cxnLst/>
              <a:rect r="r" b="b" t="t" l="l"/>
              <a:pathLst>
                <a:path h="2520778" w="4706410">
                  <a:moveTo>
                    <a:pt x="43324" y="0"/>
                  </a:moveTo>
                  <a:lnTo>
                    <a:pt x="4663086" y="0"/>
                  </a:lnTo>
                  <a:cubicBezTo>
                    <a:pt x="4687014" y="0"/>
                    <a:pt x="4706410" y="19397"/>
                    <a:pt x="4706410" y="43324"/>
                  </a:cubicBezTo>
                  <a:lnTo>
                    <a:pt x="4706410" y="2477453"/>
                  </a:lnTo>
                  <a:cubicBezTo>
                    <a:pt x="4706410" y="2501380"/>
                    <a:pt x="4687014" y="2520778"/>
                    <a:pt x="4663086" y="2520778"/>
                  </a:cubicBezTo>
                  <a:lnTo>
                    <a:pt x="43324" y="2520778"/>
                  </a:lnTo>
                  <a:cubicBezTo>
                    <a:pt x="19397" y="2520778"/>
                    <a:pt x="0" y="2501380"/>
                    <a:pt x="0" y="2477453"/>
                  </a:cubicBezTo>
                  <a:lnTo>
                    <a:pt x="0" y="43324"/>
                  </a:lnTo>
                  <a:cubicBezTo>
                    <a:pt x="0" y="19397"/>
                    <a:pt x="19397" y="0"/>
                    <a:pt x="43324" y="0"/>
                  </a:cubicBezTo>
                  <a:close/>
                </a:path>
              </a:pathLst>
            </a:custGeom>
            <a:solidFill>
              <a:srgbClr val="FFFFFE"/>
            </a:solidFill>
            <a:ln cap="rnd">
              <a:noFill/>
              <a:prstDash val="solid"/>
              <a:round/>
            </a:ln>
          </p:spPr>
        </p:sp>
        <p:sp>
          <p:nvSpPr>
            <p:cNvPr name="TextBox 7" id="7"/>
            <p:cNvSpPr txBox="true"/>
            <p:nvPr/>
          </p:nvSpPr>
          <p:spPr>
            <a:xfrm>
              <a:off x="0" y="-47625"/>
              <a:ext cx="4706411" cy="2568403"/>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7083038" y="2008728"/>
            <a:ext cx="3366046" cy="679869"/>
          </a:xfrm>
          <a:prstGeom prst="rect">
            <a:avLst/>
          </a:prstGeom>
        </p:spPr>
        <p:txBody>
          <a:bodyPr anchor="t" rtlCol="false" tIns="0" lIns="0" bIns="0" rIns="0">
            <a:spAutoFit/>
          </a:bodyPr>
          <a:lstStyle/>
          <a:p>
            <a:pPr algn="ctr">
              <a:lnSpc>
                <a:spcPts val="5378"/>
              </a:lnSpc>
              <a:spcBef>
                <a:spcPct val="0"/>
              </a:spcBef>
            </a:pPr>
            <a:r>
              <a:rPr lang="en-US" b="true" sz="3943" u="sng">
                <a:solidFill>
                  <a:srgbClr val="000000"/>
                </a:solidFill>
                <a:latin typeface="Arimo Bold"/>
                <a:ea typeface="Arimo Bold"/>
                <a:cs typeface="Arimo Bold"/>
                <a:sym typeface="Arimo Bold"/>
              </a:rPr>
              <a:t>CONCLUSION</a:t>
            </a:r>
          </a:p>
        </p:txBody>
      </p:sp>
      <p:sp>
        <p:nvSpPr>
          <p:cNvPr name="TextBox 9" id="9"/>
          <p:cNvSpPr txBox="true"/>
          <p:nvPr/>
        </p:nvSpPr>
        <p:spPr>
          <a:xfrm rot="0">
            <a:off x="1028700" y="3624838"/>
            <a:ext cx="16192659" cy="3564890"/>
          </a:xfrm>
          <a:prstGeom prst="rect">
            <a:avLst/>
          </a:prstGeom>
        </p:spPr>
        <p:txBody>
          <a:bodyPr anchor="t" rtlCol="false" tIns="0" lIns="0" bIns="0" rIns="0">
            <a:spAutoFit/>
          </a:bodyPr>
          <a:lstStyle/>
          <a:p>
            <a:pPr algn="l">
              <a:lnSpc>
                <a:spcPts val="3219"/>
              </a:lnSpc>
              <a:spcBef>
                <a:spcPct val="0"/>
              </a:spcBef>
            </a:pPr>
            <a:r>
              <a:rPr lang="en-US" b="true" sz="2299">
                <a:solidFill>
                  <a:srgbClr val="000000"/>
                </a:solidFill>
                <a:latin typeface="Arimo Bold"/>
                <a:ea typeface="Arimo Bold"/>
                <a:cs typeface="Arimo Bold"/>
                <a:sym typeface="Arimo Bold"/>
              </a:rPr>
              <a:t>The C</a:t>
            </a:r>
            <a:r>
              <a:rPr lang="en-US" b="true" sz="2299">
                <a:solidFill>
                  <a:srgbClr val="000000"/>
                </a:solidFill>
                <a:latin typeface="Arimo Bold"/>
                <a:ea typeface="Arimo Bold"/>
                <a:cs typeface="Arimo Bold"/>
                <a:sym typeface="Arimo Bold"/>
              </a:rPr>
              <a:t>ognitive Digital Twin framework successfully bridges the critical gap between passive agricultural yield reporting and proactive, predictive disaster management. By continuously integrating 20 years of historical government baseline data with automated NASA POWER satellite telemetry, the system achieves a robust, dual-track machine learning prediction engine. Crucially, the framework ensures high model interpretability by translating complex deep learning temporal attention weights into transparent biophysical triggers (such as severe drought or thermal stress). Ultimately, this framework transforms complex data into an interactive Decision Support System (DSS) where stakeholders can run counterfactual "what-if" climate simulations—moving agricultural strategy away from reactive crisis response and toward proactive resilience planning.</a:t>
            </a:r>
          </a:p>
          <a:p>
            <a:pPr algn="l">
              <a:lnSpc>
                <a:spcPts val="2799"/>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35117" y="-206719"/>
            <a:ext cx="18923306" cy="10700437"/>
            <a:chOff x="0" y="0"/>
            <a:chExt cx="4983916" cy="2818222"/>
          </a:xfrm>
        </p:grpSpPr>
        <p:sp>
          <p:nvSpPr>
            <p:cNvPr name="Freeform 3" id="3"/>
            <p:cNvSpPr/>
            <p:nvPr/>
          </p:nvSpPr>
          <p:spPr>
            <a:xfrm flipH="false" flipV="false" rot="0">
              <a:off x="0" y="0"/>
              <a:ext cx="4983916" cy="2818222"/>
            </a:xfrm>
            <a:custGeom>
              <a:avLst/>
              <a:gdLst/>
              <a:ahLst/>
              <a:cxnLst/>
              <a:rect r="r" b="b" t="t" l="l"/>
              <a:pathLst>
                <a:path h="2818222" w="4983916">
                  <a:moveTo>
                    <a:pt x="40912" y="0"/>
                  </a:moveTo>
                  <a:lnTo>
                    <a:pt x="4943004" y="0"/>
                  </a:lnTo>
                  <a:cubicBezTo>
                    <a:pt x="4953855" y="0"/>
                    <a:pt x="4964261" y="4310"/>
                    <a:pt x="4971933" y="11983"/>
                  </a:cubicBezTo>
                  <a:cubicBezTo>
                    <a:pt x="4979606" y="19655"/>
                    <a:pt x="4983916" y="30062"/>
                    <a:pt x="4983916" y="40912"/>
                  </a:cubicBezTo>
                  <a:lnTo>
                    <a:pt x="4983916" y="2777310"/>
                  </a:lnTo>
                  <a:cubicBezTo>
                    <a:pt x="4983916" y="2788161"/>
                    <a:pt x="4979606" y="2798567"/>
                    <a:pt x="4971933" y="2806239"/>
                  </a:cubicBezTo>
                  <a:cubicBezTo>
                    <a:pt x="4964261" y="2813912"/>
                    <a:pt x="4953855" y="2818222"/>
                    <a:pt x="4943004" y="2818222"/>
                  </a:cubicBezTo>
                  <a:lnTo>
                    <a:pt x="40912" y="2818222"/>
                  </a:lnTo>
                  <a:cubicBezTo>
                    <a:pt x="30062" y="2818222"/>
                    <a:pt x="19655" y="2813912"/>
                    <a:pt x="11983" y="2806239"/>
                  </a:cubicBezTo>
                  <a:cubicBezTo>
                    <a:pt x="4310" y="2798567"/>
                    <a:pt x="0" y="2788161"/>
                    <a:pt x="0" y="2777310"/>
                  </a:cubicBezTo>
                  <a:lnTo>
                    <a:pt x="0" y="40912"/>
                  </a:lnTo>
                  <a:cubicBezTo>
                    <a:pt x="0" y="30062"/>
                    <a:pt x="4310" y="19655"/>
                    <a:pt x="11983" y="11983"/>
                  </a:cubicBezTo>
                  <a:cubicBezTo>
                    <a:pt x="19655" y="4310"/>
                    <a:pt x="30062" y="0"/>
                    <a:pt x="40912" y="0"/>
                  </a:cubicBezTo>
                  <a:close/>
                </a:path>
              </a:pathLst>
            </a:custGeom>
            <a:solidFill>
              <a:srgbClr val="6B95E0"/>
            </a:solidFill>
            <a:ln cap="rnd">
              <a:noFill/>
              <a:prstDash val="solid"/>
              <a:round/>
            </a:ln>
          </p:spPr>
        </p:sp>
        <p:sp>
          <p:nvSpPr>
            <p:cNvPr name="TextBox 4" id="4"/>
            <p:cNvSpPr txBox="true"/>
            <p:nvPr/>
          </p:nvSpPr>
          <p:spPr>
            <a:xfrm>
              <a:off x="0" y="-47625"/>
              <a:ext cx="4983916" cy="286584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1710" y="357961"/>
            <a:ext cx="17869653" cy="9571077"/>
            <a:chOff x="0" y="0"/>
            <a:chExt cx="4706411" cy="2520778"/>
          </a:xfrm>
        </p:grpSpPr>
        <p:sp>
          <p:nvSpPr>
            <p:cNvPr name="Freeform 6" id="6"/>
            <p:cNvSpPr/>
            <p:nvPr/>
          </p:nvSpPr>
          <p:spPr>
            <a:xfrm flipH="false" flipV="false" rot="0">
              <a:off x="0" y="0"/>
              <a:ext cx="4706410" cy="2520778"/>
            </a:xfrm>
            <a:custGeom>
              <a:avLst/>
              <a:gdLst/>
              <a:ahLst/>
              <a:cxnLst/>
              <a:rect r="r" b="b" t="t" l="l"/>
              <a:pathLst>
                <a:path h="2520778" w="4706410">
                  <a:moveTo>
                    <a:pt x="43324" y="0"/>
                  </a:moveTo>
                  <a:lnTo>
                    <a:pt x="4663086" y="0"/>
                  </a:lnTo>
                  <a:cubicBezTo>
                    <a:pt x="4687014" y="0"/>
                    <a:pt x="4706410" y="19397"/>
                    <a:pt x="4706410" y="43324"/>
                  </a:cubicBezTo>
                  <a:lnTo>
                    <a:pt x="4706410" y="2477453"/>
                  </a:lnTo>
                  <a:cubicBezTo>
                    <a:pt x="4706410" y="2501380"/>
                    <a:pt x="4687014" y="2520778"/>
                    <a:pt x="4663086" y="2520778"/>
                  </a:cubicBezTo>
                  <a:lnTo>
                    <a:pt x="43324" y="2520778"/>
                  </a:lnTo>
                  <a:cubicBezTo>
                    <a:pt x="19397" y="2520778"/>
                    <a:pt x="0" y="2501380"/>
                    <a:pt x="0" y="2477453"/>
                  </a:cubicBezTo>
                  <a:lnTo>
                    <a:pt x="0" y="43324"/>
                  </a:lnTo>
                  <a:cubicBezTo>
                    <a:pt x="0" y="19397"/>
                    <a:pt x="19397" y="0"/>
                    <a:pt x="43324" y="0"/>
                  </a:cubicBezTo>
                  <a:close/>
                </a:path>
              </a:pathLst>
            </a:custGeom>
            <a:solidFill>
              <a:srgbClr val="FFFFFE"/>
            </a:solidFill>
            <a:ln cap="rnd">
              <a:noFill/>
              <a:prstDash val="solid"/>
              <a:round/>
            </a:ln>
          </p:spPr>
        </p:sp>
        <p:sp>
          <p:nvSpPr>
            <p:cNvPr name="TextBox 7" id="7"/>
            <p:cNvSpPr txBox="true"/>
            <p:nvPr/>
          </p:nvSpPr>
          <p:spPr>
            <a:xfrm>
              <a:off x="0" y="-47625"/>
              <a:ext cx="4706411" cy="2568403"/>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688840" y="952500"/>
            <a:ext cx="2031504" cy="595033"/>
          </a:xfrm>
          <a:prstGeom prst="rect">
            <a:avLst/>
          </a:prstGeom>
        </p:spPr>
        <p:txBody>
          <a:bodyPr anchor="t" rtlCol="false" tIns="0" lIns="0" bIns="0" rIns="0">
            <a:spAutoFit/>
          </a:bodyPr>
          <a:lstStyle/>
          <a:p>
            <a:pPr algn="ctr">
              <a:lnSpc>
                <a:spcPts val="4696"/>
              </a:lnSpc>
              <a:spcBef>
                <a:spcPct val="0"/>
              </a:spcBef>
            </a:pPr>
            <a:r>
              <a:rPr lang="en-US" b="true" sz="3443" u="sng">
                <a:solidFill>
                  <a:srgbClr val="000000"/>
                </a:solidFill>
                <a:latin typeface="Times New Roman Bold"/>
                <a:ea typeface="Times New Roman Bold"/>
                <a:cs typeface="Times New Roman Bold"/>
                <a:sym typeface="Times New Roman Bold"/>
              </a:rPr>
              <a:t>References</a:t>
            </a:r>
          </a:p>
        </p:txBody>
      </p:sp>
      <p:sp>
        <p:nvSpPr>
          <p:cNvPr name="TextBox 9" id="9"/>
          <p:cNvSpPr txBox="true"/>
          <p:nvPr/>
        </p:nvSpPr>
        <p:spPr>
          <a:xfrm rot="0">
            <a:off x="585745" y="1843708"/>
            <a:ext cx="16673555" cy="4260659"/>
          </a:xfrm>
          <a:prstGeom prst="rect">
            <a:avLst/>
          </a:prstGeom>
        </p:spPr>
        <p:txBody>
          <a:bodyPr anchor="t" rtlCol="false" tIns="0" lIns="0" bIns="0" rIns="0">
            <a:spAutoFit/>
          </a:bodyPr>
          <a:lstStyle/>
          <a:p>
            <a:pPr algn="just">
              <a:lnSpc>
                <a:spcPts val="3059"/>
              </a:lnSpc>
              <a:spcBef>
                <a:spcPct val="0"/>
              </a:spcBef>
            </a:pPr>
            <a:r>
              <a:rPr lang="en-US" b="true" sz="2243">
                <a:solidFill>
                  <a:srgbClr val="000000"/>
                </a:solidFill>
                <a:latin typeface="Arial Bold"/>
                <a:ea typeface="Arial Bold"/>
                <a:cs typeface="Arial Bold"/>
                <a:sym typeface="Arial Bold"/>
              </a:rPr>
              <a:t>C</a:t>
            </a:r>
            <a:r>
              <a:rPr lang="en-US" b="true" sz="2243">
                <a:solidFill>
                  <a:srgbClr val="000000"/>
                </a:solidFill>
                <a:latin typeface="Arial Bold"/>
                <a:ea typeface="Arial Bold"/>
                <a:cs typeface="Arial Bold"/>
                <a:sym typeface="Arial Bold"/>
              </a:rPr>
              <a:t>ore Literature</a:t>
            </a:r>
          </a:p>
          <a:p>
            <a:pPr algn="l">
              <a:lnSpc>
                <a:spcPts val="2787"/>
              </a:lnSpc>
            </a:pPr>
            <a:r>
              <a:rPr lang="en-US" b="true" sz="2043">
                <a:solidFill>
                  <a:srgbClr val="000000"/>
                </a:solidFill>
                <a:latin typeface="Arial Bold"/>
                <a:ea typeface="Arial Bold"/>
                <a:cs typeface="Arial Bold"/>
                <a:sym typeface="Arial Bold"/>
              </a:rPr>
              <a:t>     [1]  </a:t>
            </a:r>
            <a:r>
              <a:rPr lang="en-US" sz="2043">
                <a:solidFill>
                  <a:srgbClr val="000000"/>
                </a:solidFill>
                <a:latin typeface="Arial"/>
                <a:ea typeface="Arial"/>
                <a:cs typeface="Arial"/>
                <a:sym typeface="Arial"/>
              </a:rPr>
              <a:t>Andini, A., &amp; Utomo, P. (2021). Climate Prediction Using RNN LSTM to Estimate Agricultural Products Based on Koppen </a:t>
            </a:r>
          </a:p>
          <a:p>
            <a:pPr algn="l">
              <a:lnSpc>
                <a:spcPts val="2787"/>
              </a:lnSpc>
            </a:pPr>
            <a:r>
              <a:rPr lang="en-US" sz="2043">
                <a:solidFill>
                  <a:srgbClr val="000000"/>
                </a:solidFill>
                <a:latin typeface="Arial"/>
                <a:ea typeface="Arial"/>
                <a:cs typeface="Arial"/>
                <a:sym typeface="Arial"/>
              </a:rPr>
              <a:t>             C</a:t>
            </a:r>
            <a:r>
              <a:rPr lang="en-US" sz="2043">
                <a:solidFill>
                  <a:srgbClr val="000000"/>
                </a:solidFill>
                <a:latin typeface="Arial"/>
                <a:ea typeface="Arial"/>
                <a:cs typeface="Arial"/>
                <a:sym typeface="Arial"/>
              </a:rPr>
              <a:t>lassification. </a:t>
            </a:r>
            <a:r>
              <a:rPr lang="en-US" sz="2043" i="true">
                <a:solidFill>
                  <a:srgbClr val="000000"/>
                </a:solidFill>
                <a:latin typeface="Arial Italics"/>
                <a:ea typeface="Arial Italics"/>
                <a:cs typeface="Arial Italics"/>
                <a:sym typeface="Arial Italics"/>
              </a:rPr>
              <a:t>Journal of Physics: Conference Series.</a:t>
            </a:r>
          </a:p>
          <a:p>
            <a:pPr algn="just">
              <a:lnSpc>
                <a:spcPts val="2787"/>
              </a:lnSpc>
            </a:pPr>
            <a:r>
              <a:rPr lang="en-US" sz="2043">
                <a:solidFill>
                  <a:srgbClr val="000000"/>
                </a:solidFill>
                <a:latin typeface="Arial"/>
                <a:ea typeface="Arial"/>
                <a:cs typeface="Arial"/>
                <a:sym typeface="Arial"/>
              </a:rPr>
              <a:t>     </a:t>
            </a:r>
            <a:r>
              <a:rPr lang="en-US" b="true" sz="2043">
                <a:solidFill>
                  <a:srgbClr val="000000"/>
                </a:solidFill>
                <a:latin typeface="Arial Bold"/>
                <a:ea typeface="Arial Bold"/>
                <a:cs typeface="Arial Bold"/>
                <a:sym typeface="Arial Bold"/>
              </a:rPr>
              <a:t>[2]</a:t>
            </a:r>
            <a:r>
              <a:rPr lang="en-US" sz="2043">
                <a:solidFill>
                  <a:srgbClr val="000000"/>
                </a:solidFill>
                <a:latin typeface="Arial"/>
                <a:ea typeface="Arial"/>
                <a:cs typeface="Arial"/>
                <a:sym typeface="Arial"/>
              </a:rPr>
              <a:t>  </a:t>
            </a:r>
            <a:r>
              <a:rPr lang="en-US" sz="2043">
                <a:solidFill>
                  <a:srgbClr val="000000"/>
                </a:solidFill>
                <a:latin typeface="Arial"/>
                <a:ea typeface="Arial"/>
                <a:cs typeface="Arial"/>
                <a:sym typeface="Arial"/>
              </a:rPr>
              <a:t>Arya, S., et al. (2026). A Time-Series Hybrid Multi-Model Machine Learning Framework for Staple Crops Yield Prediction. </a:t>
            </a:r>
            <a:r>
              <a:rPr lang="en-US" sz="2043" i="true">
                <a:solidFill>
                  <a:srgbClr val="000000"/>
                </a:solidFill>
                <a:latin typeface="Arial Italics"/>
                <a:ea typeface="Arial Italics"/>
                <a:cs typeface="Arial Italics"/>
                <a:sym typeface="Arial Italics"/>
              </a:rPr>
              <a:t>Expert </a:t>
            </a:r>
          </a:p>
          <a:p>
            <a:pPr algn="just">
              <a:lnSpc>
                <a:spcPts val="2787"/>
              </a:lnSpc>
            </a:pPr>
            <a:r>
              <a:rPr lang="en-US" sz="2043" i="true">
                <a:solidFill>
                  <a:srgbClr val="000000"/>
                </a:solidFill>
                <a:latin typeface="Arial Italics"/>
                <a:ea typeface="Arial Italics"/>
                <a:cs typeface="Arial Italics"/>
                <a:sym typeface="Arial Italics"/>
              </a:rPr>
              <a:t>            Systems with Applications.</a:t>
            </a:r>
          </a:p>
          <a:p>
            <a:pPr algn="just">
              <a:lnSpc>
                <a:spcPts val="2787"/>
              </a:lnSpc>
            </a:pPr>
            <a:r>
              <a:rPr lang="en-US" sz="2043">
                <a:solidFill>
                  <a:srgbClr val="000000"/>
                </a:solidFill>
                <a:latin typeface="Arial"/>
                <a:ea typeface="Arial"/>
                <a:cs typeface="Arial"/>
                <a:sym typeface="Arial"/>
              </a:rPr>
              <a:t>  </a:t>
            </a:r>
            <a:r>
              <a:rPr lang="en-US" b="true" sz="2043">
                <a:solidFill>
                  <a:srgbClr val="000000"/>
                </a:solidFill>
                <a:latin typeface="Arial Bold"/>
                <a:ea typeface="Arial Bold"/>
                <a:cs typeface="Arial Bold"/>
                <a:sym typeface="Arial Bold"/>
              </a:rPr>
              <a:t>   [3]</a:t>
            </a:r>
            <a:r>
              <a:rPr lang="en-US" sz="2043">
                <a:solidFill>
                  <a:srgbClr val="000000"/>
                </a:solidFill>
                <a:latin typeface="Arial"/>
                <a:ea typeface="Arial"/>
                <a:cs typeface="Arial"/>
                <a:sym typeface="Arial"/>
              </a:rPr>
              <a:t>  </a:t>
            </a:r>
            <a:r>
              <a:rPr lang="en-US" sz="2043">
                <a:solidFill>
                  <a:srgbClr val="000000"/>
                </a:solidFill>
                <a:latin typeface="Arial"/>
                <a:ea typeface="Arial"/>
                <a:cs typeface="Arial"/>
                <a:sym typeface="Arial"/>
              </a:rPr>
              <a:t>Kenneth, O. (2026). Digital Twin‐Based Uncertain Weather Condition Monitoring for Enhanced Crop Yield Prediction. </a:t>
            </a:r>
            <a:r>
              <a:rPr lang="en-US" sz="2043" i="true">
                <a:solidFill>
                  <a:srgbClr val="000000"/>
                </a:solidFill>
                <a:latin typeface="Arial Italics"/>
                <a:ea typeface="Arial Italics"/>
                <a:cs typeface="Arial Italics"/>
                <a:sym typeface="Arial Italics"/>
              </a:rPr>
              <a:t>Meteorological</a:t>
            </a:r>
          </a:p>
          <a:p>
            <a:pPr algn="just">
              <a:lnSpc>
                <a:spcPts val="2787"/>
              </a:lnSpc>
            </a:pPr>
            <a:r>
              <a:rPr lang="en-US" sz="2043" i="true">
                <a:solidFill>
                  <a:srgbClr val="000000"/>
                </a:solidFill>
                <a:latin typeface="Arial Italics"/>
                <a:ea typeface="Arial Italics"/>
                <a:cs typeface="Arial Italics"/>
                <a:sym typeface="Arial Italics"/>
              </a:rPr>
              <a:t>           Applications.</a:t>
            </a:r>
          </a:p>
          <a:p>
            <a:pPr algn="just">
              <a:lnSpc>
                <a:spcPts val="2787"/>
              </a:lnSpc>
            </a:pPr>
            <a:r>
              <a:rPr lang="en-US" sz="2043">
                <a:solidFill>
                  <a:srgbClr val="000000"/>
                </a:solidFill>
                <a:latin typeface="Arial"/>
                <a:ea typeface="Arial"/>
                <a:cs typeface="Arial"/>
                <a:sym typeface="Arial"/>
              </a:rPr>
              <a:t>     </a:t>
            </a:r>
            <a:r>
              <a:rPr lang="en-US" b="true" sz="2043">
                <a:solidFill>
                  <a:srgbClr val="000000"/>
                </a:solidFill>
                <a:latin typeface="Arial Bold"/>
                <a:ea typeface="Arial Bold"/>
                <a:cs typeface="Arial Bold"/>
                <a:sym typeface="Arial Bold"/>
              </a:rPr>
              <a:t>[4]</a:t>
            </a:r>
            <a:r>
              <a:rPr lang="en-US" sz="2043">
                <a:solidFill>
                  <a:srgbClr val="000000"/>
                </a:solidFill>
                <a:latin typeface="Arial"/>
                <a:ea typeface="Arial"/>
                <a:cs typeface="Arial"/>
                <a:sym typeface="Arial"/>
              </a:rPr>
              <a:t>  </a:t>
            </a:r>
            <a:r>
              <a:rPr lang="en-US" sz="2043">
                <a:solidFill>
                  <a:srgbClr val="000000"/>
                </a:solidFill>
                <a:latin typeface="Arial"/>
                <a:ea typeface="Arial"/>
                <a:cs typeface="Arial"/>
                <a:sym typeface="Arial"/>
              </a:rPr>
              <a:t>Yan, J., et al. (2025). Crop Yield Time-Series Data Prediction Based on Multiple Hybrid Machine Learning Models. </a:t>
            </a:r>
            <a:r>
              <a:rPr lang="en-US" sz="2043" i="true">
                <a:solidFill>
                  <a:srgbClr val="000000"/>
                </a:solidFill>
                <a:latin typeface="Arial Italics"/>
                <a:ea typeface="Arial Italics"/>
                <a:cs typeface="Arial Italics"/>
                <a:sym typeface="Arial Italics"/>
              </a:rPr>
              <a:t>Computers and </a:t>
            </a:r>
          </a:p>
          <a:p>
            <a:pPr algn="just">
              <a:lnSpc>
                <a:spcPts val="2787"/>
              </a:lnSpc>
            </a:pPr>
            <a:r>
              <a:rPr lang="en-US" sz="2043" i="true">
                <a:solidFill>
                  <a:srgbClr val="000000"/>
                </a:solidFill>
                <a:latin typeface="Arial Italics"/>
                <a:ea typeface="Arial Italics"/>
                <a:cs typeface="Arial Italics"/>
                <a:sym typeface="Arial Italics"/>
              </a:rPr>
              <a:t>            Electronics in Agriculture.</a:t>
            </a:r>
          </a:p>
          <a:p>
            <a:pPr algn="just">
              <a:lnSpc>
                <a:spcPts val="2787"/>
              </a:lnSpc>
            </a:pPr>
            <a:r>
              <a:rPr lang="en-US" sz="2043">
                <a:solidFill>
                  <a:srgbClr val="000000"/>
                </a:solidFill>
                <a:latin typeface="Arial"/>
                <a:ea typeface="Arial"/>
                <a:cs typeface="Arial"/>
                <a:sym typeface="Arial"/>
              </a:rPr>
              <a:t>     </a:t>
            </a:r>
            <a:r>
              <a:rPr lang="en-US" b="true" sz="2043">
                <a:solidFill>
                  <a:srgbClr val="000000"/>
                </a:solidFill>
                <a:latin typeface="Arial Bold"/>
                <a:ea typeface="Arial Bold"/>
                <a:cs typeface="Arial Bold"/>
                <a:sym typeface="Arial Bold"/>
              </a:rPr>
              <a:t>[5]  </a:t>
            </a:r>
            <a:r>
              <a:rPr lang="en-US" sz="2043">
                <a:solidFill>
                  <a:srgbClr val="000000"/>
                </a:solidFill>
                <a:latin typeface="Arial"/>
                <a:ea typeface="Arial"/>
                <a:cs typeface="Arial"/>
                <a:sym typeface="Arial"/>
              </a:rPr>
              <a:t>Sayan Banerjee∗, Aniruddha Mukherjee∗, Suket Kamboj </a:t>
            </a:r>
            <a:r>
              <a:rPr lang="en-US" sz="2043">
                <a:solidFill>
                  <a:srgbClr val="000000"/>
                </a:solidFill>
                <a:latin typeface="Arial"/>
                <a:ea typeface="Arial"/>
                <a:cs typeface="Arial"/>
                <a:sym typeface="Arial"/>
              </a:rPr>
              <a:t>. (2024). Integrating Digital-Twins and Advanced Crop Recommendation</a:t>
            </a:r>
          </a:p>
          <a:p>
            <a:pPr algn="just">
              <a:lnSpc>
                <a:spcPts val="2787"/>
              </a:lnSpc>
            </a:pPr>
            <a:r>
              <a:rPr lang="en-US" sz="2043">
                <a:solidFill>
                  <a:srgbClr val="000000"/>
                </a:solidFill>
                <a:latin typeface="Arial"/>
                <a:ea typeface="Arial"/>
                <a:cs typeface="Arial"/>
                <a:sym typeface="Arial"/>
              </a:rPr>
              <a:t>            Agricultural Systems.</a:t>
            </a:r>
          </a:p>
          <a:p>
            <a:pPr algn="just">
              <a:lnSpc>
                <a:spcPts val="2787"/>
              </a:lnSpc>
              <a:spcBef>
                <a:spcPct val="0"/>
              </a:spcBef>
            </a:pPr>
          </a:p>
        </p:txBody>
      </p:sp>
      <p:sp>
        <p:nvSpPr>
          <p:cNvPr name="TextBox 10" id="10"/>
          <p:cNvSpPr txBox="true"/>
          <p:nvPr/>
        </p:nvSpPr>
        <p:spPr>
          <a:xfrm rot="0">
            <a:off x="585745" y="5944023"/>
            <a:ext cx="16673555" cy="2110092"/>
          </a:xfrm>
          <a:prstGeom prst="rect">
            <a:avLst/>
          </a:prstGeom>
        </p:spPr>
        <p:txBody>
          <a:bodyPr anchor="t" rtlCol="false" tIns="0" lIns="0" bIns="0" rIns="0">
            <a:spAutoFit/>
          </a:bodyPr>
          <a:lstStyle/>
          <a:p>
            <a:pPr algn="l">
              <a:lnSpc>
                <a:spcPts val="2787"/>
              </a:lnSpc>
              <a:spcBef>
                <a:spcPct val="0"/>
              </a:spcBef>
            </a:pPr>
            <a:r>
              <a:rPr lang="en-US" b="true" sz="2043">
                <a:solidFill>
                  <a:srgbClr val="000000"/>
                </a:solidFill>
                <a:latin typeface="Arial Bold"/>
                <a:ea typeface="Arial Bold"/>
                <a:cs typeface="Arial Bold"/>
                <a:sym typeface="Arial Bold"/>
              </a:rPr>
              <a:t>Methodol</a:t>
            </a:r>
            <a:r>
              <a:rPr lang="en-US" b="true" sz="2043">
                <a:solidFill>
                  <a:srgbClr val="000000"/>
                </a:solidFill>
                <a:latin typeface="Arial Bold"/>
                <a:ea typeface="Arial Bold"/>
                <a:cs typeface="Arial Bold"/>
                <a:sym typeface="Arial Bold"/>
              </a:rPr>
              <a:t>ogical &amp; Technical References</a:t>
            </a:r>
          </a:p>
          <a:p>
            <a:pPr algn="l">
              <a:lnSpc>
                <a:spcPts val="2787"/>
              </a:lnSpc>
              <a:spcBef>
                <a:spcPct val="0"/>
              </a:spcBef>
            </a:pPr>
            <a:r>
              <a:rPr lang="en-US" b="true" sz="2043">
                <a:solidFill>
                  <a:srgbClr val="000000"/>
                </a:solidFill>
                <a:latin typeface="Arial Bold"/>
                <a:ea typeface="Arial Bold"/>
                <a:cs typeface="Arial Bold"/>
                <a:sym typeface="Arial Bold"/>
              </a:rPr>
              <a:t>    [1]  </a:t>
            </a:r>
            <a:r>
              <a:rPr lang="en-US" sz="2043">
                <a:solidFill>
                  <a:srgbClr val="000000"/>
                </a:solidFill>
                <a:latin typeface="Arial"/>
                <a:ea typeface="Arial"/>
                <a:cs typeface="Arial"/>
                <a:sym typeface="Arial"/>
              </a:rPr>
              <a:t>NASA POWER. (2026). Prediction of Worldwide Energy Resources (POWER) Agroclimatology Data Access Viewer &amp; API</a:t>
            </a:r>
          </a:p>
          <a:p>
            <a:pPr algn="l">
              <a:lnSpc>
                <a:spcPts val="2787"/>
              </a:lnSpc>
            </a:pPr>
            <a:r>
              <a:rPr lang="en-US" sz="2043">
                <a:solidFill>
                  <a:srgbClr val="000000"/>
                </a:solidFill>
                <a:latin typeface="Arial"/>
                <a:ea typeface="Arial"/>
                <a:cs typeface="Arial"/>
                <a:sym typeface="Arial"/>
              </a:rPr>
              <a:t>           Documentation. </a:t>
            </a:r>
            <a:r>
              <a:rPr lang="en-US" sz="2043" i="true">
                <a:solidFill>
                  <a:srgbClr val="000000"/>
                </a:solidFill>
                <a:latin typeface="Arial Italics"/>
                <a:ea typeface="Arial Italics"/>
                <a:cs typeface="Arial Italics"/>
                <a:sym typeface="Arial Italics"/>
              </a:rPr>
              <a:t>NASA Langley Research Center.</a:t>
            </a:r>
          </a:p>
          <a:p>
            <a:pPr algn="just">
              <a:lnSpc>
                <a:spcPts val="2787"/>
              </a:lnSpc>
            </a:pPr>
            <a:r>
              <a:rPr lang="en-US" sz="2043">
                <a:solidFill>
                  <a:srgbClr val="000000"/>
                </a:solidFill>
                <a:latin typeface="Arial"/>
                <a:ea typeface="Arial"/>
                <a:cs typeface="Arial"/>
                <a:sym typeface="Arial"/>
              </a:rPr>
              <a:t>    </a:t>
            </a:r>
            <a:r>
              <a:rPr lang="en-US" b="true" sz="2043">
                <a:solidFill>
                  <a:srgbClr val="000000"/>
                </a:solidFill>
                <a:latin typeface="Arial Bold"/>
                <a:ea typeface="Arial Bold"/>
                <a:cs typeface="Arial Bold"/>
                <a:sym typeface="Arial Bold"/>
              </a:rPr>
              <a:t>[2] </a:t>
            </a:r>
            <a:r>
              <a:rPr lang="en-US" sz="2043">
                <a:solidFill>
                  <a:srgbClr val="000000"/>
                </a:solidFill>
                <a:latin typeface="Arial"/>
                <a:ea typeface="Arial"/>
                <a:cs typeface="Arial"/>
                <a:sym typeface="Arial"/>
              </a:rPr>
              <a:t> Odisha Department of Agriculture &amp; Farmers' Empowerment (UPAg). Historical District-Wise Crop Production Statistics (1997–2025). </a:t>
            </a:r>
          </a:p>
          <a:p>
            <a:pPr algn="just">
              <a:lnSpc>
                <a:spcPts val="2787"/>
              </a:lnSpc>
            </a:pPr>
            <a:r>
              <a:rPr lang="en-US" sz="2043">
                <a:solidFill>
                  <a:srgbClr val="000000"/>
                </a:solidFill>
                <a:latin typeface="Arial"/>
                <a:ea typeface="Arial"/>
                <a:cs typeface="Arial"/>
                <a:sym typeface="Arial"/>
              </a:rPr>
              <a:t>        </a:t>
            </a:r>
            <a:r>
              <a:rPr lang="en-US" sz="2043" i="true">
                <a:solidFill>
                  <a:srgbClr val="000000"/>
                </a:solidFill>
                <a:latin typeface="Arial Italics"/>
                <a:ea typeface="Arial Italics"/>
                <a:cs typeface="Arial Italics"/>
                <a:sym typeface="Arial Italics"/>
              </a:rPr>
              <a:t>  Government </a:t>
            </a:r>
            <a:r>
              <a:rPr lang="en-US" sz="2043" i="true">
                <a:solidFill>
                  <a:srgbClr val="000000"/>
                </a:solidFill>
                <a:latin typeface="Arial Italics"/>
                <a:ea typeface="Arial Italics"/>
                <a:cs typeface="Arial Italics"/>
                <a:sym typeface="Arial Italics"/>
              </a:rPr>
              <a:t>of Odisha.</a:t>
            </a:r>
            <a:r>
              <a:rPr lang="en-US" sz="2043">
                <a:solidFill>
                  <a:srgbClr val="000000"/>
                </a:solidFill>
                <a:latin typeface="Arial"/>
                <a:ea typeface="Arial"/>
                <a:cs typeface="Arial"/>
                <a:sym typeface="Arial"/>
              </a:rPr>
              <a:t>  </a:t>
            </a:r>
          </a:p>
          <a:p>
            <a:pPr algn="just">
              <a:lnSpc>
                <a:spcPts val="2787"/>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DAHM5pIjacE</dc:identifier>
  <dcterms:modified xsi:type="dcterms:W3CDTF">2011-08-01T06:04:30Z</dcterms:modified>
  <cp:revision>1</cp:revision>
  <dc:title>Strategies</dc:title>
</cp:coreProperties>
</file>