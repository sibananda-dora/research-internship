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926080"/>
            <a:ext cx="12161520" cy="73152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Smart Agriculture: A Cognitive Digital Twin</a:t>
            </a:r>
            <a:br/>
            <a:r>
              <a:t>for Crop Yield and Climate-Induced</a:t>
            </a:r>
            <a:br/>
            <a:r>
              <a:t>Failure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E5FF"/>
                </a:solidFill>
                <a:latin typeface="Calibri"/>
              </a:defRPr>
            </a:pPr>
            <a:r>
              <a:t>Progress Review Meeting — 2  | 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CC"/>
                </a:solidFill>
                <a:latin typeface="Calibri"/>
              </a:defRPr>
            </a:pPr>
            <a:r>
              <a:t>Faculty Mentors:</a:t>
            </a:r>
            <a:br/>
            <a:r>
              <a:t>Dr. Niranjan Panigrahi</a:t>
            </a:r>
            <a:br/>
            <a:r>
              <a:t>Dr. Sasmita Rani Behera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CC"/>
                </a:solidFill>
                <a:latin typeface="Calibri"/>
              </a:defRPr>
            </a:pPr>
            <a:r>
              <a:t>Group Members:</a:t>
            </a:r>
            <a:br/>
            <a:r>
              <a:t>[Member 1]  |  [Member 2]  |  [Member 3]</a:t>
            </a:r>
            <a:br/>
            <a:r>
              <a:t>[Member 4]  |  [Member 5]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008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Compliances to First Meeting Comments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DFF"/>
                </a:solidFill>
                <a:latin typeface="Calibri"/>
              </a:defRPr>
            </a:pPr>
            <a:r>
              <a:t>What was planned in Meeting 1 vs what has actually been built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103120"/>
                <a:gridCol w="502920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Meeting 1 Plan / Comment</a:t>
                      </a:r>
                    </a:p>
                  </a:txBody>
                  <a:tcPr anchor="ctr" marL="76200" marR="76200" marT="38100" marB="38100">
                    <a:solidFill>
                      <a:srgbClr val="0085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 marL="76200" marR="76200" marT="38100" marB="38100">
                    <a:solidFill>
                      <a:srgbClr val="0085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Details</a:t>
                      </a:r>
                    </a:p>
                  </a:txBody>
                  <a:tcPr anchor="ctr" marL="76200" marR="76200" marT="38100" marB="38100">
                    <a:solidFill>
                      <a:srgbClr val="00859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Dual-Track ML Engine (RF+XGB+LSTM)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Built &amp; Deployed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Stacked: Yield R² 0.736 / Failure AUC 0.814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Data Harmonization Pipeline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Completed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1,113 rows, 0 interpolated, Q₁ thresholds per district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Model Interpretability (Attention→Triggers)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Working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LSTM attention → 4 biophysical triggers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What-If Simulation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Built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MC Dropout (500 samples) + telemetry sliders + FeedbackLoop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LLM Chatbot (planned LangGraph agent)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Deployed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Groq llama-3.3-70b via POST /api/ask + DSSChat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Real-Time Digital Twin (t→t+dt streaming)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New Addition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MQTT + 84-day sliding window + WebSocket bridge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Tech Stack (Next.js + LangChain per P1)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⚠️ Changed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React 19 + Vite 8 + Custom DAG Orchestrator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RF + XGBoost ensemble planned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⚠️ Simplified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RF dropped — XGBoost alone (R² 0.736) outperforms RF (0.62)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LangGraph for routing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⚠️ Replaced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Custom DAG orchestrator — lighter, 5 fixed query types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008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Planning, Analysis &amp; Design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DFF"/>
                </a:solidFill>
                <a:latin typeface="Calibri"/>
              </a:defRPr>
            </a:pPr>
            <a:r>
              <a:t>4-Layer Cognitive Digital Twin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743200" cy="1828800"/>
          </a:xfrm>
          <a:prstGeom prst="roundRect">
            <a:avLst/>
          </a:prstGeom>
          <a:solidFill>
            <a:srgbClr val="008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Layer 1: Physical 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EEFF"/>
                </a:solidFill>
                <a:latin typeface="Calibri"/>
              </a:defRPr>
            </a:pPr>
            <a:r>
              <a:t>30 Odisha Districts</a:t>
            </a:r>
            <a:br/>
            <a:r>
              <a:t>Farmers &amp; Agronomy</a:t>
            </a:r>
            <a:br/>
            <a:r>
              <a:t>Climate System (NASA POWER)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743200" cy="1828800"/>
          </a:xfrm>
          <a:prstGeom prst="roundRect">
            <a:avLst/>
          </a:prstGeom>
          <a:solidFill>
            <a:srgbClr val="009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Layer 2: Data 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9659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EEFF"/>
                </a:solidFill>
                <a:latin typeface="Calibri"/>
              </a:defRPr>
            </a:pPr>
            <a:r>
              <a:t>Govt Yield CSVs → Data Harmonization</a:t>
            </a:r>
            <a:br/>
            <a:r>
              <a:t>NASA POWER API → Telemetry Cache</a:t>
            </a:r>
            <a:br/>
            <a:r>
              <a:t>MQTT Broker ← VirtualSensor replay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2743200" cy="1828800"/>
          </a:xfrm>
          <a:prstGeom prst="roundRect">
            <a:avLst/>
          </a:prstGeom>
          <a:solidFill>
            <a:srgbClr val="7B4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Layer 3: Cognitive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EEFF"/>
                </a:solidFill>
                <a:latin typeface="Calibri"/>
              </a:defRPr>
            </a:pPr>
            <a:r>
              <a:t>LSTM + Attention (84-step)</a:t>
            </a:r>
            <a:br/>
            <a:r>
              <a:t>XGBoost (23 features)</a:t>
            </a:r>
            <a:br/>
            <a:r>
              <a:t>Stacking Meta-Learner + Biophysical Triggers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463040"/>
            <a:ext cx="2743200" cy="1828800"/>
          </a:xfrm>
          <a:prstGeom prst="round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Layer 4: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9659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EEFF"/>
                </a:solidFill>
                <a:latin typeface="Calibri"/>
              </a:defRPr>
            </a:pPr>
            <a:r>
              <a:t>FastAPI Backend + WebSocket</a:t>
            </a:r>
            <a:br/>
            <a:r>
              <a:t>React 19 Dashboard + Groq LLM</a:t>
            </a:r>
            <a:br/>
            <a:r>
              <a:t>GIS Map, Live Twin, What-If, DSSChat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  <a:latin typeface="Calibri"/>
              </a:defRPr>
            </a:pPr>
            <a:r>
              <a:t>Research Gaps Addressed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39319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132320"/>
              </a:tblGrid>
              <a:tr h="51206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 anchor="ctr" marL="76200" marR="76200" marT="38100" marB="38100">
                    <a:solidFill>
                      <a:srgbClr val="0085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Solution</a:t>
                      </a:r>
                    </a:p>
                  </a:txBody>
                  <a:tcPr anchor="ctr" marL="76200" marR="76200" marT="38100" marB="38100">
                    <a:solidFill>
                      <a:srgbClr val="00859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Labeling Gap — Existing work predicts yield volume only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Binary failure classification via Q₁ thresholds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Explainability Gap — Deep learning is a black box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Attention → biophysical triggers mapping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Macro→Micro Gap — No local sensors for smallholders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District-stratified NASA POWER → field-level risk proxies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Real-Time Gap — Batch systems lack live feedback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MQTT streaming + 84-day state buffer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008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Models &amp;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DFF"/>
                </a:solidFill>
                <a:latin typeface="Calibri"/>
              </a:defRPr>
            </a:pPr>
            <a:r>
              <a:t>LSTM + Attention  |  XGBoost  |  Stacked Ensemble  |  Masked Autoencoder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18872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 marL="76200" marR="76200" marT="38100" marB="38100">
                    <a:solidFill>
                      <a:srgbClr val="0085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LSTM</a:t>
                      </a:r>
                    </a:p>
                  </a:txBody>
                  <a:tcPr anchor="ctr" marL="76200" marR="76200" marT="38100" marB="38100">
                    <a:solidFill>
                      <a:srgbClr val="0085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 anchor="ctr" marL="76200" marR="76200" marT="38100" marB="38100">
                    <a:solidFill>
                      <a:srgbClr val="0085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Stacked Ensemble</a:t>
                      </a:r>
                    </a:p>
                  </a:txBody>
                  <a:tcPr anchor="ctr" marL="76200" marR="76200" marT="38100" marB="38100">
                    <a:solidFill>
                      <a:srgbClr val="00859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Yield R²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0.636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0.736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0.736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Failure AUC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0.782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0.801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0.814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3716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73736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 anchor="ctr" marL="76200" marR="76200" marT="38100" marB="38100">
                    <a:solidFill>
                      <a:srgbClr val="0085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LSTM Weight</a:t>
                      </a:r>
                    </a:p>
                  </a:txBody>
                  <a:tcPr anchor="ctr" marL="76200" marR="76200" marT="38100" marB="38100">
                    <a:solidFill>
                      <a:srgbClr val="0085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XGBoost Weight</a:t>
                      </a:r>
                    </a:p>
                  </a:txBody>
                  <a:tcPr anchor="ctr" marL="76200" marR="76200" marT="38100" marB="38100">
                    <a:solidFill>
                      <a:srgbClr val="00859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Yield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0.2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0.8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Failure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0.68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0.32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5760" y="3291840"/>
            <a:ext cx="2194560" cy="329184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3291840"/>
            <a:ext cx="2194560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5FF"/>
                </a:solidFill>
                <a:latin typeface="Calibri"/>
              </a:defRPr>
            </a:pPr>
            <a:r>
              <a:t>Algo 1: Data Ingestion &amp; Harmonization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Step 1 — Extract 84-day window per (dist, year, season)</a:t>
            </a:r>
            <a:br/>
            <a:r>
              <a:t>  Kharif: Jun 15 | Rabi: Nov 1</a:t>
            </a:r>
            <a:br/>
            <a:r>
              <a:t>Step 2 — Aggregate daily → 12 weekly means (4 vars)</a:t>
            </a:r>
            <a:br/>
            <a:r>
              <a:t>Step 3 — Assemble static: [d_idx, s_hot[0], s_hot[1], yr-2006]</a:t>
            </a:r>
            <a:br/>
            <a:r>
              <a:t>Step 4 — Compute Q₁ per district×season:</a:t>
            </a:r>
            <a:br/>
            <a:r>
              <a:t>  Q₁ = P25(Yield) → failure = yield &lt; Q₁</a:t>
            </a:r>
            <a:br/>
            <a:r>
              <a:t>Step 5 — Engineer 23 XGBoost features:</a:t>
            </a:r>
            <a:br/>
            <a:r>
              <a:t>  [4 vars × 4 stats] + critical window + VPD + meta</a:t>
            </a:r>
            <a:br/>
            <a:r>
              <a:t>Step 6 — 80/10/10 random split → scale &amp; save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79" y="3291840"/>
            <a:ext cx="2194560" cy="329184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97479" y="3291840"/>
            <a:ext cx="2194560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19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5FF"/>
                </a:solidFill>
                <a:latin typeface="Calibri"/>
              </a:defRPr>
            </a:pPr>
            <a:r>
              <a:t>Algo 2: State Engine 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19" y="393192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MQTT → 84-day deque →</a:t>
            </a:r>
            <a:br/>
            <a:r>
              <a:t>Weekly aggregation →</a:t>
            </a:r>
            <a:br/>
            <a:r>
              <a:t>Inference → WebSocket</a:t>
            </a:r>
            <a:br/>
            <a:r>
              <a:t>Persistent digital twin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3291840"/>
            <a:ext cx="2194560" cy="329184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3291840"/>
            <a:ext cx="2194560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5FF"/>
                </a:solidFill>
                <a:latin typeface="Calibri"/>
              </a:defRPr>
            </a:pPr>
            <a:r>
              <a:t>Algo 3: DAG Orchestrator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93192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5 query types → 5 nodes</a:t>
            </a:r>
            <a:br/>
            <a:r>
              <a:t>Minimal compute path</a:t>
            </a:r>
            <a:br/>
            <a:r>
              <a:t>Stacked weights per route</a:t>
            </a:r>
            <a:br/>
            <a:r>
              <a:t>_trace metadata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19" y="3291840"/>
            <a:ext cx="2194560" cy="329184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19" y="3291840"/>
            <a:ext cx="2194560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59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5FF"/>
                </a:solidFill>
                <a:latin typeface="Calibri"/>
              </a:defRPr>
            </a:pPr>
            <a:r>
              <a:t>Algo 4: What-If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59" y="393192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Climate sliders → MC Dropout</a:t>
            </a:r>
            <a:br/>
            <a:r>
              <a:t>500 samples → CI</a:t>
            </a:r>
            <a:br/>
            <a:r>
              <a:t>Before/after comparison</a:t>
            </a:r>
            <a:br/>
            <a:r>
              <a:t>LLM-enriched explanation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3291840"/>
            <a:ext cx="2194560" cy="329184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92640" y="3291840"/>
            <a:ext cx="2194560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5FF"/>
                </a:solidFill>
                <a:latin typeface="Calibri"/>
              </a:defRPr>
            </a:pPr>
            <a:r>
              <a:t>Algo 5: Retraining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93192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Auto-fetch NASA telemetry</a:t>
            </a:r>
            <a:br/>
            <a:r>
              <a:t>Backup → Prepare → Train</a:t>
            </a:r>
            <a:br/>
            <a:r>
              <a:t>Hot-swap models</a:t>
            </a:r>
            <a:br/>
            <a:r>
              <a:t>Zero-downtime update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008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 /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DFF"/>
                </a:solidFill>
                <a:latin typeface="Calibri"/>
              </a:defRPr>
            </a:pPr>
            <a:r>
              <a:t>Codebase architecture, API endpoints, and demo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Calibri"/>
              </a:defRPr>
            </a:pPr>
            <a:r>
              <a:t>Research-Wiki/</a:t>
            </a:r>
            <a:br/>
            <a:r>
              <a:t>├── frontend/        React 19 + Vite 8</a:t>
            </a:r>
            <a:br/>
            <a:r>
              <a:t>│   ├── App.jsx         (855 lines, 11 components)</a:t>
            </a:r>
            <a:br/>
            <a:r>
              <a:t>│   ├── components/     11 lazy-loaded</a:t>
            </a:r>
            <a:br/>
            <a:r>
              <a:t>│   │   ├── OdishaGISMap.jsx    Leaflet</a:t>
            </a:r>
            <a:br/>
            <a:r>
              <a:t>│   │   ├── LiveTwinSimulator   MQTT stream</a:t>
            </a:r>
            <a:br/>
            <a:r>
              <a:t>│   │   ├── DSSChat.jsx         Groq LLM</a:t>
            </a:r>
            <a:br/>
            <a:r>
              <a:t>│   │   ├── FeedbackLoop.jsx    What-If</a:t>
            </a:r>
            <a:br/>
            <a:r>
              <a:t>│   │   ├── ArchitectureFlow    4-layer trace</a:t>
            </a:r>
            <a:br/>
            <a:r>
              <a:t>│   │   └── Farmer/AnalystDashboard</a:t>
            </a:r>
            <a:br/>
            <a:r>
              <a:t>│   └── index.css      Dark glassmorphism</a:t>
            </a:r>
            <a:br/>
            <a:r>
              <a:t>│</a:t>
            </a:r>
            <a:br/>
            <a:r>
              <a:t>├── backend/         FastAPI + MQTT + WS</a:t>
            </a:r>
            <a:br/>
            <a:r>
              <a:t>│   ├── main.py         17 endpoints</a:t>
            </a:r>
            <a:br/>
            <a:r>
              <a:t>│   ├── llm_client.py   Groq integration</a:t>
            </a:r>
            <a:br/>
            <a:r>
              <a:t>│   ├── virtual_sensor.py  CSV→MQTT</a:t>
            </a:r>
            <a:br/>
            <a:r>
              <a:t>│   └── requirements.txt</a:t>
            </a:r>
            <a:br/>
            <a:r>
              <a:t>│</a:t>
            </a:r>
            <a:br/>
            <a:r>
              <a:t>└── code/phase-2-training/   Core ML</a:t>
            </a:r>
            <a:br/>
            <a:r>
              <a:t>    ├── prepare_data.py     Feature engineering</a:t>
            </a:r>
            <a:br/>
            <a:r>
              <a:t>    ├── train.py            LSTM+XGB+Stacking</a:t>
            </a:r>
            <a:br/>
            <a:r>
              <a:t>    ├── predict.py          Inference + MC</a:t>
            </a:r>
            <a:br/>
            <a:r>
              <a:t>    ├── orchestrator.py     DAG router</a:t>
            </a:r>
            <a:br/>
            <a:r>
              <a:t>    ├── update_pipeline.py  Auto-retrain</a:t>
            </a:r>
            <a:br/>
            <a:r>
              <a:t>    └── models/             7 weight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Calibri"/>
              </a:defRPr>
            </a:pPr>
            <a:r>
              <a:t>Key Backend Endpoints</a:t>
            </a:r>
            <a:br/>
            <a:br/>
            <a:r>
              <a:t>GET  /                        Health check</a:t>
            </a:r>
            <a:br/>
            <a:r>
              <a:t>GET  /api/districts           30 districts</a:t>
            </a:r>
            <a:br/>
            <a:r>
              <a:t>GET  /api/history/{d}/{s}     Yield history</a:t>
            </a:r>
            <a:br/>
            <a:r>
              <a:t>GET  /api/predict/{d}/{y}/{s}  Prediction</a:t>
            </a:r>
            <a:br/>
            <a:r>
              <a:t>POST /api/simulate            What-If scenario</a:t>
            </a:r>
            <a:br/>
            <a:r>
              <a:t>POST /api/predict/coordinate   Map click → prediction</a:t>
            </a:r>
            <a:br/>
            <a:r>
              <a:t>POST /api/ask                 Groq LLM query</a:t>
            </a:r>
            <a:br/>
            <a:r>
              <a:t>WS   /ws/farm-stream          Live telemetry stream</a:t>
            </a:r>
            <a:br/>
            <a:r>
              <a:t>POST /api/stream/toggle       Start/pause/stop</a:t>
            </a:r>
            <a:br/>
            <a:r>
              <a:t>GET  /api/pipeline/status     Retraining status</a:t>
            </a:r>
            <a:br/>
            <a:r>
              <a:t>POST /api/pipeline/update     Trigger retrain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008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DFF"/>
                </a:solidFill>
                <a:latin typeface="Calibri"/>
              </a:defRPr>
            </a:pPr>
            <a:r>
              <a:t>From planned batch-decision system → working real-time implementation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41801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 anchor="ctr" marL="76200" marR="76200" marT="38100" marB="38100">
                    <a:solidFill>
                      <a:srgbClr val="0085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Achievement</a:t>
                      </a:r>
                    </a:p>
                  </a:txBody>
                  <a:tcPr anchor="ctr" marL="76200" marR="76200" marT="38100" marB="38100">
                    <a:solidFill>
                      <a:srgbClr val="00859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1,113 harmonized records across 30 districts, 2 seasons, 2006-2024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Models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3 production models (LSTM + XGBoost + Stacked Ensemble)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Best Performance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Stacked: Yield R² 0.736, Failure AUC 0.814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Real-Time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MQTT streaming + 84-day sliding window digital state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Explainability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Attention → 4 triggers + LLM-enriched plain English insights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Interactive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What-If simulation, LLM chatbot, role-based dashboard, live twin modal</a:t>
                      </a:r>
                    </a:p>
                  </a:txBody>
                  <a:tcPr anchor="ctr" marL="76200" marR="76200" marT="38100" marB="38100">
                    <a:solidFill>
                      <a:srgbClr val="2A2D3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572000"/>
            <a:ext cx="2651760" cy="182880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Phase 1</a:t>
            </a:r>
            <a:br/>
            <a:r>
              <a:t>Data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676"/>
                </a:solidFill>
                <a:latin typeface="Calibri"/>
              </a:defRPr>
            </a:pPr>
            <a:r>
              <a:t>✅</a:t>
            </a:r>
            <a:br/>
            <a: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CC"/>
                </a:solidFill>
                <a:latin typeface="Calibri"/>
              </a:defRPr>
            </a:pPr>
            <a:r>
              <a:t>final_dataset.csv</a:t>
            </a:r>
            <a:br/>
            <a:r>
              <a:t>Scalers, Q₁ thresholds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4572000"/>
            <a:ext cx="2651760" cy="182880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4663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Phase 2</a:t>
            </a:r>
            <a:br/>
            <a:r>
              <a:t>Model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676"/>
                </a:solidFill>
                <a:latin typeface="Calibri"/>
              </a:defRPr>
            </a:pPr>
            <a:r>
              <a:t>✅</a:t>
            </a:r>
            <a:br/>
            <a:r>
              <a:t>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623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CC"/>
                </a:solidFill>
                <a:latin typeface="Calibri"/>
              </a:defRPr>
            </a:pPr>
            <a:r>
              <a:t>LSTM, XGBoost, Stacking</a:t>
            </a:r>
            <a:br/>
            <a:r>
              <a:t>DAG Orchestrator, Triggers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572000"/>
            <a:ext cx="2651760" cy="182880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663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Phase 3</a:t>
            </a:r>
            <a:br/>
            <a:r>
              <a:t>Real-Time Twin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676"/>
                </a:solidFill>
                <a:latin typeface="Calibri"/>
              </a:defRPr>
            </a:pPr>
            <a:r>
              <a:t>⏳</a:t>
            </a:r>
            <a:br/>
            <a:r>
              <a:t>IN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623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CC"/>
                </a:solidFill>
                <a:latin typeface="Calibri"/>
              </a:defRPr>
            </a:pPr>
            <a:r>
              <a:t>MQTT ✓  WS ✓</a:t>
            </a:r>
            <a:br/>
            <a:r>
              <a:t>Multi-district (pending)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4572000"/>
            <a:ext cx="2651760" cy="1828800"/>
          </a:xfrm>
          <a:prstGeom prst="round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4663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Phase 4</a:t>
            </a:r>
            <a:br/>
            <a:r>
              <a:t>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676"/>
                </a:solidFill>
                <a:latin typeface="Calibri"/>
              </a:defRPr>
            </a:pPr>
            <a:r>
              <a:t>🔜</a:t>
            </a:r>
            <a:br/>
            <a: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5623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CC"/>
                </a:solidFill>
                <a:latin typeface="Calibri"/>
              </a:defRPr>
            </a:pPr>
            <a:r>
              <a:t>Docker Compose</a:t>
            </a:r>
            <a:br/>
            <a:r>
              <a:t>Auto-retrain, Cloud VM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008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1. Abbott, R. J. (1983). Program Design by Informal English Descriptions.</a:t>
            </a:r>
          </a:p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2. Andini, A. &amp; Utomo, P. (2021). Climate Prediction Using RNN LSTM to Estimate Agricultural Products.</a:t>
            </a:r>
          </a:p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3. Yan et al. (2025). Crop Yield Time-Series Data Prediction Based on Multiple Hybrid ML Models.</a:t>
            </a:r>
          </a:p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4. Kenneth. (2026). Digital Twin-Based Weather Condition Monitoring for Enhanced Crop Yield Prediction.</a:t>
            </a:r>
          </a:p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5. Arya et al. (2026). A Time-Series Hybrid Multi-Model ML Framework for Staple Crops Yield Prediction.</a:t>
            </a:r>
          </a:p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6. NASA POWER Agroclimatology Data Access Viewer &amp; API Documentation.</a:t>
            </a:r>
          </a:p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7. Groq Documentation — llama-3.3-70b-versatile model API.</a:t>
            </a:r>
          </a:p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8. Eclipse Paho MQTT — Python Client Library Documentation.</a:t>
            </a:r>
          </a:p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9. EMQX Open Source MQTT Broker — broker.emqx.io public broker.</a:t>
            </a:r>
          </a:p>
          <a:p>
            <a:pPr>
              <a:spcAft>
                <a:spcPts val="10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10. Odisha Directorate of Agriculture — Season-wise crop yield statistics.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8229600" cy="548640"/>
          </a:xfrm>
          <a:prstGeom prst="round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FFFFFF"/>
                </a:solidFill>
              </a:rPr>
              <a:t>Conclusion &amp; Roadmap — 6-Week Internship Gantt Chart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514350">
                <a:tc>
                  <a:txBody>
                    <a:bodyPr wrap="square"/>
                    <a:lstStyle/>
                    <a:p>
                      <a:r>
                        <a:rPr sz="1100" b="1"/>
                        <a:t>Phase / Task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W1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W2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W3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W4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W5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W6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000"/>
                        <a:t>Data Harmonization &amp; Q₁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✓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✓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000"/>
                        <a:t>LSTM + XGBoost + Stacking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✓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✓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000"/>
                        <a:t>DAG Orchestrator &amp; Triggers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✓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✓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000"/>
                        <a:t>MQTT Streaming &amp; WebSocket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✓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000"/>
                        <a:t>Farm State &amp; Digital Shadow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✓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✓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000"/>
                        <a:t>Docker + Auto-Retrain + Deploy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✓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✓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000"/>
                        <a:t>Presentation Preparation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✓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✓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✓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✓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✓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✓</a:t>
                      </a:r>
                    </a:p>
                  </a:txBody>
                  <a:tcPr>
                    <a:solidFill>
                      <a:srgbClr val="12141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Phases: Data Engineering | Model Development | Real-Time Twin | Production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Yield R2 0.736 • Failure AUC 0.814 • 30 Districts • 2 Seasons • 2006-2024 • Real-Time MQTT Streaming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